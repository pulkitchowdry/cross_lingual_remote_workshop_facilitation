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92" r:id="rId5"/>
    <p:sldMasterId id="2147483693" r:id="rId6"/>
    <p:sldMasterId id="2147483694" r:id="rId7"/>
    <p:sldMasterId id="2147483695"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116388B-F912-41BF-AC5F-0E7920A34DD1}">
  <a:tblStyle styleId="{4116388B-F912-41BF-AC5F-0E7920A34DD1}"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interlinga.ai"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f969d8f60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 everyone, we are </a:t>
            </a:r>
            <a:r>
              <a:rPr lang="en" u="sng">
                <a:solidFill>
                  <a:schemeClr val="hlink"/>
                </a:solidFill>
                <a:hlinkClick r:id="rId2"/>
              </a:rPr>
              <a:t>interlinga.ai</a:t>
            </a:r>
            <a:r>
              <a:rPr lang="en"/>
              <a:t>, a [see slide].</a:t>
            </a:r>
            <a:endParaRPr/>
          </a:p>
          <a:p>
            <a:pPr indent="0" lvl="0" marL="0" rtl="0" algn="l">
              <a:spcBef>
                <a:spcPts val="0"/>
              </a:spcBef>
              <a:spcAft>
                <a:spcPts val="0"/>
              </a:spcAft>
              <a:buNone/>
            </a:pPr>
            <a:r>
              <a:rPr lang="en"/>
              <a:t>Our mission is [see slide]</a:t>
            </a:r>
            <a:endParaRPr/>
          </a:p>
          <a:p>
            <a:pPr indent="0" lvl="0" marL="0" rtl="0" algn="l">
              <a:spcBef>
                <a:spcPts val="0"/>
              </a:spcBef>
              <a:spcAft>
                <a:spcPts val="0"/>
              </a:spcAft>
              <a:buNone/>
            </a:pPr>
            <a:r>
              <a:rPr lang="en"/>
              <a:t>Before we show you our app, we want to define the problem we are solving.</a:t>
            </a:r>
            <a:endParaRPr/>
          </a:p>
          <a:p>
            <a:pPr indent="0" lvl="0" marL="0" rtl="0" algn="l">
              <a:spcBef>
                <a:spcPts val="0"/>
              </a:spcBef>
              <a:spcAft>
                <a:spcPts val="0"/>
              </a:spcAft>
              <a:buNone/>
            </a:pPr>
            <a:r>
              <a:rPr lang="en"/>
              <a:t>~19s</a:t>
            </a:r>
            <a:endParaRPr/>
          </a:p>
        </p:txBody>
      </p:sp>
      <p:sp>
        <p:nvSpPr>
          <p:cNvPr id="217" name="Google Shape;217;g3f969d8f602_1_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f969d8f602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What are language barriers? Language is a system of communication. There are 3 fundamental barriers. Take a simple example. Your </a:t>
            </a:r>
            <a:r>
              <a:rPr lang="en">
                <a:solidFill>
                  <a:schemeClr val="dk1"/>
                </a:solidFill>
              </a:rPr>
              <a:t>friend</a:t>
            </a:r>
            <a:r>
              <a:rPr lang="en">
                <a:solidFill>
                  <a:schemeClr val="dk1"/>
                </a:solidFill>
              </a:rPr>
              <a:t> has a hackathon pitch today so you tell him to “break a leg!” No response. Where did the communication break down? In this example, the information source is your brain. The transmitter is your mouth. The channel is the air space through which sound waves travel. The </a:t>
            </a:r>
            <a:r>
              <a:rPr lang="en">
                <a:solidFill>
                  <a:schemeClr val="dk1"/>
                </a:solidFill>
              </a:rPr>
              <a:t>receiver</a:t>
            </a:r>
            <a:r>
              <a:rPr lang="en">
                <a:solidFill>
                  <a:schemeClr val="dk1"/>
                </a:solidFill>
              </a:rPr>
              <a:t> is your friend’s ear. The destination is his brain. Somewhere between your mouth and his ear, there may have been technical problems–background noise that caused him to not be able to hear you. Somewhere between your brain and his brain–there may have been semantic problems. While a native English speaker understands that “break a leg” means good luck, your friend might have misunderstood you to have malicious intentions. Finally, between your friend’s ear and his brain, there were </a:t>
            </a:r>
            <a:r>
              <a:rPr lang="en">
                <a:solidFill>
                  <a:schemeClr val="dk1"/>
                </a:solidFill>
              </a:rPr>
              <a:t>effectiveness</a:t>
            </a:r>
            <a:r>
              <a:rPr lang="en">
                <a:solidFill>
                  <a:schemeClr val="dk1"/>
                </a:solidFill>
              </a:rPr>
              <a:t> problems–he hears you and understands your words but rejects it, choosing instead to ignore you. To fully break language barriers, we need to break all 3 of these barriers. </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40s</a:t>
            </a:r>
            <a:endParaRPr>
              <a:solidFill>
                <a:schemeClr val="dk1"/>
              </a:solidFill>
            </a:endParaRPr>
          </a:p>
        </p:txBody>
      </p:sp>
      <p:sp>
        <p:nvSpPr>
          <p:cNvPr id="226" name="Google Shape;226;g3f969d8f602_6_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f969d8f602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same communication model applies in remote multilingual </a:t>
            </a:r>
            <a:r>
              <a:rPr lang="en"/>
              <a:t>facilitation</a:t>
            </a:r>
            <a:r>
              <a:rPr lang="en"/>
              <a:t>. For example, the facilitator is the source. Transmitter is mic &amp; camera. Channel is the video call. </a:t>
            </a:r>
            <a:r>
              <a:rPr lang="en"/>
              <a:t>Receiver</a:t>
            </a:r>
            <a:r>
              <a:rPr lang="en"/>
              <a:t> is learner’s screen. Destination is learner’s understanding. Any solution that claims to break language barriers requires accurate transmission, shared meaning across languages, and a confirmation that understanding was changed. </a:t>
            </a:r>
            <a:endParaRPr/>
          </a:p>
          <a:p>
            <a:pPr indent="0" lvl="0" marL="0" rtl="0" algn="l">
              <a:spcBef>
                <a:spcPts val="0"/>
              </a:spcBef>
              <a:spcAft>
                <a:spcPts val="0"/>
              </a:spcAft>
              <a:buNone/>
            </a:pPr>
            <a:r>
              <a:rPr lang="en"/>
              <a:t>~23s</a:t>
            </a:r>
            <a:endParaRPr/>
          </a:p>
        </p:txBody>
      </p:sp>
      <p:sp>
        <p:nvSpPr>
          <p:cNvPr id="252" name="Google Shape;252;g3f969d8f602_11_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969d8f602_9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888888"/>
                </a:solidFill>
              </a:rPr>
              <a:t>What options do we have currently? </a:t>
            </a:r>
            <a:r>
              <a:rPr lang="en">
                <a:solidFill>
                  <a:srgbClr val="8B93A3"/>
                </a:solidFill>
              </a:rPr>
              <a:t>Current options fail to break all 3 language barriers → Communication is almost certain to break down. </a:t>
            </a:r>
            <a:r>
              <a:rPr lang="en">
                <a:solidFill>
                  <a:schemeClr val="dk1"/>
                </a:solidFill>
              </a:rPr>
              <a:t>The closest options we have are only research papers and AWS live meeting assistant which is a generic video conferencing app not built for all workshop facilitation needs. </a:t>
            </a:r>
            <a:endParaRPr>
              <a:solidFill>
                <a:schemeClr val="dk1"/>
              </a:solidFill>
            </a:endParaRPr>
          </a:p>
          <a:p>
            <a:pPr indent="0" lvl="0" marL="0" rtl="0" algn="l">
              <a:spcBef>
                <a:spcPts val="0"/>
              </a:spcBef>
              <a:spcAft>
                <a:spcPts val="0"/>
              </a:spcAft>
              <a:buNone/>
            </a:pPr>
            <a:r>
              <a:rPr lang="en"/>
              <a:t>~17s</a:t>
            </a:r>
            <a:endParaRPr/>
          </a:p>
        </p:txBody>
      </p:sp>
      <p:sp>
        <p:nvSpPr>
          <p:cNvPr id="273" name="Google Shape;273;g3f969d8f602_9_7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f969d8f602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where we come in. Interlinga breaks all 3 language barriers. Now we will show you a live demo. </a:t>
            </a:r>
            <a:endParaRPr/>
          </a:p>
          <a:p>
            <a:pPr indent="0" lvl="0" marL="0" rtl="0" algn="l">
              <a:spcBef>
                <a:spcPts val="0"/>
              </a:spcBef>
              <a:spcAft>
                <a:spcPts val="0"/>
              </a:spcAft>
              <a:buNone/>
            </a:pPr>
            <a:r>
              <a:rPr lang="en"/>
              <a:t>~7s + Live demo ~2m53s</a:t>
            </a:r>
            <a:endParaRPr/>
          </a:p>
        </p:txBody>
      </p:sp>
      <p:sp>
        <p:nvSpPr>
          <p:cNvPr id="329" name="Google Shape;329;g3f969d8f602_1_62: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f969d8f602_3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 top of all this, we had accessibility in mind since day 1. The Web Content Accessibility Guidelines (WCAG) are a set of global rules to make websites and digital tools easy to use for people with disabilities. </a:t>
            </a:r>
            <a:r>
              <a:rPr i="1" lang="en"/>
              <a:t>S</a:t>
            </a:r>
            <a:r>
              <a:rPr i="1" lang="en"/>
              <a:t>ubstantially</a:t>
            </a:r>
            <a:r>
              <a:rPr lang="en"/>
              <a:t> interlinga would have an AA rating, which means </a:t>
            </a:r>
            <a:r>
              <a:rPr lang="en"/>
              <a:t>genuinely usable for the vast majority of users</a:t>
            </a:r>
            <a:endParaRPr/>
          </a:p>
          <a:p>
            <a:pPr indent="0" lvl="0" marL="0" rtl="0" algn="l">
              <a:spcBef>
                <a:spcPts val="0"/>
              </a:spcBef>
              <a:spcAft>
                <a:spcPts val="0"/>
              </a:spcAft>
              <a:buNone/>
            </a:pPr>
            <a:r>
              <a:rPr lang="en"/>
              <a:t>~5s</a:t>
            </a:r>
            <a:endParaRPr/>
          </a:p>
        </p:txBody>
      </p:sp>
      <p:sp>
        <p:nvSpPr>
          <p:cNvPr id="351" name="Google Shape;351;g3f969d8f602_3_22: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f96b3d3263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 also respect privacy with a local only mode where your data does not go to any third party. You also set upfront how long you want to retain transcript, chat, and insights. And of course, sensitive signals like per-learner confusion and private messages are scoped. Anonymous messages are redacted server-side. </a:t>
            </a:r>
            <a:endParaRPr/>
          </a:p>
          <a:p>
            <a:pPr indent="0" lvl="0" marL="0" rtl="0" algn="l">
              <a:lnSpc>
                <a:spcPct val="100000"/>
              </a:lnSpc>
              <a:spcBef>
                <a:spcPts val="0"/>
              </a:spcBef>
              <a:spcAft>
                <a:spcPts val="0"/>
              </a:spcAft>
              <a:buSzPts val="1100"/>
              <a:buNone/>
            </a:pPr>
            <a:r>
              <a:rPr lang="en"/>
              <a:t>~15s</a:t>
            </a:r>
            <a:endParaRPr/>
          </a:p>
        </p:txBody>
      </p:sp>
      <p:sp>
        <p:nvSpPr>
          <p:cNvPr id="360" name="Google Shape;360;g3f96b3d3263_3_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f96f5a74f8_4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Lastly, here is our architecture .Notably, we use deepgram STT, Claude Translation and insight, and Eleven labs TTS. For local only, we use faster-whisper, NLLB and Piper. </a:t>
            </a:r>
            <a:endParaRPr/>
          </a:p>
        </p:txBody>
      </p:sp>
      <p:sp>
        <p:nvSpPr>
          <p:cNvPr id="382" name="Google Shape;382;g3f96f5a74f8_4_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f96bedc873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
        <p:nvSpPr>
          <p:cNvPr id="413" name="Google Shape;413;g3f96bedc873_1_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9" name="Shape 129"/>
        <p:cNvGrpSpPr/>
        <p:nvPr/>
      </p:nvGrpSpPr>
      <p:grpSpPr>
        <a:xfrm>
          <a:off x="0" y="0"/>
          <a:ext cx="0" cy="0"/>
          <a:chOff x="0" y="0"/>
          <a:chExt cx="0" cy="0"/>
        </a:xfrm>
      </p:grpSpPr>
      <p:sp>
        <p:nvSpPr>
          <p:cNvPr id="130" name="Google Shape;13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1" name="Shape 131"/>
        <p:cNvGrpSpPr/>
        <p:nvPr/>
      </p:nvGrpSpPr>
      <p:grpSpPr>
        <a:xfrm>
          <a:off x="0" y="0"/>
          <a:ext cx="0" cy="0"/>
          <a:chOff x="0" y="0"/>
          <a:chExt cx="0" cy="0"/>
        </a:xfrm>
      </p:grpSpPr>
      <p:sp>
        <p:nvSpPr>
          <p:cNvPr id="132" name="Google Shape;132;p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33" name="Google Shape;133;p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4" name="Google Shape;134;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5" name="Shape 135"/>
        <p:cNvGrpSpPr/>
        <p:nvPr/>
      </p:nvGrpSpPr>
      <p:grpSpPr>
        <a:xfrm>
          <a:off x="0" y="0"/>
          <a:ext cx="0" cy="0"/>
          <a:chOff x="0" y="0"/>
          <a:chExt cx="0" cy="0"/>
        </a:xfrm>
      </p:grpSpPr>
      <p:sp>
        <p:nvSpPr>
          <p:cNvPr id="136" name="Google Shape;136;p2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37" name="Google Shape;13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8" name="Shape 138"/>
        <p:cNvGrpSpPr/>
        <p:nvPr/>
      </p:nvGrpSpPr>
      <p:grpSpPr>
        <a:xfrm>
          <a:off x="0" y="0"/>
          <a:ext cx="0" cy="0"/>
          <a:chOff x="0" y="0"/>
          <a:chExt cx="0" cy="0"/>
        </a:xfrm>
      </p:grpSpPr>
      <p:sp>
        <p:nvSpPr>
          <p:cNvPr id="139" name="Google Shape;13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0" name="Google Shape;140;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1" name="Google Shape;141;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2" name="Shape 142"/>
        <p:cNvGrpSpPr/>
        <p:nvPr/>
      </p:nvGrpSpPr>
      <p:grpSpPr>
        <a:xfrm>
          <a:off x="0" y="0"/>
          <a:ext cx="0" cy="0"/>
          <a:chOff x="0" y="0"/>
          <a:chExt cx="0" cy="0"/>
        </a:xfrm>
      </p:grpSpPr>
      <p:sp>
        <p:nvSpPr>
          <p:cNvPr id="143" name="Google Shape;143;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4" name="Google Shape;144;p3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5" name="Google Shape;145;p3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46" name="Google Shape;146;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7" name="Shape 147"/>
        <p:cNvGrpSpPr/>
        <p:nvPr/>
      </p:nvGrpSpPr>
      <p:grpSpPr>
        <a:xfrm>
          <a:off x="0" y="0"/>
          <a:ext cx="0" cy="0"/>
          <a:chOff x="0" y="0"/>
          <a:chExt cx="0" cy="0"/>
        </a:xfrm>
      </p:grpSpPr>
      <p:sp>
        <p:nvSpPr>
          <p:cNvPr id="148" name="Google Shape;148;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9" name="Google Shape;149;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0" name="Shape 150"/>
        <p:cNvGrpSpPr/>
        <p:nvPr/>
      </p:nvGrpSpPr>
      <p:grpSpPr>
        <a:xfrm>
          <a:off x="0" y="0"/>
          <a:ext cx="0" cy="0"/>
          <a:chOff x="0" y="0"/>
          <a:chExt cx="0" cy="0"/>
        </a:xfrm>
      </p:grpSpPr>
      <p:sp>
        <p:nvSpPr>
          <p:cNvPr id="151" name="Google Shape;151;p3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52" name="Google Shape;152;p3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53" name="Google Shape;15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54" name="Shape 154"/>
        <p:cNvGrpSpPr/>
        <p:nvPr/>
      </p:nvGrpSpPr>
      <p:grpSpPr>
        <a:xfrm>
          <a:off x="0" y="0"/>
          <a:ext cx="0" cy="0"/>
          <a:chOff x="0" y="0"/>
          <a:chExt cx="0" cy="0"/>
        </a:xfrm>
      </p:grpSpPr>
      <p:sp>
        <p:nvSpPr>
          <p:cNvPr id="155" name="Google Shape;155;p3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56" name="Google Shape;15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7" name="Shape 157"/>
        <p:cNvGrpSpPr/>
        <p:nvPr/>
      </p:nvGrpSpPr>
      <p:grpSpPr>
        <a:xfrm>
          <a:off x="0" y="0"/>
          <a:ext cx="0" cy="0"/>
          <a:chOff x="0" y="0"/>
          <a:chExt cx="0" cy="0"/>
        </a:xfrm>
      </p:grpSpPr>
      <p:sp>
        <p:nvSpPr>
          <p:cNvPr id="158" name="Google Shape;158;p3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60" name="Google Shape;160;p3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1" name="Google Shape;161;p3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2" name="Google Shape;162;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3" name="Shape 163"/>
        <p:cNvGrpSpPr/>
        <p:nvPr/>
      </p:nvGrpSpPr>
      <p:grpSpPr>
        <a:xfrm>
          <a:off x="0" y="0"/>
          <a:ext cx="0" cy="0"/>
          <a:chOff x="0" y="0"/>
          <a:chExt cx="0" cy="0"/>
        </a:xfrm>
      </p:grpSpPr>
      <p:sp>
        <p:nvSpPr>
          <p:cNvPr id="164" name="Google Shape;164;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65" name="Google Shape;165;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66" name="Shape 166"/>
        <p:cNvGrpSpPr/>
        <p:nvPr/>
      </p:nvGrpSpPr>
      <p:grpSpPr>
        <a:xfrm>
          <a:off x="0" y="0"/>
          <a:ext cx="0" cy="0"/>
          <a:chOff x="0" y="0"/>
          <a:chExt cx="0" cy="0"/>
        </a:xfrm>
      </p:grpSpPr>
      <p:sp>
        <p:nvSpPr>
          <p:cNvPr id="167" name="Google Shape;167;p3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68" name="Google Shape;168;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69" name="Google Shape;169;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4" name="Shape 174"/>
        <p:cNvGrpSpPr/>
        <p:nvPr/>
      </p:nvGrpSpPr>
      <p:grpSpPr>
        <a:xfrm>
          <a:off x="0" y="0"/>
          <a:ext cx="0" cy="0"/>
          <a:chOff x="0" y="0"/>
          <a:chExt cx="0" cy="0"/>
        </a:xfrm>
      </p:grpSpPr>
      <p:sp>
        <p:nvSpPr>
          <p:cNvPr id="175" name="Google Shape;175;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6" name="Shape 176"/>
        <p:cNvGrpSpPr/>
        <p:nvPr/>
      </p:nvGrpSpPr>
      <p:grpSpPr>
        <a:xfrm>
          <a:off x="0" y="0"/>
          <a:ext cx="0" cy="0"/>
          <a:chOff x="0" y="0"/>
          <a:chExt cx="0" cy="0"/>
        </a:xfrm>
      </p:grpSpPr>
      <p:sp>
        <p:nvSpPr>
          <p:cNvPr id="177" name="Google Shape;177;p3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78" name="Google Shape;178;p3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9" name="Google Shape;17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0" name="Shape 180"/>
        <p:cNvGrpSpPr/>
        <p:nvPr/>
      </p:nvGrpSpPr>
      <p:grpSpPr>
        <a:xfrm>
          <a:off x="0" y="0"/>
          <a:ext cx="0" cy="0"/>
          <a:chOff x="0" y="0"/>
          <a:chExt cx="0" cy="0"/>
        </a:xfrm>
      </p:grpSpPr>
      <p:sp>
        <p:nvSpPr>
          <p:cNvPr id="181" name="Google Shape;181;p4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82" name="Google Shape;182;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3" name="Shape 183"/>
        <p:cNvGrpSpPr/>
        <p:nvPr/>
      </p:nvGrpSpPr>
      <p:grpSpPr>
        <a:xfrm>
          <a:off x="0" y="0"/>
          <a:ext cx="0" cy="0"/>
          <a:chOff x="0" y="0"/>
          <a:chExt cx="0" cy="0"/>
        </a:xfrm>
      </p:grpSpPr>
      <p:sp>
        <p:nvSpPr>
          <p:cNvPr id="184" name="Google Shape;184;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5" name="Google Shape;185;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86" name="Google Shape;186;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7" name="Shape 187"/>
        <p:cNvGrpSpPr/>
        <p:nvPr/>
      </p:nvGrpSpPr>
      <p:grpSpPr>
        <a:xfrm>
          <a:off x="0" y="0"/>
          <a:ext cx="0" cy="0"/>
          <a:chOff x="0" y="0"/>
          <a:chExt cx="0" cy="0"/>
        </a:xfrm>
      </p:grpSpPr>
      <p:sp>
        <p:nvSpPr>
          <p:cNvPr id="188" name="Google Shape;188;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9" name="Google Shape;189;p4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90" name="Google Shape;190;p4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91" name="Google Shape;191;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2" name="Shape 192"/>
        <p:cNvGrpSpPr/>
        <p:nvPr/>
      </p:nvGrpSpPr>
      <p:grpSpPr>
        <a:xfrm>
          <a:off x="0" y="0"/>
          <a:ext cx="0" cy="0"/>
          <a:chOff x="0" y="0"/>
          <a:chExt cx="0" cy="0"/>
        </a:xfrm>
      </p:grpSpPr>
      <p:sp>
        <p:nvSpPr>
          <p:cNvPr id="193" name="Google Shape;193;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94" name="Google Shape;194;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5" name="Shape 195"/>
        <p:cNvGrpSpPr/>
        <p:nvPr/>
      </p:nvGrpSpPr>
      <p:grpSpPr>
        <a:xfrm>
          <a:off x="0" y="0"/>
          <a:ext cx="0" cy="0"/>
          <a:chOff x="0" y="0"/>
          <a:chExt cx="0" cy="0"/>
        </a:xfrm>
      </p:grpSpPr>
      <p:sp>
        <p:nvSpPr>
          <p:cNvPr id="196" name="Google Shape;196;p4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97" name="Google Shape;197;p4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98" name="Google Shape;198;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9" name="Shape 199"/>
        <p:cNvGrpSpPr/>
        <p:nvPr/>
      </p:nvGrpSpPr>
      <p:grpSpPr>
        <a:xfrm>
          <a:off x="0" y="0"/>
          <a:ext cx="0" cy="0"/>
          <a:chOff x="0" y="0"/>
          <a:chExt cx="0" cy="0"/>
        </a:xfrm>
      </p:grpSpPr>
      <p:sp>
        <p:nvSpPr>
          <p:cNvPr id="200" name="Google Shape;200;p4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01" name="Google Shape;201;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02" name="Shape 202"/>
        <p:cNvGrpSpPr/>
        <p:nvPr/>
      </p:nvGrpSpPr>
      <p:grpSpPr>
        <a:xfrm>
          <a:off x="0" y="0"/>
          <a:ext cx="0" cy="0"/>
          <a:chOff x="0" y="0"/>
          <a:chExt cx="0" cy="0"/>
        </a:xfrm>
      </p:grpSpPr>
      <p:sp>
        <p:nvSpPr>
          <p:cNvPr id="203" name="Google Shape;203;p4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4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05" name="Google Shape;205;p4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06" name="Google Shape;206;p4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7" name="Google Shape;207;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8" name="Shape 208"/>
        <p:cNvGrpSpPr/>
        <p:nvPr/>
      </p:nvGrpSpPr>
      <p:grpSpPr>
        <a:xfrm>
          <a:off x="0" y="0"/>
          <a:ext cx="0" cy="0"/>
          <a:chOff x="0" y="0"/>
          <a:chExt cx="0" cy="0"/>
        </a:xfrm>
      </p:grpSpPr>
      <p:sp>
        <p:nvSpPr>
          <p:cNvPr id="209" name="Google Shape;209;p4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210" name="Google Shape;210;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11" name="Shape 211"/>
        <p:cNvGrpSpPr/>
        <p:nvPr/>
      </p:nvGrpSpPr>
      <p:grpSpPr>
        <a:xfrm>
          <a:off x="0" y="0"/>
          <a:ext cx="0" cy="0"/>
          <a:chOff x="0" y="0"/>
          <a:chExt cx="0" cy="0"/>
        </a:xfrm>
      </p:grpSpPr>
      <p:sp>
        <p:nvSpPr>
          <p:cNvPr id="212" name="Google Shape;212;p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213" name="Google Shape;213;p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214" name="Google Shape;21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slideLayout" Target="../slideLayouts/slideLayout35.xml"/><Relationship Id="rId3" Type="http://schemas.openxmlformats.org/officeDocument/2006/relationships/slideLayout" Target="../slideLayouts/slideLayout36.xml"/><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27" name="Google Shape;12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28" name="Google Shape;12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70" name="Shape 170"/>
        <p:cNvGrpSpPr/>
        <p:nvPr/>
      </p:nvGrpSpPr>
      <p:grpSpPr>
        <a:xfrm>
          <a:off x="0" y="0"/>
          <a:ext cx="0" cy="0"/>
          <a:chOff x="0" y="0"/>
          <a:chExt cx="0" cy="0"/>
        </a:xfrm>
      </p:grpSpPr>
      <p:sp>
        <p:nvSpPr>
          <p:cNvPr id="171" name="Google Shape;171;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72" name="Google Shape;172;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73" name="Google Shape;173;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19.png"/><Relationship Id="rId8"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8.png"/><Relationship Id="rId7" Type="http://schemas.openxmlformats.org/officeDocument/2006/relationships/image" Target="../media/image16.png"/><Relationship Id="rId8" Type="http://schemas.openxmlformats.org/officeDocument/2006/relationships/image" Target="../media/image1.png"/><Relationship Id="rId9" Type="http://schemas.openxmlformats.org/officeDocument/2006/relationships/image" Target="../media/image9.png"/><Relationship Id="rId10" Type="http://schemas.openxmlformats.org/officeDocument/2006/relationships/image" Target="../media/image6.png"/><Relationship Id="rId11" Type="http://schemas.openxmlformats.org/officeDocument/2006/relationships/image" Target="../media/image14.png"/><Relationship Id="rId12" Type="http://schemas.openxmlformats.org/officeDocument/2006/relationships/image" Target="../media/image12.png"/><Relationship Id="rId13" Type="http://schemas.openxmlformats.org/officeDocument/2006/relationships/image" Target="../media/image3.png"/><Relationship Id="rId14" Type="http://schemas.openxmlformats.org/officeDocument/2006/relationships/image" Target="../media/image7.png"/><Relationship Id="rId15" Type="http://schemas.openxmlformats.org/officeDocument/2006/relationships/image" Target="../media/image17.png"/><Relationship Id="rId16" Type="http://schemas.openxmlformats.org/officeDocument/2006/relationships/image" Target="../media/image8.png"/><Relationship Id="rId17" Type="http://schemas.openxmlformats.org/officeDocument/2006/relationships/image" Target="../media/image15.png"/><Relationship Id="rId18" Type="http://schemas.openxmlformats.org/officeDocument/2006/relationships/image" Target="../media/image4.png"/><Relationship Id="rId19"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9"/>
          <p:cNvSpPr/>
          <p:nvPr/>
        </p:nvSpPr>
        <p:spPr>
          <a:xfrm>
            <a:off x="-102300" y="0"/>
            <a:ext cx="9461400" cy="5143500"/>
          </a:xfrm>
          <a:prstGeom prst="rect">
            <a:avLst/>
          </a:prstGeom>
          <a:solidFill>
            <a:srgbClr val="0D111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0" name="Google Shape;220;p49"/>
          <p:cNvSpPr txBox="1"/>
          <p:nvPr/>
        </p:nvSpPr>
        <p:spPr>
          <a:xfrm>
            <a:off x="685868" y="2178863"/>
            <a:ext cx="7770300" cy="762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4500" u="none" cap="none" strike="noStrike">
                <a:solidFill>
                  <a:srgbClr val="00FFFF"/>
                </a:solidFill>
                <a:latin typeface="Arial"/>
                <a:ea typeface="Arial"/>
                <a:cs typeface="Arial"/>
                <a:sym typeface="Arial"/>
              </a:rPr>
              <a:t>Interlinga.</a:t>
            </a:r>
            <a:r>
              <a:rPr b="1" i="0" lang="en" sz="4500" u="none" cap="none" strike="noStrike">
                <a:solidFill>
                  <a:schemeClr val="accent1"/>
                </a:solidFill>
                <a:latin typeface="Arial"/>
                <a:ea typeface="Arial"/>
                <a:cs typeface="Arial"/>
                <a:sym typeface="Arial"/>
              </a:rPr>
              <a:t>ai</a:t>
            </a:r>
            <a:endParaRPr sz="1100">
              <a:solidFill>
                <a:schemeClr val="accent1"/>
              </a:solidFill>
            </a:endParaRPr>
          </a:p>
        </p:txBody>
      </p:sp>
      <p:sp>
        <p:nvSpPr>
          <p:cNvPr id="221" name="Google Shape;221;p49"/>
          <p:cNvSpPr/>
          <p:nvPr/>
        </p:nvSpPr>
        <p:spPr>
          <a:xfrm>
            <a:off x="4022320" y="3148150"/>
            <a:ext cx="1097400" cy="28500"/>
          </a:xfrm>
          <a:prstGeom prst="rect">
            <a:avLst/>
          </a:prstGeom>
          <a:solidFill>
            <a:srgbClr val="4F7FD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2" name="Google Shape;222;p49"/>
          <p:cNvSpPr txBox="1"/>
          <p:nvPr/>
        </p:nvSpPr>
        <p:spPr>
          <a:xfrm>
            <a:off x="1028765" y="3383915"/>
            <a:ext cx="7084500" cy="762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b="0" i="1" lang="en" sz="1500" u="none" cap="none" strike="noStrike">
                <a:solidFill>
                  <a:srgbClr val="4F7FD1"/>
                </a:solidFill>
                <a:latin typeface="Arial"/>
                <a:ea typeface="Arial"/>
                <a:cs typeface="Arial"/>
                <a:sym typeface="Arial"/>
              </a:rPr>
              <a:t>A</a:t>
            </a:r>
            <a:r>
              <a:rPr i="1" lang="en" sz="1500">
                <a:solidFill>
                  <a:srgbClr val="4F7FD1"/>
                </a:solidFill>
              </a:rPr>
              <a:t> multilingual and accessible </a:t>
            </a:r>
            <a:r>
              <a:rPr b="0" i="1" lang="en" sz="1500" u="none" cap="none" strike="noStrike">
                <a:solidFill>
                  <a:srgbClr val="4F7FD1"/>
                </a:solidFill>
                <a:latin typeface="Arial"/>
                <a:ea typeface="Arial"/>
                <a:cs typeface="Arial"/>
                <a:sym typeface="Arial"/>
              </a:rPr>
              <a:t>video conferencing app built for workshop facilitation</a:t>
            </a:r>
            <a:endParaRPr b="0" i="1" sz="1500" u="none" cap="none" strike="noStrike">
              <a:solidFill>
                <a:srgbClr val="4F7FD1"/>
              </a:solidFill>
              <a:latin typeface="Arial"/>
              <a:ea typeface="Arial"/>
              <a:cs typeface="Arial"/>
              <a:sym typeface="Arial"/>
            </a:endParaRPr>
          </a:p>
          <a:p>
            <a:pPr indent="0" lvl="0" marL="0" marR="0" rtl="0" algn="ctr">
              <a:lnSpc>
                <a:spcPct val="100000"/>
              </a:lnSpc>
              <a:spcBef>
                <a:spcPts val="0"/>
              </a:spcBef>
              <a:spcAft>
                <a:spcPts val="0"/>
              </a:spcAft>
              <a:buNone/>
            </a:pPr>
            <a:r>
              <a:t/>
            </a:r>
            <a:endParaRPr i="1" sz="1500">
              <a:solidFill>
                <a:srgbClr val="4F7FD1"/>
              </a:solidFill>
            </a:endParaRPr>
          </a:p>
          <a:p>
            <a:pPr indent="0" lvl="0" marL="0" marR="0" rtl="0" algn="ctr">
              <a:lnSpc>
                <a:spcPct val="100000"/>
              </a:lnSpc>
              <a:spcBef>
                <a:spcPts val="0"/>
              </a:spcBef>
              <a:spcAft>
                <a:spcPts val="0"/>
              </a:spcAft>
              <a:buNone/>
            </a:pPr>
            <a:r>
              <a:rPr lang="en" sz="1500">
                <a:solidFill>
                  <a:srgbClr val="8B93A3"/>
                </a:solidFill>
              </a:rPr>
              <a:t>To b</a:t>
            </a:r>
            <a:r>
              <a:rPr b="0" i="0" lang="en" sz="1500" u="none" cap="none" strike="noStrike">
                <a:solidFill>
                  <a:srgbClr val="8B93A3"/>
                </a:solidFill>
                <a:latin typeface="Arial"/>
                <a:ea typeface="Arial"/>
                <a:cs typeface="Arial"/>
                <a:sym typeface="Arial"/>
              </a:rPr>
              <a:t>ridge understanding between</a:t>
            </a:r>
            <a:r>
              <a:rPr lang="en" sz="1500">
                <a:solidFill>
                  <a:srgbClr val="8B93A3"/>
                </a:solidFill>
              </a:rPr>
              <a:t> and </a:t>
            </a:r>
            <a:r>
              <a:rPr b="0" i="0" lang="en" sz="1500" u="none" cap="none" strike="noStrike">
                <a:solidFill>
                  <a:srgbClr val="8B93A3"/>
                </a:solidFill>
                <a:latin typeface="Arial"/>
                <a:ea typeface="Arial"/>
                <a:cs typeface="Arial"/>
                <a:sym typeface="Arial"/>
              </a:rPr>
              <a:t>among learners and facilitators</a:t>
            </a:r>
            <a:endParaRPr sz="1100"/>
          </a:p>
        </p:txBody>
      </p:sp>
      <p:pic>
        <p:nvPicPr>
          <p:cNvPr descr="/home/claude/interlinga-deck/logo_mark.png" id="223" name="Google Shape;223;p49"/>
          <p:cNvPicPr preferRelativeResize="0"/>
          <p:nvPr/>
        </p:nvPicPr>
        <p:blipFill rotWithShape="1">
          <a:blip r:embed="rId3">
            <a:alphaModFix/>
          </a:blip>
          <a:srcRect b="0" l="0" r="0" t="0"/>
          <a:stretch/>
        </p:blipFill>
        <p:spPr>
          <a:xfrm>
            <a:off x="3658737" y="647550"/>
            <a:ext cx="1824600" cy="1337025"/>
          </a:xfrm>
          <a:prstGeom prst="rect">
            <a:avLst/>
          </a:prstGeom>
          <a:noFill/>
          <a:ln>
            <a:noFill/>
          </a:ln>
        </p:spPr>
      </p:pic>
    </p:spTree>
  </p:cSld>
  <p:clrMapOvr>
    <a:masterClrMapping/>
  </p:clrMapOvr>
  <p:timing>
    <p:tnLst>
      <p:par>
        <p:cTn id="1" dur="indefinite" restart="never" nodeType="tmRoot">
          <p:childTnLst>
            <p:seq concat="0" nextAc="seek">
              <p:cTn id="2" dur="indefinite" nodeType="mainSeq">
                <p:childTnLst>
                  <p:par>
                    <p:cTn id="3" fill="hold">
                      <p:stCondLst>
                        <p:cond delay="indefinite"/>
                      </p:stCondLst>
                      <p:childTnLst>
                        <p:par>
                          <p:cTn id="4" presetID="1" presetClass="entr" presetSubtype="0" fill="hold" grpId="0" nodeType="clickEffect">
                            <p:stCondLst>
                              <p:cond delay="0"/>
                            </p:stCondLst>
                            <p:childTnLst>
                              <p:set>
                                <p:cBhvr>
                                  <p:cTn id="5" dur="1" fill="hold">
                                    <p:stCondLst>
                                      <p:cond delay="0"/>
                                    </p:stCondLst>
                                  </p:cTn>
                                  <p:tgtEl>
                                    <p:spTgt spid="223"/>
                                  </p:tgtEl>
                                  <p:attrNameLst>
                                    <p:attrName>style.visibility</p:attrName>
                                  </p:attrNameLst>
                                </p:cBhvr>
                                <p:to>
                                  <p:strVal val="visible"/>
                                </p:to>
                              </p:set>
                            </p:childTnLst>
                          </p:cTn>
                        </p:par>
                        <p:par>
                          <p:cTn id="6" presetID="1" presetClass="entr" presetSubtype="0" fill="hold" grpId="1" nodeType="withEffect">
                            <p:stCondLst>
                              <p:cond delay="0"/>
                            </p:stCondLst>
                            <p:childTnLst>
                              <p:set>
                                <p:cBhvr>
                                  <p:cTn id="7" dur="1" fill="hold">
                                    <p:stCondLst>
                                      <p:cond delay="0"/>
                                    </p:stCondLst>
                                  </p:cTn>
                                  <p:tgtEl>
                                    <p:spTgt spid="220"/>
                                  </p:tgtEl>
                                  <p:attrNameLst>
                                    <p:attrName>style.visibility</p:attrName>
                                  </p:attrNameLst>
                                </p:cBhvr>
                                <p:to>
                                  <p:strVal val="visible"/>
                                </p:to>
                              </p:set>
                            </p:childTnLst>
                          </p:cTn>
                        </p:par>
                        <p:par>
                          <p:cTn id="8" presetID="1" presetClass="entr" presetSubtype="0" fill="hold" grpId="2" nodeType="withEffect">
                            <p:stCondLst>
                              <p:cond delay="0"/>
                            </p:stCondLst>
                            <p:childTnLst>
                              <p:set>
                                <p:cBhvr>
                                  <p:cTn id="9" dur="1" fill="hold">
                                    <p:stCondLst>
                                      <p:cond delay="0"/>
                                    </p:stCondLst>
                                  </p:cTn>
                                  <p:tgtEl>
                                    <p:spTgt spid="221"/>
                                  </p:tgtEl>
                                  <p:attrNameLst>
                                    <p:attrName>style.visibility</p:attrName>
                                  </p:attrNameLst>
                                </p:cBhvr>
                                <p:to>
                                  <p:strVal val="visible"/>
                                </p:to>
                              </p:set>
                            </p:childTnLst>
                          </p:cTn>
                        </p:par>
                      </p:childTnLst>
                    </p:cTn>
                  </p:par>
                  <p:par>
                    <p:cTn id="10" fill="hold">
                      <p:stCondLst>
                        <p:cond delay="indefinite"/>
                      </p:stCondLst>
                      <p:childTnLst>
                        <p:par>
                          <p:cTn id="11" presetID="1" presetClass="entr" presetSubtype="0" fill="hold" grpId="3" nodeType="clickEffect">
                            <p:stCondLst>
                              <p:cond delay="0"/>
                            </p:stCondLst>
                            <p:childTnLst>
                              <p:set>
                                <p:cBhvr>
                                  <p:cTn id="12" dur="1" fill="hold">
                                    <p:stCondLst>
                                      <p:cond delay="0"/>
                                    </p:stCondLst>
                                  </p:cTn>
                                  <p:tgtEl>
                                    <p:spTgt spid="222"/>
                                  </p:tgtEl>
                                  <p:attrNameLst>
                                    <p:attrName>style.visibility</p:attrName>
                                  </p:attrNameLst>
                                </p:cBhvr>
                                <p:to>
                                  <p:strVal val="visible"/>
                                </p:to>
                              </p:set>
                            </p:childTnLst>
                          </p:cTn>
                        </p:par>
                      </p:childTnLst>
                    </p:cTn>
                  </p:par>
                </p:childTnLst>
              </p:cTn>
            </p:seq>
          </p:childTnLst>
        </p:cTn>
      </p:par>
    </p:tnLst>
    <p:bldLst>
      <p:bldP spid="223" grpId="0"/>
      <p:bldP spid="220" grpId="1"/>
      <p:bldP spid="221" grpId="2"/>
      <p:bldP spid="222" grpId="3"/>
    </p:bld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50"/>
          <p:cNvSpPr/>
          <p:nvPr/>
        </p:nvSpPr>
        <p:spPr>
          <a:xfrm>
            <a:off x="0" y="0"/>
            <a:ext cx="9144000" cy="5143500"/>
          </a:xfrm>
          <a:prstGeom prst="rect">
            <a:avLst/>
          </a:prstGeom>
          <a:solidFill>
            <a:srgbClr val="0D1117"/>
          </a:solid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000000"/>
              </a:buClr>
              <a:buFont typeface="Arial"/>
              <a:buNone/>
            </a:pPr>
            <a:r>
              <a:t/>
            </a:r>
            <a:endParaRPr b="0" i="0" sz="1400" u="none" cap="none" strike="noStrike">
              <a:solidFill>
                <a:schemeClr val="dk1"/>
              </a:solidFill>
              <a:latin typeface="Calibri"/>
              <a:ea typeface="Calibri"/>
              <a:cs typeface="Calibri"/>
              <a:sym typeface="Calibri"/>
            </a:endParaRPr>
          </a:p>
        </p:txBody>
      </p:sp>
      <p:sp>
        <p:nvSpPr>
          <p:cNvPr id="229" name="Google Shape;229;p50"/>
          <p:cNvSpPr txBox="1"/>
          <p:nvPr/>
        </p:nvSpPr>
        <p:spPr>
          <a:xfrm>
            <a:off x="411491" y="240030"/>
            <a:ext cx="8298401"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2300" u="none" cap="none" strike="noStrike">
                <a:solidFill>
                  <a:srgbClr val="E6E9EF"/>
                </a:solidFill>
                <a:latin typeface="Arial"/>
                <a:ea typeface="Arial"/>
                <a:cs typeface="Arial"/>
                <a:sym typeface="Arial"/>
              </a:rPr>
              <a:t>What are language barriers?</a:t>
            </a:r>
            <a:endParaRPr sz="1100"/>
          </a:p>
        </p:txBody>
      </p:sp>
      <p:sp>
        <p:nvSpPr>
          <p:cNvPr id="230" name="Google Shape;230;p50"/>
          <p:cNvSpPr/>
          <p:nvPr/>
        </p:nvSpPr>
        <p:spPr>
          <a:xfrm>
            <a:off x="411491" y="720090"/>
            <a:ext cx="754400" cy="28575"/>
          </a:xfrm>
          <a:prstGeom prst="rect">
            <a:avLst/>
          </a:prstGeom>
          <a:solidFill>
            <a:srgbClr val="4F7FD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1" name="Google Shape;231;p50"/>
          <p:cNvSpPr/>
          <p:nvPr/>
        </p:nvSpPr>
        <p:spPr>
          <a:xfrm>
            <a:off x="411491" y="994410"/>
            <a:ext cx="8319000" cy="788700"/>
          </a:xfrm>
          <a:prstGeom prst="roundRect">
            <a:avLst>
              <a:gd fmla="val 6000" name="adj"/>
            </a:avLst>
          </a:prstGeom>
          <a:solidFill>
            <a:srgbClr val="171D27"/>
          </a:solidFill>
          <a:ln cap="flat" cmpd="sng" w="9525">
            <a:solidFill>
              <a:srgbClr val="2A334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2" name="Google Shape;232;p50"/>
          <p:cNvSpPr txBox="1"/>
          <p:nvPr/>
        </p:nvSpPr>
        <p:spPr>
          <a:xfrm>
            <a:off x="466356" y="918972"/>
            <a:ext cx="685818" cy="68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5300">
                <a:solidFill>
                  <a:srgbClr val="4F7FD1"/>
                </a:solidFill>
                <a:latin typeface="Georgia"/>
                <a:ea typeface="Georgia"/>
                <a:cs typeface="Georgia"/>
                <a:sym typeface="Georgia"/>
              </a:rPr>
              <a:t>“</a:t>
            </a:r>
            <a:endParaRPr sz="1100"/>
          </a:p>
        </p:txBody>
      </p:sp>
      <p:sp>
        <p:nvSpPr>
          <p:cNvPr id="233" name="Google Shape;233;p50"/>
          <p:cNvSpPr txBox="1"/>
          <p:nvPr/>
        </p:nvSpPr>
        <p:spPr>
          <a:xfrm>
            <a:off x="1200182" y="1110996"/>
            <a:ext cx="7269600" cy="411600"/>
          </a:xfrm>
          <a:prstGeom prst="rect">
            <a:avLst/>
          </a:prstGeom>
          <a:noFill/>
          <a:ln>
            <a:noFill/>
          </a:ln>
        </p:spPr>
        <p:txBody>
          <a:bodyPr anchorCtr="0" anchor="ctr" bIns="34275" lIns="68575" spcFirstLastPara="1" rIns="68575" wrap="square" tIns="34275">
            <a:spAutoFit/>
          </a:bodyPr>
          <a:lstStyle/>
          <a:p>
            <a:pPr indent="0" lvl="0" marL="0" marR="0" rtl="0" algn="l">
              <a:spcBef>
                <a:spcPts val="0"/>
              </a:spcBef>
              <a:spcAft>
                <a:spcPts val="0"/>
              </a:spcAft>
              <a:buNone/>
            </a:pPr>
            <a:r>
              <a:rPr b="0" lang="en" sz="1400">
                <a:solidFill>
                  <a:srgbClr val="E6E9EF"/>
                </a:solidFill>
                <a:latin typeface="Arial"/>
                <a:ea typeface="Arial"/>
                <a:cs typeface="Arial"/>
                <a:sym typeface="Arial"/>
              </a:rPr>
              <a:t>Language is a system of communication [...]</a:t>
            </a:r>
            <a:endParaRPr sz="1100"/>
          </a:p>
        </p:txBody>
      </p:sp>
      <p:sp>
        <p:nvSpPr>
          <p:cNvPr id="234" name="Google Shape;234;p50"/>
          <p:cNvSpPr txBox="1"/>
          <p:nvPr/>
        </p:nvSpPr>
        <p:spPr>
          <a:xfrm>
            <a:off x="1200182" y="1495044"/>
            <a:ext cx="7269600" cy="24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 sz="1000">
                <a:solidFill>
                  <a:srgbClr val="8B93A3"/>
                </a:solidFill>
                <a:latin typeface="Arial"/>
                <a:ea typeface="Arial"/>
                <a:cs typeface="Arial"/>
                <a:sym typeface="Arial"/>
              </a:rPr>
              <a:t>— Encyclopedia Britannica</a:t>
            </a:r>
            <a:endParaRPr sz="1100"/>
          </a:p>
        </p:txBody>
      </p:sp>
      <p:sp>
        <p:nvSpPr>
          <p:cNvPr id="235" name="Google Shape;235;p50"/>
          <p:cNvSpPr txBox="1"/>
          <p:nvPr/>
        </p:nvSpPr>
        <p:spPr>
          <a:xfrm>
            <a:off x="411491" y="1906524"/>
            <a:ext cx="8318976" cy="27432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lang="en" sz="1100">
                <a:solidFill>
                  <a:srgbClr val="8B93A3"/>
                </a:solidFill>
                <a:latin typeface="Arial"/>
                <a:ea typeface="Arial"/>
                <a:cs typeface="Arial"/>
                <a:sym typeface="Arial"/>
              </a:rPr>
              <a:t>3 fundamental barriers to communication — the Shannon-Weaver model of communication</a:t>
            </a:r>
            <a:endParaRPr sz="1100"/>
          </a:p>
        </p:txBody>
      </p:sp>
      <p:sp>
        <p:nvSpPr>
          <p:cNvPr id="236" name="Google Shape;236;p50"/>
          <p:cNvSpPr/>
          <p:nvPr/>
        </p:nvSpPr>
        <p:spPr>
          <a:xfrm>
            <a:off x="411491" y="243459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000">
                <a:solidFill>
                  <a:srgbClr val="E6E9EF"/>
                </a:solidFill>
                <a:latin typeface="Arial"/>
                <a:ea typeface="Arial"/>
                <a:cs typeface="Arial"/>
                <a:sym typeface="Arial"/>
              </a:rPr>
              <a:t>INFORMATION</a:t>
            </a:r>
            <a:endParaRPr sz="1100"/>
          </a:p>
          <a:p>
            <a:pPr indent="0" lvl="0" marL="0" marR="0" rtl="0" algn="ctr">
              <a:spcBef>
                <a:spcPts val="0"/>
              </a:spcBef>
              <a:spcAft>
                <a:spcPts val="0"/>
              </a:spcAft>
              <a:buNone/>
            </a:pPr>
            <a:r>
              <a:rPr b="1" lang="en" sz="1000">
                <a:solidFill>
                  <a:srgbClr val="E6E9EF"/>
                </a:solidFill>
                <a:latin typeface="Arial"/>
                <a:ea typeface="Arial"/>
                <a:cs typeface="Arial"/>
                <a:sym typeface="Arial"/>
              </a:rPr>
              <a:t>SOURCE</a:t>
            </a:r>
            <a:endParaRPr sz="1100"/>
          </a:p>
        </p:txBody>
      </p:sp>
      <p:sp>
        <p:nvSpPr>
          <p:cNvPr id="237" name="Google Shape;237;p50"/>
          <p:cNvSpPr/>
          <p:nvPr/>
        </p:nvSpPr>
        <p:spPr>
          <a:xfrm>
            <a:off x="2057455" y="243459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000">
                <a:solidFill>
                  <a:srgbClr val="E6E9EF"/>
                </a:solidFill>
                <a:latin typeface="Arial"/>
                <a:ea typeface="Arial"/>
                <a:cs typeface="Arial"/>
                <a:sym typeface="Arial"/>
              </a:rPr>
              <a:t>TRANSMITTER</a:t>
            </a:r>
            <a:endParaRPr sz="1100"/>
          </a:p>
        </p:txBody>
      </p:sp>
      <p:sp>
        <p:nvSpPr>
          <p:cNvPr id="238" name="Google Shape;238;p50"/>
          <p:cNvSpPr/>
          <p:nvPr/>
        </p:nvSpPr>
        <p:spPr>
          <a:xfrm>
            <a:off x="3703419" y="243459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000">
                <a:solidFill>
                  <a:srgbClr val="E6E9EF"/>
                </a:solidFill>
                <a:latin typeface="Arial"/>
                <a:ea typeface="Arial"/>
                <a:cs typeface="Arial"/>
                <a:sym typeface="Arial"/>
              </a:rPr>
              <a:t>CHANNEL</a:t>
            </a:r>
            <a:endParaRPr sz="1100"/>
          </a:p>
        </p:txBody>
      </p:sp>
      <p:sp>
        <p:nvSpPr>
          <p:cNvPr id="239" name="Google Shape;239;p50"/>
          <p:cNvSpPr/>
          <p:nvPr/>
        </p:nvSpPr>
        <p:spPr>
          <a:xfrm>
            <a:off x="5349383" y="243459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000">
                <a:solidFill>
                  <a:srgbClr val="E6E9EF"/>
                </a:solidFill>
                <a:latin typeface="Arial"/>
                <a:ea typeface="Arial"/>
                <a:cs typeface="Arial"/>
                <a:sym typeface="Arial"/>
              </a:rPr>
              <a:t>RECEIVER</a:t>
            </a:r>
            <a:endParaRPr sz="1100"/>
          </a:p>
        </p:txBody>
      </p:sp>
      <p:sp>
        <p:nvSpPr>
          <p:cNvPr id="240" name="Google Shape;240;p50"/>
          <p:cNvSpPr/>
          <p:nvPr/>
        </p:nvSpPr>
        <p:spPr>
          <a:xfrm>
            <a:off x="6995346" y="243459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000">
                <a:solidFill>
                  <a:srgbClr val="E6E9EF"/>
                </a:solidFill>
                <a:latin typeface="Arial"/>
                <a:ea typeface="Arial"/>
                <a:cs typeface="Arial"/>
                <a:sym typeface="Arial"/>
              </a:rPr>
              <a:t>DESTINATION</a:t>
            </a:r>
            <a:endParaRPr sz="1100"/>
          </a:p>
        </p:txBody>
      </p:sp>
      <p:sp>
        <p:nvSpPr>
          <p:cNvPr id="241" name="Google Shape;241;p50"/>
          <p:cNvSpPr/>
          <p:nvPr/>
        </p:nvSpPr>
        <p:spPr>
          <a:xfrm>
            <a:off x="1752266" y="2678049"/>
            <a:ext cx="233178" cy="233172"/>
          </a:xfrm>
          <a:prstGeom prst="chevron">
            <a:avLst>
              <a:gd fmla="val 50000" name="adj"/>
            </a:avLst>
          </a:prstGeom>
          <a:solidFill>
            <a:srgbClr val="8B93A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42" name="Google Shape;242;p50"/>
          <p:cNvSpPr/>
          <p:nvPr/>
        </p:nvSpPr>
        <p:spPr>
          <a:xfrm>
            <a:off x="3398230" y="2678049"/>
            <a:ext cx="233178" cy="233172"/>
          </a:xfrm>
          <a:prstGeom prst="chevron">
            <a:avLst>
              <a:gd fmla="val 50000" name="adj"/>
            </a:avLst>
          </a:prstGeom>
          <a:solidFill>
            <a:srgbClr val="4F7FD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43" name="Google Shape;243;p50"/>
          <p:cNvSpPr txBox="1"/>
          <p:nvPr/>
        </p:nvSpPr>
        <p:spPr>
          <a:xfrm>
            <a:off x="3000455" y="3151251"/>
            <a:ext cx="1028700" cy="2742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 sz="800">
                <a:solidFill>
                  <a:srgbClr val="4F7FD1"/>
                </a:solidFill>
                <a:latin typeface="Arial"/>
                <a:ea typeface="Arial"/>
                <a:cs typeface="Arial"/>
                <a:sym typeface="Arial"/>
              </a:rPr>
              <a:t>TECHNICAL</a:t>
            </a:r>
            <a:endParaRPr sz="1100"/>
          </a:p>
        </p:txBody>
      </p:sp>
      <p:sp>
        <p:nvSpPr>
          <p:cNvPr id="244" name="Google Shape;244;p50"/>
          <p:cNvSpPr/>
          <p:nvPr/>
        </p:nvSpPr>
        <p:spPr>
          <a:xfrm>
            <a:off x="5044193" y="2678049"/>
            <a:ext cx="233178" cy="233172"/>
          </a:xfrm>
          <a:prstGeom prst="chevron">
            <a:avLst>
              <a:gd fmla="val 50000" name="adj"/>
            </a:avLst>
          </a:prstGeom>
          <a:solidFill>
            <a:srgbClr val="C47CB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45" name="Google Shape;245;p50"/>
          <p:cNvSpPr txBox="1"/>
          <p:nvPr/>
        </p:nvSpPr>
        <p:spPr>
          <a:xfrm>
            <a:off x="4646419" y="3151251"/>
            <a:ext cx="1028727" cy="27432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 sz="800">
                <a:solidFill>
                  <a:srgbClr val="C47CB8"/>
                </a:solidFill>
                <a:latin typeface="Arial"/>
                <a:ea typeface="Arial"/>
                <a:cs typeface="Arial"/>
                <a:sym typeface="Arial"/>
              </a:rPr>
              <a:t>SEMANTIC</a:t>
            </a:r>
            <a:endParaRPr sz="1100"/>
          </a:p>
        </p:txBody>
      </p:sp>
      <p:sp>
        <p:nvSpPr>
          <p:cNvPr id="246" name="Google Shape;246;p50"/>
          <p:cNvSpPr/>
          <p:nvPr/>
        </p:nvSpPr>
        <p:spPr>
          <a:xfrm>
            <a:off x="6690157" y="2678049"/>
            <a:ext cx="233178" cy="233172"/>
          </a:xfrm>
          <a:prstGeom prst="chevron">
            <a:avLst>
              <a:gd fmla="val 50000" name="adj"/>
            </a:avLst>
          </a:prstGeom>
          <a:solidFill>
            <a:srgbClr val="4FBF8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47" name="Google Shape;247;p50"/>
          <p:cNvSpPr txBox="1"/>
          <p:nvPr/>
        </p:nvSpPr>
        <p:spPr>
          <a:xfrm>
            <a:off x="6292383" y="3151251"/>
            <a:ext cx="1028727" cy="27432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 sz="800">
                <a:solidFill>
                  <a:srgbClr val="4FBF8F"/>
                </a:solidFill>
                <a:latin typeface="Arial"/>
                <a:ea typeface="Arial"/>
                <a:cs typeface="Arial"/>
                <a:sym typeface="Arial"/>
              </a:rPr>
              <a:t>EFFECTIVENESS</a:t>
            </a:r>
            <a:endParaRPr sz="1100"/>
          </a:p>
        </p:txBody>
      </p:sp>
      <p:sp>
        <p:nvSpPr>
          <p:cNvPr id="248" name="Google Shape;248;p50"/>
          <p:cNvSpPr/>
          <p:nvPr/>
        </p:nvSpPr>
        <p:spPr>
          <a:xfrm>
            <a:off x="4200637" y="3154680"/>
            <a:ext cx="274327" cy="857250"/>
          </a:xfrm>
          <a:prstGeom prst="upArrow">
            <a:avLst>
              <a:gd fmla="val 50000" name="adj1"/>
              <a:gd fmla="val 50000" name="adj2"/>
            </a:avLst>
          </a:prstGeom>
          <a:solidFill>
            <a:srgbClr val="E2687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49" name="Google Shape;249;p50"/>
          <p:cNvSpPr/>
          <p:nvPr/>
        </p:nvSpPr>
        <p:spPr>
          <a:xfrm>
            <a:off x="3651982" y="4011930"/>
            <a:ext cx="1371637" cy="480060"/>
          </a:xfrm>
          <a:prstGeom prst="roundRect">
            <a:avLst>
              <a:gd fmla="val 10000" name="adj"/>
            </a:avLst>
          </a:prstGeom>
          <a:solidFill>
            <a:srgbClr val="10141B"/>
          </a:solidFill>
          <a:ln cap="flat" cmpd="sng" w="15875">
            <a:solidFill>
              <a:srgbClr val="E2687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900">
                <a:solidFill>
                  <a:srgbClr val="E2687A"/>
                </a:solidFill>
                <a:latin typeface="Arial"/>
                <a:ea typeface="Arial"/>
                <a:cs typeface="Arial"/>
                <a:sym typeface="Arial"/>
              </a:rPr>
              <a:t>NOISE SOURCE</a:t>
            </a:r>
            <a:endParaRPr sz="1100"/>
          </a:p>
        </p:txBody>
      </p:sp>
      <p:pic>
        <p:nvPicPr>
          <p:cNvPr id="250" name="Picture 249" descr="psychology.png"/>
          <p:cNvPicPr>
            <a:picLocks noChangeAspect="1"/>
          </p:cNvPicPr>
          <p:nvPr/>
        </p:nvPicPr>
        <p:blipFill>
          <a:blip r:embed="rId3"/>
          <a:stretch>
            <a:fillRect/>
          </a:stretch>
        </p:blipFill>
        <p:spPr>
          <a:xfrm>
            <a:off x="820873" y="3445571"/>
            <a:ext cx="450000" cy="450000"/>
          </a:xfrm>
          <a:prstGeom prst="rect">
            <a:avLst/>
          </a:prstGeom>
        </p:spPr>
      </p:pic>
      <p:pic>
        <p:nvPicPr>
          <p:cNvPr id="251" name="Picture 250" descr="record_voice_over.png"/>
          <p:cNvPicPr>
            <a:picLocks noChangeAspect="1"/>
          </p:cNvPicPr>
          <p:nvPr/>
        </p:nvPicPr>
        <p:blipFill>
          <a:blip r:embed="rId4"/>
          <a:stretch>
            <a:fillRect/>
          </a:stretch>
        </p:blipFill>
        <p:spPr>
          <a:xfrm>
            <a:off x="2466837" y="3445571"/>
            <a:ext cx="450000" cy="450000"/>
          </a:xfrm>
          <a:prstGeom prst="rect">
            <a:avLst/>
          </a:prstGeom>
        </p:spPr>
      </p:pic>
      <p:pic>
        <p:nvPicPr>
          <p:cNvPr id="252" name="Picture 251" descr="graphic_eq.png"/>
          <p:cNvPicPr>
            <a:picLocks noChangeAspect="1"/>
          </p:cNvPicPr>
          <p:nvPr/>
        </p:nvPicPr>
        <p:blipFill>
          <a:blip r:embed="rId5"/>
          <a:stretch>
            <a:fillRect/>
          </a:stretch>
        </p:blipFill>
        <p:spPr>
          <a:xfrm>
            <a:off x="3710000" y="3445571"/>
            <a:ext cx="380000" cy="380000"/>
          </a:xfrm>
          <a:prstGeom prst="rect">
            <a:avLst/>
          </a:prstGeom>
        </p:spPr>
      </p:pic>
      <p:pic>
        <p:nvPicPr>
          <p:cNvPr id="253" name="Picture 252" descr="hearing.png"/>
          <p:cNvPicPr>
            <a:picLocks noChangeAspect="1"/>
          </p:cNvPicPr>
          <p:nvPr/>
        </p:nvPicPr>
        <p:blipFill>
          <a:blip r:embed="rId6"/>
          <a:stretch>
            <a:fillRect/>
          </a:stretch>
        </p:blipFill>
        <p:spPr>
          <a:xfrm>
            <a:off x="5758765" y="3445571"/>
            <a:ext cx="450000" cy="450000"/>
          </a:xfrm>
          <a:prstGeom prst="rect">
            <a:avLst/>
          </a:prstGeom>
        </p:spPr>
      </p:pic>
      <p:pic>
        <p:nvPicPr>
          <p:cNvPr id="254" name="Picture 253" descr="psychology.png"/>
          <p:cNvPicPr>
            <a:picLocks noChangeAspect="1"/>
          </p:cNvPicPr>
          <p:nvPr/>
        </p:nvPicPr>
        <p:blipFill>
          <a:blip r:embed="rId3"/>
          <a:stretch>
            <a:fillRect/>
          </a:stretch>
        </p:blipFill>
        <p:spPr>
          <a:xfrm>
            <a:off x="7404728" y="3445571"/>
            <a:ext cx="450000" cy="450000"/>
          </a:xfrm>
          <a:prstGeom prst="rect">
            <a:avLst/>
          </a:prstGeom>
        </p:spPr>
      </p:pic>
      <p:pic>
        <p:nvPicPr>
          <p:cNvPr id="255" name="Picture 254" descr="bolt.png"/>
          <p:cNvPicPr>
            <a:picLocks noChangeAspect="1"/>
          </p:cNvPicPr>
          <p:nvPr/>
        </p:nvPicPr>
        <p:blipFill>
          <a:blip r:embed="rId7"/>
          <a:stretch>
            <a:fillRect/>
          </a:stretch>
        </p:blipFill>
        <p:spPr>
          <a:xfrm>
            <a:off x="4147800" y="4561990"/>
            <a:ext cx="380000" cy="380000"/>
          </a:xfrm>
          <a:prstGeom prst="rect">
            <a:avLst/>
          </a:prstGeom>
        </p:spPr>
      </p:pic>
    </p:spTree>
  </p:cSld>
  <p:clrMapOvr>
    <a:masterClrMapping/>
  </p:clrMapOvr>
  <p:timing>
    <p:tnLst>
      <p:par>
        <p:cTn id="1" dur="indefinite" restart="never" nodeType="tmRoot">
          <p:childTnLst>
            <p:seq concat="0" nextAc="seek">
              <p:cTn id="2" dur="indefinite" nodeType="mainSeq">
                <p:childTnLst>
                  <p:par>
                    <p:cTn id="3" fill="hold">
                      <p:stCondLst>
                        <p:cond delay="indefinite"/>
                      </p:stCondLst>
                      <p:childTnLst>
                        <p:par>
                          <p:cTn id="4" presetID="1" presetClass="entr" presetSubtype="0" fill="hold" grpId="0" nodeType="clickEffect">
                            <p:stCondLst>
                              <p:cond delay="0"/>
                            </p:stCondLst>
                            <p:childTnLst>
                              <p:set>
                                <p:cBhvr>
                                  <p:cTn id="5" dur="1" fill="hold">
                                    <p:stCondLst>
                                      <p:cond delay="0"/>
                                    </p:stCondLst>
                                  </p:cTn>
                                  <p:tgtEl>
                                    <p:spTgt spid="231"/>
                                  </p:tgtEl>
                                  <p:attrNameLst>
                                    <p:attrName>style.visibility</p:attrName>
                                  </p:attrNameLst>
                                </p:cBhvr>
                                <p:to>
                                  <p:strVal val="visible"/>
                                </p:to>
                              </p:set>
                            </p:childTnLst>
                          </p:cTn>
                        </p:par>
                        <p:par>
                          <p:cTn id="6" presetID="1" presetClass="entr" presetSubtype="0" fill="hold" grpId="1" nodeType="withEffect">
                            <p:stCondLst>
                              <p:cond delay="0"/>
                            </p:stCondLst>
                            <p:childTnLst>
                              <p:set>
                                <p:cBhvr>
                                  <p:cTn id="7" dur="1" fill="hold">
                                    <p:stCondLst>
                                      <p:cond delay="0"/>
                                    </p:stCondLst>
                                  </p:cTn>
                                  <p:tgtEl>
                                    <p:spTgt spid="232"/>
                                  </p:tgtEl>
                                  <p:attrNameLst>
                                    <p:attrName>style.visibility</p:attrName>
                                  </p:attrNameLst>
                                </p:cBhvr>
                                <p:to>
                                  <p:strVal val="visible"/>
                                </p:to>
                              </p:set>
                            </p:childTnLst>
                          </p:cTn>
                        </p:par>
                        <p:par>
                          <p:cTn id="8" presetID="1" presetClass="entr" presetSubtype="0" fill="hold" grpId="2" nodeType="withEffect">
                            <p:stCondLst>
                              <p:cond delay="0"/>
                            </p:stCondLst>
                            <p:childTnLst>
                              <p:set>
                                <p:cBhvr>
                                  <p:cTn id="9" dur="1" fill="hold">
                                    <p:stCondLst>
                                      <p:cond delay="0"/>
                                    </p:stCondLst>
                                  </p:cTn>
                                  <p:tgtEl>
                                    <p:spTgt spid="233"/>
                                  </p:tgtEl>
                                  <p:attrNameLst>
                                    <p:attrName>style.visibility</p:attrName>
                                  </p:attrNameLst>
                                </p:cBhvr>
                                <p:to>
                                  <p:strVal val="visible"/>
                                </p:to>
                              </p:set>
                            </p:childTnLst>
                          </p:cTn>
                        </p:par>
                        <p:par>
                          <p:cTn id="10" presetID="1" presetClass="entr" presetSubtype="0" fill="hold" grpId="3" nodeType="withEffect">
                            <p:stCondLst>
                              <p:cond delay="0"/>
                            </p:stCondLst>
                            <p:childTnLst>
                              <p:set>
                                <p:cBhvr>
                                  <p:cTn id="11" dur="1" fill="hold">
                                    <p:stCondLst>
                                      <p:cond delay="0"/>
                                    </p:stCondLst>
                                  </p:cTn>
                                  <p:tgtEl>
                                    <p:spTgt spid="234"/>
                                  </p:tgtEl>
                                  <p:attrNameLst>
                                    <p:attrName>style.visibility</p:attrName>
                                  </p:attrNameLst>
                                </p:cBhvr>
                                <p:to>
                                  <p:strVal val="visible"/>
                                </p:to>
                              </p:set>
                            </p:childTnLst>
                          </p:cTn>
                        </p:par>
                      </p:childTnLst>
                    </p:cTn>
                  </p:par>
                  <p:par>
                    <p:cTn id="12" fill="hold">
                      <p:stCondLst>
                        <p:cond delay="indefinite"/>
                      </p:stCondLst>
                      <p:childTnLst>
                        <p:par>
                          <p:cTn id="13" presetID="1" presetClass="entr" presetSubtype="0" fill="hold" grpId="4" nodeType="clickEffect">
                            <p:stCondLst>
                              <p:cond delay="0"/>
                            </p:stCondLst>
                            <p:childTnLst>
                              <p:set>
                                <p:cBhvr>
                                  <p:cTn id="14" dur="1" fill="hold">
                                    <p:stCondLst>
                                      <p:cond delay="0"/>
                                    </p:stCondLst>
                                  </p:cTn>
                                  <p:tgtEl>
                                    <p:spTgt spid="235"/>
                                  </p:tgtEl>
                                  <p:attrNameLst>
                                    <p:attrName>style.visibility</p:attrName>
                                  </p:attrNameLst>
                                </p:cBhvr>
                                <p:to>
                                  <p:strVal val="visible"/>
                                </p:to>
                              </p:set>
                            </p:childTnLst>
                          </p:cTn>
                        </p:par>
                      </p:childTnLst>
                    </p:cTn>
                  </p:par>
                  <p:par>
                    <p:cTn id="15" fill="hold">
                      <p:stCondLst>
                        <p:cond delay="indefinite"/>
                      </p:stCondLst>
                      <p:childTnLst>
                        <p:par>
                          <p:cTn id="16" presetID="1" presetClass="entr" presetSubtype="0" fill="hold" grpId="5" nodeType="clickEffect">
                            <p:stCondLst>
                              <p:cond delay="0"/>
                            </p:stCondLst>
                            <p:childTnLst>
                              <p:set>
                                <p:cBhvr>
                                  <p:cTn id="17" dur="1" fill="hold">
                                    <p:stCondLst>
                                      <p:cond delay="0"/>
                                    </p:stCondLst>
                                  </p:cTn>
                                  <p:tgtEl>
                                    <p:spTgt spid="236"/>
                                  </p:tgtEl>
                                  <p:attrNameLst>
                                    <p:attrName>style.visibility</p:attrName>
                                  </p:attrNameLst>
                                </p:cBhvr>
                                <p:to>
                                  <p:strVal val="visible"/>
                                </p:to>
                              </p:set>
                            </p:childTnLst>
                          </p:cTn>
                        </p:par>
                        <p:par>
                          <p:cTn id="18" presetID="1" presetClass="entr" presetSubtype="0" fill="hold" grpId="6" nodeType="withEffect">
                            <p:stCondLst>
                              <p:cond delay="0"/>
                            </p:stCondLst>
                            <p:childTnLst>
                              <p:set>
                                <p:cBhvr>
                                  <p:cTn id="19" dur="1" fill="hold">
                                    <p:stCondLst>
                                      <p:cond delay="0"/>
                                    </p:stCondLst>
                                  </p:cTn>
                                  <p:tgtEl>
                                    <p:spTgt spid="250"/>
                                  </p:tgtEl>
                                  <p:attrNameLst>
                                    <p:attrName>style.visibility</p:attrName>
                                  </p:attrNameLst>
                                </p:cBhvr>
                                <p:to>
                                  <p:strVal val="visible"/>
                                </p:to>
                              </p:set>
                            </p:childTnLst>
                          </p:cTn>
                        </p:par>
                      </p:childTnLst>
                    </p:cTn>
                  </p:par>
                  <p:par>
                    <p:cTn id="20" fill="hold">
                      <p:stCondLst>
                        <p:cond delay="indefinite"/>
                      </p:stCondLst>
                      <p:childTnLst>
                        <p:par>
                          <p:cTn id="21" presetID="1" presetClass="entr" presetSubtype="0" fill="hold" grpId="7" nodeType="clickEffect">
                            <p:stCondLst>
                              <p:cond delay="0"/>
                            </p:stCondLst>
                            <p:childTnLst>
                              <p:set>
                                <p:cBhvr>
                                  <p:cTn id="22" dur="1" fill="hold">
                                    <p:stCondLst>
                                      <p:cond delay="0"/>
                                    </p:stCondLst>
                                  </p:cTn>
                                  <p:tgtEl>
                                    <p:spTgt spid="241"/>
                                  </p:tgtEl>
                                  <p:attrNameLst>
                                    <p:attrName>style.visibility</p:attrName>
                                  </p:attrNameLst>
                                </p:cBhvr>
                                <p:to>
                                  <p:strVal val="visible"/>
                                </p:to>
                              </p:set>
                            </p:childTnLst>
                          </p:cTn>
                        </p:par>
                        <p:par>
                          <p:cTn id="23" presetID="1" presetClass="entr" presetSubtype="0" fill="hold" grpId="8" nodeType="withEffect">
                            <p:stCondLst>
                              <p:cond delay="0"/>
                            </p:stCondLst>
                            <p:childTnLst>
                              <p:set>
                                <p:cBhvr>
                                  <p:cTn id="24" dur="1" fill="hold">
                                    <p:stCondLst>
                                      <p:cond delay="0"/>
                                    </p:stCondLst>
                                  </p:cTn>
                                  <p:tgtEl>
                                    <p:spTgt spid="237"/>
                                  </p:tgtEl>
                                  <p:attrNameLst>
                                    <p:attrName>style.visibility</p:attrName>
                                  </p:attrNameLst>
                                </p:cBhvr>
                                <p:to>
                                  <p:strVal val="visible"/>
                                </p:to>
                              </p:set>
                            </p:childTnLst>
                          </p:cTn>
                        </p:par>
                        <p:par>
                          <p:cTn id="25" presetID="1" presetClass="entr" presetSubtype="0" fill="hold" grpId="9" nodeType="withEffect">
                            <p:stCondLst>
                              <p:cond delay="0"/>
                            </p:stCondLst>
                            <p:childTnLst>
                              <p:set>
                                <p:cBhvr>
                                  <p:cTn id="26" dur="1" fill="hold">
                                    <p:stCondLst>
                                      <p:cond delay="0"/>
                                    </p:stCondLst>
                                  </p:cTn>
                                  <p:tgtEl>
                                    <p:spTgt spid="251"/>
                                  </p:tgtEl>
                                  <p:attrNameLst>
                                    <p:attrName>style.visibility</p:attrName>
                                  </p:attrNameLst>
                                </p:cBhvr>
                                <p:to>
                                  <p:strVal val="visible"/>
                                </p:to>
                              </p:set>
                            </p:childTnLst>
                          </p:cTn>
                        </p:par>
                      </p:childTnLst>
                    </p:cTn>
                  </p:par>
                  <p:par>
                    <p:cTn id="27" fill="hold">
                      <p:stCondLst>
                        <p:cond delay="indefinite"/>
                      </p:stCondLst>
                      <p:childTnLst>
                        <p:par>
                          <p:cTn id="28" presetID="1" presetClass="entr" presetSubtype="0" fill="hold" grpId="10" nodeType="clickEffect">
                            <p:stCondLst>
                              <p:cond delay="0"/>
                            </p:stCondLst>
                            <p:childTnLst>
                              <p:set>
                                <p:cBhvr>
                                  <p:cTn id="29" dur="1" fill="hold">
                                    <p:stCondLst>
                                      <p:cond delay="0"/>
                                    </p:stCondLst>
                                  </p:cTn>
                                  <p:tgtEl>
                                    <p:spTgt spid="242"/>
                                  </p:tgtEl>
                                  <p:attrNameLst>
                                    <p:attrName>style.visibility</p:attrName>
                                  </p:attrNameLst>
                                </p:cBhvr>
                                <p:to>
                                  <p:strVal val="visible"/>
                                </p:to>
                              </p:set>
                            </p:childTnLst>
                          </p:cTn>
                        </p:par>
                        <p:par>
                          <p:cTn id="30" presetID="1" presetClass="entr" presetSubtype="0" fill="hold" grpId="11" nodeType="withEffect">
                            <p:stCondLst>
                              <p:cond delay="0"/>
                            </p:stCondLst>
                            <p:childTnLst>
                              <p:set>
                                <p:cBhvr>
                                  <p:cTn id="31" dur="1" fill="hold">
                                    <p:stCondLst>
                                      <p:cond delay="0"/>
                                    </p:stCondLst>
                                  </p:cTn>
                                  <p:tgtEl>
                                    <p:spTgt spid="238"/>
                                  </p:tgtEl>
                                  <p:attrNameLst>
                                    <p:attrName>style.visibility</p:attrName>
                                  </p:attrNameLst>
                                </p:cBhvr>
                                <p:to>
                                  <p:strVal val="visible"/>
                                </p:to>
                              </p:set>
                            </p:childTnLst>
                          </p:cTn>
                        </p:par>
                        <p:par>
                          <p:cTn id="32" presetID="1" presetClass="entr" presetSubtype="0" fill="hold" grpId="12" nodeType="withEffect">
                            <p:stCondLst>
                              <p:cond delay="0"/>
                            </p:stCondLst>
                            <p:childTnLst>
                              <p:set>
                                <p:cBhvr>
                                  <p:cTn id="33" dur="1" fill="hold">
                                    <p:stCondLst>
                                      <p:cond delay="0"/>
                                    </p:stCondLst>
                                  </p:cTn>
                                  <p:tgtEl>
                                    <p:spTgt spid="252"/>
                                  </p:tgtEl>
                                  <p:attrNameLst>
                                    <p:attrName>style.visibility</p:attrName>
                                  </p:attrNameLst>
                                </p:cBhvr>
                                <p:to>
                                  <p:strVal val="visible"/>
                                </p:to>
                              </p:set>
                            </p:childTnLst>
                          </p:cTn>
                        </p:par>
                      </p:childTnLst>
                    </p:cTn>
                  </p:par>
                  <p:par>
                    <p:cTn id="34" fill="hold">
                      <p:stCondLst>
                        <p:cond delay="indefinite"/>
                      </p:stCondLst>
                      <p:childTnLst>
                        <p:par>
                          <p:cTn id="35" presetID="1" presetClass="entr" presetSubtype="0" fill="hold" grpId="13" nodeType="clickEffect">
                            <p:stCondLst>
                              <p:cond delay="0"/>
                            </p:stCondLst>
                            <p:childTnLst>
                              <p:set>
                                <p:cBhvr>
                                  <p:cTn id="36" dur="1" fill="hold">
                                    <p:stCondLst>
                                      <p:cond delay="0"/>
                                    </p:stCondLst>
                                  </p:cTn>
                                  <p:tgtEl>
                                    <p:spTgt spid="244"/>
                                  </p:tgtEl>
                                  <p:attrNameLst>
                                    <p:attrName>style.visibility</p:attrName>
                                  </p:attrNameLst>
                                </p:cBhvr>
                                <p:to>
                                  <p:strVal val="visible"/>
                                </p:to>
                              </p:set>
                            </p:childTnLst>
                          </p:cTn>
                        </p:par>
                        <p:par>
                          <p:cTn id="37" presetID="1" presetClass="entr" presetSubtype="0" fill="hold" grpId="14" nodeType="withEffect">
                            <p:stCondLst>
                              <p:cond delay="0"/>
                            </p:stCondLst>
                            <p:childTnLst>
                              <p:set>
                                <p:cBhvr>
                                  <p:cTn id="38" dur="1" fill="hold">
                                    <p:stCondLst>
                                      <p:cond delay="0"/>
                                    </p:stCondLst>
                                  </p:cTn>
                                  <p:tgtEl>
                                    <p:spTgt spid="239"/>
                                  </p:tgtEl>
                                  <p:attrNameLst>
                                    <p:attrName>style.visibility</p:attrName>
                                  </p:attrNameLst>
                                </p:cBhvr>
                                <p:to>
                                  <p:strVal val="visible"/>
                                </p:to>
                              </p:set>
                            </p:childTnLst>
                          </p:cTn>
                        </p:par>
                        <p:par>
                          <p:cTn id="39" presetID="1" presetClass="entr" presetSubtype="0" fill="hold" grpId="15" nodeType="withEffect">
                            <p:stCondLst>
                              <p:cond delay="0"/>
                            </p:stCondLst>
                            <p:childTnLst>
                              <p:set>
                                <p:cBhvr>
                                  <p:cTn id="40" dur="1" fill="hold">
                                    <p:stCondLst>
                                      <p:cond delay="0"/>
                                    </p:stCondLst>
                                  </p:cTn>
                                  <p:tgtEl>
                                    <p:spTgt spid="253"/>
                                  </p:tgtEl>
                                  <p:attrNameLst>
                                    <p:attrName>style.visibility</p:attrName>
                                  </p:attrNameLst>
                                </p:cBhvr>
                                <p:to>
                                  <p:strVal val="visible"/>
                                </p:to>
                              </p:set>
                            </p:childTnLst>
                          </p:cTn>
                        </p:par>
                      </p:childTnLst>
                    </p:cTn>
                  </p:par>
                  <p:par>
                    <p:cTn id="41" fill="hold">
                      <p:stCondLst>
                        <p:cond delay="indefinite"/>
                      </p:stCondLst>
                      <p:childTnLst>
                        <p:par>
                          <p:cTn id="42" presetID="1" presetClass="entr" presetSubtype="0" fill="hold" grpId="16" nodeType="clickEffect">
                            <p:stCondLst>
                              <p:cond delay="0"/>
                            </p:stCondLst>
                            <p:childTnLst>
                              <p:set>
                                <p:cBhvr>
                                  <p:cTn id="43" dur="1" fill="hold">
                                    <p:stCondLst>
                                      <p:cond delay="0"/>
                                    </p:stCondLst>
                                  </p:cTn>
                                  <p:tgtEl>
                                    <p:spTgt spid="246"/>
                                  </p:tgtEl>
                                  <p:attrNameLst>
                                    <p:attrName>style.visibility</p:attrName>
                                  </p:attrNameLst>
                                </p:cBhvr>
                                <p:to>
                                  <p:strVal val="visible"/>
                                </p:to>
                              </p:set>
                            </p:childTnLst>
                          </p:cTn>
                        </p:par>
                        <p:par>
                          <p:cTn id="44" presetID="1" presetClass="entr" presetSubtype="0" fill="hold" grpId="17" nodeType="withEffect">
                            <p:stCondLst>
                              <p:cond delay="0"/>
                            </p:stCondLst>
                            <p:childTnLst>
                              <p:set>
                                <p:cBhvr>
                                  <p:cTn id="45" dur="1" fill="hold">
                                    <p:stCondLst>
                                      <p:cond delay="0"/>
                                    </p:stCondLst>
                                  </p:cTn>
                                  <p:tgtEl>
                                    <p:spTgt spid="240"/>
                                  </p:tgtEl>
                                  <p:attrNameLst>
                                    <p:attrName>style.visibility</p:attrName>
                                  </p:attrNameLst>
                                </p:cBhvr>
                                <p:to>
                                  <p:strVal val="visible"/>
                                </p:to>
                              </p:set>
                            </p:childTnLst>
                          </p:cTn>
                        </p:par>
                        <p:par>
                          <p:cTn id="46" presetID="1" presetClass="entr" presetSubtype="0" fill="hold" grpId="18" nodeType="withEffect">
                            <p:stCondLst>
                              <p:cond delay="0"/>
                            </p:stCondLst>
                            <p:childTnLst>
                              <p:set>
                                <p:cBhvr>
                                  <p:cTn id="47" dur="1" fill="hold">
                                    <p:stCondLst>
                                      <p:cond delay="0"/>
                                    </p:stCondLst>
                                  </p:cTn>
                                  <p:tgtEl>
                                    <p:spTgt spid="254"/>
                                  </p:tgtEl>
                                  <p:attrNameLst>
                                    <p:attrName>style.visibility</p:attrName>
                                  </p:attrNameLst>
                                </p:cBhvr>
                                <p:to>
                                  <p:strVal val="visible"/>
                                </p:to>
                              </p:set>
                            </p:childTnLst>
                          </p:cTn>
                        </p:par>
                      </p:childTnLst>
                    </p:cTn>
                  </p:par>
                  <p:par>
                    <p:cTn id="48" fill="hold">
                      <p:stCondLst>
                        <p:cond delay="indefinite"/>
                      </p:stCondLst>
                      <p:childTnLst>
                        <p:par>
                          <p:cTn id="49" presetID="1" presetClass="entr" presetSubtype="0" fill="hold" grpId="19" nodeType="clickEffect">
                            <p:stCondLst>
                              <p:cond delay="0"/>
                            </p:stCondLst>
                            <p:childTnLst>
                              <p:set>
                                <p:cBhvr>
                                  <p:cTn id="50" dur="1" fill="hold">
                                    <p:stCondLst>
                                      <p:cond delay="0"/>
                                    </p:stCondLst>
                                  </p:cTn>
                                  <p:tgtEl>
                                    <p:spTgt spid="243"/>
                                  </p:tgtEl>
                                  <p:attrNameLst>
                                    <p:attrName>style.visibility</p:attrName>
                                  </p:attrNameLst>
                                </p:cBhvr>
                                <p:to>
                                  <p:strVal val="visible"/>
                                </p:to>
                              </p:set>
                            </p:childTnLst>
                          </p:cTn>
                        </p:par>
                        <p:par>
                          <p:cTn id="51" presetID="1" presetClass="entr" presetSubtype="0" fill="hold" grpId="20" nodeType="withEffect">
                            <p:stCondLst>
                              <p:cond delay="0"/>
                            </p:stCondLst>
                            <p:childTnLst>
                              <p:set>
                                <p:cBhvr>
                                  <p:cTn id="52" dur="1" fill="hold">
                                    <p:stCondLst>
                                      <p:cond delay="0"/>
                                    </p:stCondLst>
                                  </p:cTn>
                                  <p:tgtEl>
                                    <p:spTgt spid="249"/>
                                  </p:tgtEl>
                                  <p:attrNameLst>
                                    <p:attrName>style.visibility</p:attrName>
                                  </p:attrNameLst>
                                </p:cBhvr>
                                <p:to>
                                  <p:strVal val="visible"/>
                                </p:to>
                              </p:set>
                            </p:childTnLst>
                          </p:cTn>
                        </p:par>
                        <p:par>
                          <p:cTn id="53" presetID="1" presetClass="entr" presetSubtype="0" fill="hold" grpId="21" nodeType="withEffect">
                            <p:stCondLst>
                              <p:cond delay="0"/>
                            </p:stCondLst>
                            <p:childTnLst>
                              <p:set>
                                <p:cBhvr>
                                  <p:cTn id="54" dur="1" fill="hold">
                                    <p:stCondLst>
                                      <p:cond delay="0"/>
                                    </p:stCondLst>
                                  </p:cTn>
                                  <p:tgtEl>
                                    <p:spTgt spid="248"/>
                                  </p:tgtEl>
                                  <p:attrNameLst>
                                    <p:attrName>style.visibility</p:attrName>
                                  </p:attrNameLst>
                                </p:cBhvr>
                                <p:to>
                                  <p:strVal val="visible"/>
                                </p:to>
                              </p:set>
                            </p:childTnLst>
                          </p:cTn>
                        </p:par>
                        <p:par>
                          <p:cTn id="55" presetID="1" presetClass="entr" presetSubtype="0" fill="hold" grpId="22" nodeType="withEffect">
                            <p:stCondLst>
                              <p:cond delay="0"/>
                            </p:stCondLst>
                            <p:childTnLst>
                              <p:set>
                                <p:cBhvr>
                                  <p:cTn id="56" dur="1" fill="hold">
                                    <p:stCondLst>
                                      <p:cond delay="0"/>
                                    </p:stCondLst>
                                  </p:cTn>
                                  <p:tgtEl>
                                    <p:spTgt spid="255"/>
                                  </p:tgtEl>
                                  <p:attrNameLst>
                                    <p:attrName>style.visibility</p:attrName>
                                  </p:attrNameLst>
                                </p:cBhvr>
                                <p:to>
                                  <p:strVal val="visible"/>
                                </p:to>
                              </p:set>
                            </p:childTnLst>
                          </p:cTn>
                        </p:par>
                      </p:childTnLst>
                    </p:cTn>
                  </p:par>
                  <p:par>
                    <p:cTn id="57" fill="hold">
                      <p:stCondLst>
                        <p:cond delay="indefinite"/>
                      </p:stCondLst>
                      <p:childTnLst>
                        <p:par>
                          <p:cTn id="58" presetID="1" presetClass="entr" presetSubtype="0" fill="hold" grpId="23" nodeType="clickEffect">
                            <p:stCondLst>
                              <p:cond delay="0"/>
                            </p:stCondLst>
                            <p:childTnLst>
                              <p:set>
                                <p:cBhvr>
                                  <p:cTn id="59" dur="1" fill="hold">
                                    <p:stCondLst>
                                      <p:cond delay="0"/>
                                    </p:stCondLst>
                                  </p:cTn>
                                  <p:tgtEl>
                                    <p:spTgt spid="245"/>
                                  </p:tgtEl>
                                  <p:attrNameLst>
                                    <p:attrName>style.visibility</p:attrName>
                                  </p:attrNameLst>
                                </p:cBhvr>
                                <p:to>
                                  <p:strVal val="visible"/>
                                </p:to>
                              </p:set>
                            </p:childTnLst>
                          </p:cTn>
                        </p:par>
                      </p:childTnLst>
                    </p:cTn>
                  </p:par>
                  <p:par>
                    <p:cTn id="60" fill="hold">
                      <p:stCondLst>
                        <p:cond delay="indefinite"/>
                      </p:stCondLst>
                      <p:childTnLst>
                        <p:par>
                          <p:cTn id="61" presetID="1" presetClass="entr" presetSubtype="0" fill="hold" grpId="24" nodeType="clickEffect">
                            <p:stCondLst>
                              <p:cond delay="0"/>
                            </p:stCondLst>
                            <p:childTnLst>
                              <p:set>
                                <p:cBhvr>
                                  <p:cTn id="62" dur="1" fill="hold">
                                    <p:stCondLst>
                                      <p:cond delay="0"/>
                                    </p:stCondLst>
                                  </p:cTn>
                                  <p:tgtEl>
                                    <p:spTgt spid="247"/>
                                  </p:tgtEl>
                                  <p:attrNameLst>
                                    <p:attrName>style.visibility</p:attrName>
                                  </p:attrNameLst>
                                </p:cBhvr>
                                <p:to>
                                  <p:strVal val="visible"/>
                                </p:to>
                              </p:set>
                            </p:childTnLst>
                          </p:cTn>
                        </p:par>
                      </p:childTnLst>
                    </p:cTn>
                  </p:par>
                </p:childTnLst>
              </p:cTn>
            </p:seq>
          </p:childTnLst>
        </p:cTn>
      </p:par>
    </p:tnLst>
    <p:bldLst>
      <p:bldP spid="231" grpId="0"/>
      <p:bldP spid="232" grpId="1"/>
      <p:bldP spid="233" grpId="2"/>
      <p:bldP spid="234" grpId="3"/>
      <p:bldP spid="235" grpId="4"/>
      <p:bldP spid="236" grpId="5"/>
      <p:bldP spid="250" grpId="6"/>
      <p:bldP spid="241" grpId="7"/>
      <p:bldP spid="237" grpId="8"/>
      <p:bldP spid="251" grpId="9"/>
      <p:bldP spid="242" grpId="10"/>
      <p:bldP spid="238" grpId="11"/>
      <p:bldP spid="252" grpId="12"/>
      <p:bldP spid="244" grpId="13"/>
      <p:bldP spid="239" grpId="14"/>
      <p:bldP spid="253" grpId="15"/>
      <p:bldP spid="246" grpId="16"/>
      <p:bldP spid="240" grpId="17"/>
      <p:bldP spid="254" grpId="18"/>
      <p:bldP spid="243" grpId="19"/>
      <p:bldP spid="249" grpId="20"/>
      <p:bldP spid="248" grpId="21"/>
      <p:bldP spid="255" grpId="22"/>
      <p:bldP spid="245" grpId="23"/>
      <p:bldP spid="247" grpId="24"/>
    </p:bld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51"/>
          <p:cNvSpPr/>
          <p:nvPr/>
        </p:nvSpPr>
        <p:spPr>
          <a:xfrm>
            <a:off x="0" y="0"/>
            <a:ext cx="9144015" cy="5143500"/>
          </a:xfrm>
          <a:prstGeom prst="rect">
            <a:avLst/>
          </a:prstGeom>
          <a:solidFill>
            <a:srgbClr val="0D111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55" name="Google Shape;255;p51"/>
          <p:cNvSpPr txBox="1"/>
          <p:nvPr/>
        </p:nvSpPr>
        <p:spPr>
          <a:xfrm>
            <a:off x="411491" y="240030"/>
            <a:ext cx="8298300" cy="423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300">
                <a:solidFill>
                  <a:srgbClr val="E6E9EF"/>
                </a:solidFill>
              </a:rPr>
              <a:t>3</a:t>
            </a:r>
            <a:r>
              <a:rPr b="1" lang="en" sz="2300">
                <a:solidFill>
                  <a:srgbClr val="E6E9EF"/>
                </a:solidFill>
                <a:latin typeface="Arial"/>
                <a:ea typeface="Arial"/>
                <a:cs typeface="Arial"/>
                <a:sym typeface="Arial"/>
              </a:rPr>
              <a:t> barriers to communication in remote facilitation</a:t>
            </a:r>
            <a:endParaRPr sz="1100"/>
          </a:p>
        </p:txBody>
      </p:sp>
      <p:sp>
        <p:nvSpPr>
          <p:cNvPr id="256" name="Google Shape;256;p51"/>
          <p:cNvSpPr/>
          <p:nvPr/>
        </p:nvSpPr>
        <p:spPr>
          <a:xfrm>
            <a:off x="411491" y="720090"/>
            <a:ext cx="754400" cy="28575"/>
          </a:xfrm>
          <a:prstGeom prst="rect">
            <a:avLst/>
          </a:prstGeom>
          <a:solidFill>
            <a:srgbClr val="4F7FD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57" name="Google Shape;257;p51"/>
          <p:cNvSpPr/>
          <p:nvPr/>
        </p:nvSpPr>
        <p:spPr>
          <a:xfrm>
            <a:off x="411491" y="161163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000">
                <a:solidFill>
                  <a:srgbClr val="E6E9EF"/>
                </a:solidFill>
                <a:latin typeface="Arial"/>
                <a:ea typeface="Arial"/>
                <a:cs typeface="Arial"/>
                <a:sym typeface="Arial"/>
              </a:rPr>
              <a:t>FACILITATOR</a:t>
            </a:r>
            <a:endParaRPr sz="1100"/>
          </a:p>
        </p:txBody>
      </p:sp>
      <p:sp>
        <p:nvSpPr>
          <p:cNvPr id="258" name="Google Shape;258;p51"/>
          <p:cNvSpPr/>
          <p:nvPr/>
        </p:nvSpPr>
        <p:spPr>
          <a:xfrm>
            <a:off x="2057455" y="161163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000">
                <a:solidFill>
                  <a:srgbClr val="E6E9EF"/>
                </a:solidFill>
                <a:latin typeface="Arial"/>
                <a:ea typeface="Arial"/>
                <a:cs typeface="Arial"/>
                <a:sym typeface="Arial"/>
              </a:rPr>
              <a:t>MIC &amp;</a:t>
            </a:r>
            <a:endParaRPr sz="1100"/>
          </a:p>
          <a:p>
            <a:pPr indent="0" lvl="0" marL="0" marR="0" rtl="0" algn="ctr">
              <a:spcBef>
                <a:spcPts val="0"/>
              </a:spcBef>
              <a:spcAft>
                <a:spcPts val="0"/>
              </a:spcAft>
              <a:buNone/>
            </a:pPr>
            <a:r>
              <a:rPr b="1" lang="en" sz="1000">
                <a:solidFill>
                  <a:srgbClr val="E6E9EF"/>
                </a:solidFill>
                <a:latin typeface="Arial"/>
                <a:ea typeface="Arial"/>
                <a:cs typeface="Arial"/>
                <a:sym typeface="Arial"/>
              </a:rPr>
              <a:t>CAMERA</a:t>
            </a:r>
            <a:endParaRPr sz="1100"/>
          </a:p>
        </p:txBody>
      </p:sp>
      <p:sp>
        <p:nvSpPr>
          <p:cNvPr id="259" name="Google Shape;259;p51"/>
          <p:cNvSpPr/>
          <p:nvPr/>
        </p:nvSpPr>
        <p:spPr>
          <a:xfrm>
            <a:off x="3703419" y="161163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000">
                <a:solidFill>
                  <a:srgbClr val="E6E9EF"/>
                </a:solidFill>
                <a:latin typeface="Arial"/>
                <a:ea typeface="Arial"/>
                <a:cs typeface="Arial"/>
                <a:sym typeface="Arial"/>
              </a:rPr>
              <a:t>VIDEO CALL</a:t>
            </a:r>
            <a:endParaRPr sz="1100"/>
          </a:p>
        </p:txBody>
      </p:sp>
      <p:sp>
        <p:nvSpPr>
          <p:cNvPr id="260" name="Google Shape;260;p51"/>
          <p:cNvSpPr/>
          <p:nvPr/>
        </p:nvSpPr>
        <p:spPr>
          <a:xfrm>
            <a:off x="5349383" y="161163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1000">
                <a:solidFill>
                  <a:srgbClr val="E6E9EF"/>
                </a:solidFill>
                <a:latin typeface="Arial"/>
                <a:ea typeface="Arial"/>
                <a:cs typeface="Arial"/>
                <a:sym typeface="Arial"/>
              </a:rPr>
              <a:t>LEARNER'S</a:t>
            </a:r>
            <a:endParaRPr sz="1100"/>
          </a:p>
          <a:p>
            <a:pPr indent="0" lvl="0" marL="0" marR="0" rtl="0" algn="ctr">
              <a:spcBef>
                <a:spcPts val="0"/>
              </a:spcBef>
              <a:spcAft>
                <a:spcPts val="0"/>
              </a:spcAft>
              <a:buNone/>
            </a:pPr>
            <a:r>
              <a:rPr b="1" lang="en" sz="1000">
                <a:solidFill>
                  <a:srgbClr val="E6E9EF"/>
                </a:solidFill>
                <a:latin typeface="Arial"/>
                <a:ea typeface="Arial"/>
                <a:cs typeface="Arial"/>
                <a:sym typeface="Arial"/>
              </a:rPr>
              <a:t>SCREEN</a:t>
            </a:r>
            <a:endParaRPr sz="1100"/>
          </a:p>
        </p:txBody>
      </p:sp>
      <p:sp>
        <p:nvSpPr>
          <p:cNvPr id="261" name="Google Shape;261;p51"/>
          <p:cNvSpPr/>
          <p:nvPr/>
        </p:nvSpPr>
        <p:spPr>
          <a:xfrm>
            <a:off x="6995346" y="161163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900">
                <a:solidFill>
                  <a:srgbClr val="E6E9EF"/>
                </a:solidFill>
                <a:latin typeface="Arial"/>
                <a:ea typeface="Arial"/>
                <a:cs typeface="Arial"/>
                <a:sym typeface="Arial"/>
              </a:rPr>
              <a:t>LEARNER'S</a:t>
            </a:r>
            <a:endParaRPr sz="1000"/>
          </a:p>
          <a:p>
            <a:pPr indent="0" lvl="0" marL="0" marR="0" rtl="0" algn="ctr">
              <a:spcBef>
                <a:spcPts val="0"/>
              </a:spcBef>
              <a:spcAft>
                <a:spcPts val="0"/>
              </a:spcAft>
              <a:buNone/>
            </a:pPr>
            <a:r>
              <a:rPr b="1" lang="en" sz="900">
                <a:solidFill>
                  <a:srgbClr val="E6E9EF"/>
                </a:solidFill>
                <a:latin typeface="Arial"/>
                <a:ea typeface="Arial"/>
                <a:cs typeface="Arial"/>
                <a:sym typeface="Arial"/>
              </a:rPr>
              <a:t>UNDERSTANDING</a:t>
            </a:r>
            <a:endParaRPr sz="1000"/>
          </a:p>
        </p:txBody>
      </p:sp>
      <p:sp>
        <p:nvSpPr>
          <p:cNvPr id="262" name="Google Shape;262;p51"/>
          <p:cNvSpPr/>
          <p:nvPr/>
        </p:nvSpPr>
        <p:spPr>
          <a:xfrm>
            <a:off x="1752266" y="1855089"/>
            <a:ext cx="233178" cy="233172"/>
          </a:xfrm>
          <a:prstGeom prst="chevron">
            <a:avLst>
              <a:gd fmla="val 50000" name="adj"/>
            </a:avLst>
          </a:prstGeom>
          <a:solidFill>
            <a:srgbClr val="8B93A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63" name="Google Shape;263;p51"/>
          <p:cNvSpPr/>
          <p:nvPr/>
        </p:nvSpPr>
        <p:spPr>
          <a:xfrm>
            <a:off x="3398230" y="1855089"/>
            <a:ext cx="233178" cy="233172"/>
          </a:xfrm>
          <a:prstGeom prst="chevron">
            <a:avLst>
              <a:gd fmla="val 50000" name="adj"/>
            </a:avLst>
          </a:prstGeom>
          <a:solidFill>
            <a:srgbClr val="4F7FD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64" name="Google Shape;264;p51"/>
          <p:cNvSpPr txBox="1"/>
          <p:nvPr/>
        </p:nvSpPr>
        <p:spPr>
          <a:xfrm>
            <a:off x="2189930" y="2505306"/>
            <a:ext cx="1911000" cy="4797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 sz="1300">
                <a:solidFill>
                  <a:srgbClr val="4F7FD1"/>
                </a:solidFill>
                <a:latin typeface="Arial"/>
                <a:ea typeface="Arial"/>
                <a:cs typeface="Arial"/>
                <a:sym typeface="Arial"/>
              </a:rPr>
              <a:t>TECHNICAL</a:t>
            </a:r>
            <a:endParaRPr sz="1600"/>
          </a:p>
          <a:p>
            <a:pPr indent="0" lvl="0" marL="0" marR="0" rtl="0" algn="ctr">
              <a:spcBef>
                <a:spcPts val="200"/>
              </a:spcBef>
              <a:spcAft>
                <a:spcPts val="0"/>
              </a:spcAft>
              <a:buNone/>
            </a:pPr>
            <a:r>
              <a:rPr b="0" lang="en" sz="1200">
                <a:solidFill>
                  <a:srgbClr val="8B93A3"/>
                </a:solidFill>
                <a:latin typeface="Arial"/>
                <a:ea typeface="Arial"/>
                <a:cs typeface="Arial"/>
                <a:sym typeface="Arial"/>
              </a:rPr>
              <a:t>accurate transmission</a:t>
            </a:r>
            <a:endParaRPr sz="1600"/>
          </a:p>
        </p:txBody>
      </p:sp>
      <p:sp>
        <p:nvSpPr>
          <p:cNvPr id="265" name="Google Shape;265;p51"/>
          <p:cNvSpPr/>
          <p:nvPr/>
        </p:nvSpPr>
        <p:spPr>
          <a:xfrm>
            <a:off x="5044193" y="1855089"/>
            <a:ext cx="233178" cy="233172"/>
          </a:xfrm>
          <a:prstGeom prst="chevron">
            <a:avLst>
              <a:gd fmla="val 50000" name="adj"/>
            </a:avLst>
          </a:prstGeom>
          <a:solidFill>
            <a:srgbClr val="C47CB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66" name="Google Shape;266;p51"/>
          <p:cNvSpPr txBox="1"/>
          <p:nvPr/>
        </p:nvSpPr>
        <p:spPr>
          <a:xfrm>
            <a:off x="4088667" y="2505306"/>
            <a:ext cx="2264400" cy="6183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 sz="1200">
                <a:solidFill>
                  <a:srgbClr val="C47CB8"/>
                </a:solidFill>
                <a:latin typeface="Arial"/>
                <a:ea typeface="Arial"/>
                <a:cs typeface="Arial"/>
                <a:sym typeface="Arial"/>
              </a:rPr>
              <a:t>SEMANTIC</a:t>
            </a:r>
            <a:endParaRPr sz="1500"/>
          </a:p>
          <a:p>
            <a:pPr indent="0" lvl="0" marL="0" marR="0" rtl="0" algn="ctr">
              <a:spcBef>
                <a:spcPts val="200"/>
              </a:spcBef>
              <a:spcAft>
                <a:spcPts val="0"/>
              </a:spcAft>
              <a:buNone/>
            </a:pPr>
            <a:r>
              <a:rPr b="0" lang="en" sz="1100">
                <a:solidFill>
                  <a:srgbClr val="8B93A3"/>
                </a:solidFill>
                <a:latin typeface="Arial"/>
                <a:ea typeface="Arial"/>
                <a:cs typeface="Arial"/>
                <a:sym typeface="Arial"/>
              </a:rPr>
              <a:t>shared meaning across languages</a:t>
            </a:r>
            <a:endParaRPr sz="1200"/>
          </a:p>
        </p:txBody>
      </p:sp>
      <p:sp>
        <p:nvSpPr>
          <p:cNvPr id="267" name="Google Shape;267;p51"/>
          <p:cNvSpPr/>
          <p:nvPr/>
        </p:nvSpPr>
        <p:spPr>
          <a:xfrm>
            <a:off x="6690157" y="1855089"/>
            <a:ext cx="233178" cy="233172"/>
          </a:xfrm>
          <a:prstGeom prst="chevron">
            <a:avLst>
              <a:gd fmla="val 50000" name="adj"/>
            </a:avLst>
          </a:prstGeom>
          <a:solidFill>
            <a:srgbClr val="4FBF8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68" name="Google Shape;268;p51"/>
          <p:cNvSpPr txBox="1"/>
          <p:nvPr/>
        </p:nvSpPr>
        <p:spPr>
          <a:xfrm>
            <a:off x="6340804" y="2505306"/>
            <a:ext cx="1710900" cy="6183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 sz="1200">
                <a:solidFill>
                  <a:srgbClr val="4FBF8F"/>
                </a:solidFill>
                <a:latin typeface="Arial"/>
                <a:ea typeface="Arial"/>
                <a:cs typeface="Arial"/>
                <a:sym typeface="Arial"/>
              </a:rPr>
              <a:t>EFFECTIVENESS</a:t>
            </a:r>
            <a:endParaRPr sz="1500"/>
          </a:p>
          <a:p>
            <a:pPr indent="0" lvl="0" marL="0" marR="0" rtl="0" algn="ctr">
              <a:spcBef>
                <a:spcPts val="200"/>
              </a:spcBef>
              <a:spcAft>
                <a:spcPts val="0"/>
              </a:spcAft>
              <a:buNone/>
            </a:pPr>
            <a:r>
              <a:rPr b="0" lang="en" sz="1100">
                <a:solidFill>
                  <a:srgbClr val="8B93A3"/>
                </a:solidFill>
                <a:latin typeface="Arial"/>
                <a:ea typeface="Arial"/>
                <a:cs typeface="Arial"/>
                <a:sym typeface="Arial"/>
              </a:rPr>
              <a:t>confirm it changed understanding</a:t>
            </a:r>
            <a:endParaRPr sz="1500"/>
          </a:p>
        </p:txBody>
      </p:sp>
      <p:sp>
        <p:nvSpPr>
          <p:cNvPr id="269" name="Google Shape;269;p51"/>
          <p:cNvSpPr/>
          <p:nvPr/>
        </p:nvSpPr>
        <p:spPr>
          <a:xfrm>
            <a:off x="4200637" y="2331720"/>
            <a:ext cx="274327" cy="1474470"/>
          </a:xfrm>
          <a:prstGeom prst="upArrow">
            <a:avLst>
              <a:gd fmla="val 50000" name="adj1"/>
              <a:gd fmla="val 50000" name="adj2"/>
            </a:avLst>
          </a:prstGeom>
          <a:solidFill>
            <a:srgbClr val="E2687A"/>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0" name="Google Shape;270;p51"/>
          <p:cNvSpPr/>
          <p:nvPr/>
        </p:nvSpPr>
        <p:spPr>
          <a:xfrm>
            <a:off x="3651982" y="3806190"/>
            <a:ext cx="1371637" cy="480060"/>
          </a:xfrm>
          <a:prstGeom prst="roundRect">
            <a:avLst>
              <a:gd fmla="val 10000" name="adj"/>
            </a:avLst>
          </a:prstGeom>
          <a:solidFill>
            <a:srgbClr val="10141B"/>
          </a:solidFill>
          <a:ln cap="flat" cmpd="sng" w="15875">
            <a:solidFill>
              <a:srgbClr val="E2687A"/>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900">
                <a:solidFill>
                  <a:srgbClr val="E2687A"/>
                </a:solidFill>
                <a:latin typeface="Arial"/>
                <a:ea typeface="Arial"/>
                <a:cs typeface="Arial"/>
                <a:sym typeface="Arial"/>
              </a:rPr>
              <a:t>NOISE SOURCE</a:t>
            </a:r>
            <a:endParaRPr sz="1100"/>
          </a:p>
        </p:txBody>
      </p:sp>
      <p:pic>
        <p:nvPicPr>
          <p:cNvPr id="271" name="Picture 270" descr="person.png"/>
          <p:cNvPicPr>
            <a:picLocks noChangeAspect="1"/>
          </p:cNvPicPr>
          <p:nvPr/>
        </p:nvPicPr>
        <p:blipFill>
          <a:blip r:embed="rId3"/>
          <a:stretch>
            <a:fillRect/>
          </a:stretch>
        </p:blipFill>
        <p:spPr>
          <a:xfrm>
            <a:off x="770873" y="905148"/>
            <a:ext cx="550000" cy="550000"/>
          </a:xfrm>
          <a:prstGeom prst="rect">
            <a:avLst/>
          </a:prstGeom>
        </p:spPr>
      </p:pic>
      <p:pic>
        <p:nvPicPr>
          <p:cNvPr id="272" name="Picture 271" descr="perm_camera_mic.png"/>
          <p:cNvPicPr>
            <a:picLocks noChangeAspect="1"/>
          </p:cNvPicPr>
          <p:nvPr/>
        </p:nvPicPr>
        <p:blipFill>
          <a:blip r:embed="rId4"/>
          <a:stretch>
            <a:fillRect/>
          </a:stretch>
        </p:blipFill>
        <p:spPr>
          <a:xfrm>
            <a:off x="2416837" y="905148"/>
            <a:ext cx="550000" cy="550000"/>
          </a:xfrm>
          <a:prstGeom prst="rect">
            <a:avLst/>
          </a:prstGeom>
        </p:spPr>
      </p:pic>
      <p:pic>
        <p:nvPicPr>
          <p:cNvPr id="273" name="Picture 272" descr="video_call.png"/>
          <p:cNvPicPr>
            <a:picLocks noChangeAspect="1"/>
          </p:cNvPicPr>
          <p:nvPr/>
        </p:nvPicPr>
        <p:blipFill>
          <a:blip r:embed="rId5"/>
          <a:stretch>
            <a:fillRect/>
          </a:stretch>
        </p:blipFill>
        <p:spPr>
          <a:xfrm>
            <a:off x="4062801" y="905148"/>
            <a:ext cx="550000" cy="550000"/>
          </a:xfrm>
          <a:prstGeom prst="rect">
            <a:avLst/>
          </a:prstGeom>
        </p:spPr>
      </p:pic>
      <p:pic>
        <p:nvPicPr>
          <p:cNvPr id="274" name="Picture 273" descr="desktop_windows.png"/>
          <p:cNvPicPr>
            <a:picLocks noChangeAspect="1"/>
          </p:cNvPicPr>
          <p:nvPr/>
        </p:nvPicPr>
        <p:blipFill>
          <a:blip r:embed="rId6"/>
          <a:stretch>
            <a:fillRect/>
          </a:stretch>
        </p:blipFill>
        <p:spPr>
          <a:xfrm>
            <a:off x="5708765" y="905148"/>
            <a:ext cx="550000" cy="550000"/>
          </a:xfrm>
          <a:prstGeom prst="rect">
            <a:avLst/>
          </a:prstGeom>
        </p:spPr>
      </p:pic>
      <p:pic>
        <p:nvPicPr>
          <p:cNvPr id="275" name="Picture 274" descr="psychology.png"/>
          <p:cNvPicPr>
            <a:picLocks noChangeAspect="1"/>
          </p:cNvPicPr>
          <p:nvPr/>
        </p:nvPicPr>
        <p:blipFill>
          <a:blip r:embed="rId7"/>
          <a:stretch>
            <a:fillRect/>
          </a:stretch>
        </p:blipFill>
        <p:spPr>
          <a:xfrm>
            <a:off x="7354728" y="905148"/>
            <a:ext cx="550000" cy="550000"/>
          </a:xfrm>
          <a:prstGeom prst="rect">
            <a:avLst/>
          </a:prstGeom>
        </p:spPr>
      </p:pic>
      <p:pic>
        <p:nvPicPr>
          <p:cNvPr id="276" name="Picture 275" descr="bolt.png"/>
          <p:cNvPicPr>
            <a:picLocks noChangeAspect="1"/>
          </p:cNvPicPr>
          <p:nvPr/>
        </p:nvPicPr>
        <p:blipFill>
          <a:blip r:embed="rId8"/>
          <a:stretch>
            <a:fillRect/>
          </a:stretch>
        </p:blipFill>
        <p:spPr>
          <a:xfrm>
            <a:off x="4147800" y="4356250"/>
            <a:ext cx="380000" cy="380000"/>
          </a:xfrm>
          <a:prstGeom prst="rect">
            <a:avLst/>
          </a:prstGeom>
        </p:spPr>
      </p:pic>
    </p:spTree>
  </p:cSld>
  <p:clrMapOvr>
    <a:masterClrMapping/>
  </p:clrMapOvr>
  <p:timing>
    <p:tnLst>
      <p:par>
        <p:cTn id="1" dur="indefinite" restart="never" nodeType="tmRoot">
          <p:childTnLst>
            <p:seq concat="0" nextAc="seek">
              <p:cTn id="2" dur="indefinite" nodeType="mainSeq">
                <p:childTnLst>
                  <p:par>
                    <p:cTn id="3" fill="hold">
                      <p:stCondLst>
                        <p:cond delay="indefinite"/>
                      </p:stCondLst>
                      <p:childTnLst>
                        <p:par>
                          <p:cTn id="4" presetID="1" presetClass="entr" presetSubtype="0" fill="hold" grpId="0" nodeType="clickEffect">
                            <p:stCondLst>
                              <p:cond delay="0"/>
                            </p:stCondLst>
                            <p:childTnLst>
                              <p:set>
                                <p:cBhvr>
                                  <p:cTn id="5" dur="1" fill="hold">
                                    <p:stCondLst>
                                      <p:cond delay="0"/>
                                    </p:stCondLst>
                                  </p:cTn>
                                  <p:tgtEl>
                                    <p:spTgt spid="257"/>
                                  </p:tgtEl>
                                  <p:attrNameLst>
                                    <p:attrName>style.visibility</p:attrName>
                                  </p:attrNameLst>
                                </p:cBhvr>
                                <p:to>
                                  <p:strVal val="visible"/>
                                </p:to>
                              </p:set>
                            </p:childTnLst>
                          </p:cTn>
                        </p:par>
                        <p:par>
                          <p:cTn id="6" presetID="1" presetClass="entr" presetSubtype="0" fill="hold" grpId="1" nodeType="withEffect">
                            <p:stCondLst>
                              <p:cond delay="0"/>
                            </p:stCondLst>
                            <p:childTnLst>
                              <p:set>
                                <p:cBhvr>
                                  <p:cTn id="7" dur="1" fill="hold">
                                    <p:stCondLst>
                                      <p:cond delay="0"/>
                                    </p:stCondLst>
                                  </p:cTn>
                                  <p:tgtEl>
                                    <p:spTgt spid="271"/>
                                  </p:tgtEl>
                                  <p:attrNameLst>
                                    <p:attrName>style.visibility</p:attrName>
                                  </p:attrNameLst>
                                </p:cBhvr>
                                <p:to>
                                  <p:strVal val="visible"/>
                                </p:to>
                              </p:set>
                            </p:childTnLst>
                          </p:cTn>
                        </p:par>
                      </p:childTnLst>
                    </p:cTn>
                  </p:par>
                  <p:par>
                    <p:cTn id="8" fill="hold">
                      <p:stCondLst>
                        <p:cond delay="indefinite"/>
                      </p:stCondLst>
                      <p:childTnLst>
                        <p:par>
                          <p:cTn id="9" presetID="1" presetClass="entr" presetSubtype="0" fill="hold" grpId="2" nodeType="clickEffect">
                            <p:stCondLst>
                              <p:cond delay="0"/>
                            </p:stCondLst>
                            <p:childTnLst>
                              <p:set>
                                <p:cBhvr>
                                  <p:cTn id="10" dur="1" fill="hold">
                                    <p:stCondLst>
                                      <p:cond delay="0"/>
                                    </p:stCondLst>
                                  </p:cTn>
                                  <p:tgtEl>
                                    <p:spTgt spid="262"/>
                                  </p:tgtEl>
                                  <p:attrNameLst>
                                    <p:attrName>style.visibility</p:attrName>
                                  </p:attrNameLst>
                                </p:cBhvr>
                                <p:to>
                                  <p:strVal val="visible"/>
                                </p:to>
                              </p:set>
                            </p:childTnLst>
                          </p:cTn>
                        </p:par>
                        <p:par>
                          <p:cTn id="11" presetID="1" presetClass="entr" presetSubtype="0" fill="hold" grpId="3" nodeType="withEffect">
                            <p:stCondLst>
                              <p:cond delay="0"/>
                            </p:stCondLst>
                            <p:childTnLst>
                              <p:set>
                                <p:cBhvr>
                                  <p:cTn id="12" dur="1" fill="hold">
                                    <p:stCondLst>
                                      <p:cond delay="0"/>
                                    </p:stCondLst>
                                  </p:cTn>
                                  <p:tgtEl>
                                    <p:spTgt spid="258"/>
                                  </p:tgtEl>
                                  <p:attrNameLst>
                                    <p:attrName>style.visibility</p:attrName>
                                  </p:attrNameLst>
                                </p:cBhvr>
                                <p:to>
                                  <p:strVal val="visible"/>
                                </p:to>
                              </p:set>
                            </p:childTnLst>
                          </p:cTn>
                        </p:par>
                        <p:par>
                          <p:cTn id="13" presetID="1" presetClass="entr" presetSubtype="0" fill="hold" grpId="4" nodeType="withEffect">
                            <p:stCondLst>
                              <p:cond delay="0"/>
                            </p:stCondLst>
                            <p:childTnLst>
                              <p:set>
                                <p:cBhvr>
                                  <p:cTn id="14" dur="1" fill="hold">
                                    <p:stCondLst>
                                      <p:cond delay="0"/>
                                    </p:stCondLst>
                                  </p:cTn>
                                  <p:tgtEl>
                                    <p:spTgt spid="272"/>
                                  </p:tgtEl>
                                  <p:attrNameLst>
                                    <p:attrName>style.visibility</p:attrName>
                                  </p:attrNameLst>
                                </p:cBhvr>
                                <p:to>
                                  <p:strVal val="visible"/>
                                </p:to>
                              </p:set>
                            </p:childTnLst>
                          </p:cTn>
                        </p:par>
                      </p:childTnLst>
                    </p:cTn>
                  </p:par>
                  <p:par>
                    <p:cTn id="15" fill="hold">
                      <p:stCondLst>
                        <p:cond delay="indefinite"/>
                      </p:stCondLst>
                      <p:childTnLst>
                        <p:par>
                          <p:cTn id="16" presetID="1" presetClass="entr" presetSubtype="0" fill="hold" grpId="5" nodeType="clickEffect">
                            <p:stCondLst>
                              <p:cond delay="0"/>
                            </p:stCondLst>
                            <p:childTnLst>
                              <p:set>
                                <p:cBhvr>
                                  <p:cTn id="17" dur="1" fill="hold">
                                    <p:stCondLst>
                                      <p:cond delay="0"/>
                                    </p:stCondLst>
                                  </p:cTn>
                                  <p:tgtEl>
                                    <p:spTgt spid="263"/>
                                  </p:tgtEl>
                                  <p:attrNameLst>
                                    <p:attrName>style.visibility</p:attrName>
                                  </p:attrNameLst>
                                </p:cBhvr>
                                <p:to>
                                  <p:strVal val="visible"/>
                                </p:to>
                              </p:set>
                            </p:childTnLst>
                          </p:cTn>
                        </p:par>
                        <p:par>
                          <p:cTn id="18" presetID="1" presetClass="entr" presetSubtype="0" fill="hold" grpId="6" nodeType="withEffect">
                            <p:stCondLst>
                              <p:cond delay="0"/>
                            </p:stCondLst>
                            <p:childTnLst>
                              <p:set>
                                <p:cBhvr>
                                  <p:cTn id="19" dur="1" fill="hold">
                                    <p:stCondLst>
                                      <p:cond delay="0"/>
                                    </p:stCondLst>
                                  </p:cTn>
                                  <p:tgtEl>
                                    <p:spTgt spid="259"/>
                                  </p:tgtEl>
                                  <p:attrNameLst>
                                    <p:attrName>style.visibility</p:attrName>
                                  </p:attrNameLst>
                                </p:cBhvr>
                                <p:to>
                                  <p:strVal val="visible"/>
                                </p:to>
                              </p:set>
                            </p:childTnLst>
                          </p:cTn>
                        </p:par>
                        <p:par>
                          <p:cTn id="20" presetID="1" presetClass="entr" presetSubtype="0" fill="hold" grpId="7" nodeType="withEffect">
                            <p:stCondLst>
                              <p:cond delay="0"/>
                            </p:stCondLst>
                            <p:childTnLst>
                              <p:set>
                                <p:cBhvr>
                                  <p:cTn id="21" dur="1" fill="hold">
                                    <p:stCondLst>
                                      <p:cond delay="0"/>
                                    </p:stCondLst>
                                  </p:cTn>
                                  <p:tgtEl>
                                    <p:spTgt spid="273"/>
                                  </p:tgtEl>
                                  <p:attrNameLst>
                                    <p:attrName>style.visibility</p:attrName>
                                  </p:attrNameLst>
                                </p:cBhvr>
                                <p:to>
                                  <p:strVal val="visible"/>
                                </p:to>
                              </p:set>
                            </p:childTnLst>
                          </p:cTn>
                        </p:par>
                      </p:childTnLst>
                    </p:cTn>
                  </p:par>
                  <p:par>
                    <p:cTn id="22" fill="hold">
                      <p:stCondLst>
                        <p:cond delay="indefinite"/>
                      </p:stCondLst>
                      <p:childTnLst>
                        <p:par>
                          <p:cTn id="23" presetID="1" presetClass="entr" presetSubtype="0" fill="hold" grpId="8" nodeType="clickEffect">
                            <p:stCondLst>
                              <p:cond delay="0"/>
                            </p:stCondLst>
                            <p:childTnLst>
                              <p:set>
                                <p:cBhvr>
                                  <p:cTn id="24" dur="1" fill="hold">
                                    <p:stCondLst>
                                      <p:cond delay="0"/>
                                    </p:stCondLst>
                                  </p:cTn>
                                  <p:tgtEl>
                                    <p:spTgt spid="265"/>
                                  </p:tgtEl>
                                  <p:attrNameLst>
                                    <p:attrName>style.visibility</p:attrName>
                                  </p:attrNameLst>
                                </p:cBhvr>
                                <p:to>
                                  <p:strVal val="visible"/>
                                </p:to>
                              </p:set>
                            </p:childTnLst>
                          </p:cTn>
                        </p:par>
                        <p:par>
                          <p:cTn id="25" presetID="1" presetClass="entr" presetSubtype="0" fill="hold" grpId="9" nodeType="withEffect">
                            <p:stCondLst>
                              <p:cond delay="0"/>
                            </p:stCondLst>
                            <p:childTnLst>
                              <p:set>
                                <p:cBhvr>
                                  <p:cTn id="26" dur="1" fill="hold">
                                    <p:stCondLst>
                                      <p:cond delay="0"/>
                                    </p:stCondLst>
                                  </p:cTn>
                                  <p:tgtEl>
                                    <p:spTgt spid="260"/>
                                  </p:tgtEl>
                                  <p:attrNameLst>
                                    <p:attrName>style.visibility</p:attrName>
                                  </p:attrNameLst>
                                </p:cBhvr>
                                <p:to>
                                  <p:strVal val="visible"/>
                                </p:to>
                              </p:set>
                            </p:childTnLst>
                          </p:cTn>
                        </p:par>
                        <p:par>
                          <p:cTn id="27" presetID="1" presetClass="entr" presetSubtype="0" fill="hold" grpId="10" nodeType="withEffect">
                            <p:stCondLst>
                              <p:cond delay="0"/>
                            </p:stCondLst>
                            <p:childTnLst>
                              <p:set>
                                <p:cBhvr>
                                  <p:cTn id="28" dur="1" fill="hold">
                                    <p:stCondLst>
                                      <p:cond delay="0"/>
                                    </p:stCondLst>
                                  </p:cTn>
                                  <p:tgtEl>
                                    <p:spTgt spid="274"/>
                                  </p:tgtEl>
                                  <p:attrNameLst>
                                    <p:attrName>style.visibility</p:attrName>
                                  </p:attrNameLst>
                                </p:cBhvr>
                                <p:to>
                                  <p:strVal val="visible"/>
                                </p:to>
                              </p:set>
                            </p:childTnLst>
                          </p:cTn>
                        </p:par>
                      </p:childTnLst>
                    </p:cTn>
                  </p:par>
                  <p:par>
                    <p:cTn id="29" fill="hold">
                      <p:stCondLst>
                        <p:cond delay="indefinite"/>
                      </p:stCondLst>
                      <p:childTnLst>
                        <p:par>
                          <p:cTn id="30" presetID="1" presetClass="entr" presetSubtype="0" fill="hold" grpId="11" nodeType="clickEffect">
                            <p:stCondLst>
                              <p:cond delay="0"/>
                            </p:stCondLst>
                            <p:childTnLst>
                              <p:set>
                                <p:cBhvr>
                                  <p:cTn id="31" dur="1" fill="hold">
                                    <p:stCondLst>
                                      <p:cond delay="0"/>
                                    </p:stCondLst>
                                  </p:cTn>
                                  <p:tgtEl>
                                    <p:spTgt spid="267"/>
                                  </p:tgtEl>
                                  <p:attrNameLst>
                                    <p:attrName>style.visibility</p:attrName>
                                  </p:attrNameLst>
                                </p:cBhvr>
                                <p:to>
                                  <p:strVal val="visible"/>
                                </p:to>
                              </p:set>
                            </p:childTnLst>
                          </p:cTn>
                        </p:par>
                        <p:par>
                          <p:cTn id="32" presetID="1" presetClass="entr" presetSubtype="0" fill="hold" grpId="12" nodeType="withEffect">
                            <p:stCondLst>
                              <p:cond delay="0"/>
                            </p:stCondLst>
                            <p:childTnLst>
                              <p:set>
                                <p:cBhvr>
                                  <p:cTn id="33" dur="1" fill="hold">
                                    <p:stCondLst>
                                      <p:cond delay="0"/>
                                    </p:stCondLst>
                                  </p:cTn>
                                  <p:tgtEl>
                                    <p:spTgt spid="261"/>
                                  </p:tgtEl>
                                  <p:attrNameLst>
                                    <p:attrName>style.visibility</p:attrName>
                                  </p:attrNameLst>
                                </p:cBhvr>
                                <p:to>
                                  <p:strVal val="visible"/>
                                </p:to>
                              </p:set>
                            </p:childTnLst>
                          </p:cTn>
                        </p:par>
                        <p:par>
                          <p:cTn id="34" presetID="1" presetClass="entr" presetSubtype="0" fill="hold" grpId="13" nodeType="withEffect">
                            <p:stCondLst>
                              <p:cond delay="0"/>
                            </p:stCondLst>
                            <p:childTnLst>
                              <p:set>
                                <p:cBhvr>
                                  <p:cTn id="35" dur="1" fill="hold">
                                    <p:stCondLst>
                                      <p:cond delay="0"/>
                                    </p:stCondLst>
                                  </p:cTn>
                                  <p:tgtEl>
                                    <p:spTgt spid="275"/>
                                  </p:tgtEl>
                                  <p:attrNameLst>
                                    <p:attrName>style.visibility</p:attrName>
                                  </p:attrNameLst>
                                </p:cBhvr>
                                <p:to>
                                  <p:strVal val="visible"/>
                                </p:to>
                              </p:set>
                            </p:childTnLst>
                          </p:cTn>
                        </p:par>
                      </p:childTnLst>
                    </p:cTn>
                  </p:par>
                  <p:par>
                    <p:cTn id="36" fill="hold">
                      <p:stCondLst>
                        <p:cond delay="indefinite"/>
                      </p:stCondLst>
                      <p:childTnLst>
                        <p:par>
                          <p:cTn id="37" presetID="1" presetClass="entr" presetSubtype="0" fill="hold" grpId="14" nodeType="clickEffect">
                            <p:stCondLst>
                              <p:cond delay="0"/>
                            </p:stCondLst>
                            <p:childTnLst>
                              <p:set>
                                <p:cBhvr>
                                  <p:cTn id="38" dur="1" fill="hold">
                                    <p:stCondLst>
                                      <p:cond delay="0"/>
                                    </p:stCondLst>
                                  </p:cTn>
                                  <p:tgtEl>
                                    <p:spTgt spid="264"/>
                                  </p:tgtEl>
                                  <p:attrNameLst>
                                    <p:attrName>style.visibility</p:attrName>
                                  </p:attrNameLst>
                                </p:cBhvr>
                                <p:to>
                                  <p:strVal val="visible"/>
                                </p:to>
                              </p:set>
                            </p:childTnLst>
                          </p:cTn>
                        </p:par>
                        <p:par>
                          <p:cTn id="39" presetID="1" presetClass="entr" presetSubtype="0" fill="hold" grpId="15" nodeType="withEffect">
                            <p:stCondLst>
                              <p:cond delay="0"/>
                            </p:stCondLst>
                            <p:childTnLst>
                              <p:set>
                                <p:cBhvr>
                                  <p:cTn id="40" dur="1" fill="hold">
                                    <p:stCondLst>
                                      <p:cond delay="0"/>
                                    </p:stCondLst>
                                  </p:cTn>
                                  <p:tgtEl>
                                    <p:spTgt spid="270"/>
                                  </p:tgtEl>
                                  <p:attrNameLst>
                                    <p:attrName>style.visibility</p:attrName>
                                  </p:attrNameLst>
                                </p:cBhvr>
                                <p:to>
                                  <p:strVal val="visible"/>
                                </p:to>
                              </p:set>
                            </p:childTnLst>
                          </p:cTn>
                        </p:par>
                        <p:par>
                          <p:cTn id="41" presetID="1" presetClass="entr" presetSubtype="0" fill="hold" grpId="16" nodeType="withEffect">
                            <p:stCondLst>
                              <p:cond delay="0"/>
                            </p:stCondLst>
                            <p:childTnLst>
                              <p:set>
                                <p:cBhvr>
                                  <p:cTn id="42" dur="1" fill="hold">
                                    <p:stCondLst>
                                      <p:cond delay="0"/>
                                    </p:stCondLst>
                                  </p:cTn>
                                  <p:tgtEl>
                                    <p:spTgt spid="269"/>
                                  </p:tgtEl>
                                  <p:attrNameLst>
                                    <p:attrName>style.visibility</p:attrName>
                                  </p:attrNameLst>
                                </p:cBhvr>
                                <p:to>
                                  <p:strVal val="visible"/>
                                </p:to>
                              </p:set>
                            </p:childTnLst>
                          </p:cTn>
                        </p:par>
                        <p:par>
                          <p:cTn id="43" presetID="1" presetClass="entr" presetSubtype="0" fill="hold" grpId="17" nodeType="withEffect">
                            <p:stCondLst>
                              <p:cond delay="0"/>
                            </p:stCondLst>
                            <p:childTnLst>
                              <p:set>
                                <p:cBhvr>
                                  <p:cTn id="44" dur="1" fill="hold">
                                    <p:stCondLst>
                                      <p:cond delay="0"/>
                                    </p:stCondLst>
                                  </p:cTn>
                                  <p:tgtEl>
                                    <p:spTgt spid="276"/>
                                  </p:tgtEl>
                                  <p:attrNameLst>
                                    <p:attrName>style.visibility</p:attrName>
                                  </p:attrNameLst>
                                </p:cBhvr>
                                <p:to>
                                  <p:strVal val="visible"/>
                                </p:to>
                              </p:set>
                            </p:childTnLst>
                          </p:cTn>
                        </p:par>
                      </p:childTnLst>
                    </p:cTn>
                  </p:par>
                  <p:par>
                    <p:cTn id="45" fill="hold">
                      <p:stCondLst>
                        <p:cond delay="indefinite"/>
                      </p:stCondLst>
                      <p:childTnLst>
                        <p:par>
                          <p:cTn id="46" presetID="1" presetClass="entr" presetSubtype="0" fill="hold" grpId="18" nodeType="clickEffect">
                            <p:stCondLst>
                              <p:cond delay="0"/>
                            </p:stCondLst>
                            <p:childTnLst>
                              <p:set>
                                <p:cBhvr>
                                  <p:cTn id="47" dur="1" fill="hold">
                                    <p:stCondLst>
                                      <p:cond delay="0"/>
                                    </p:stCondLst>
                                  </p:cTn>
                                  <p:tgtEl>
                                    <p:spTgt spid="266"/>
                                  </p:tgtEl>
                                  <p:attrNameLst>
                                    <p:attrName>style.visibility</p:attrName>
                                  </p:attrNameLst>
                                </p:cBhvr>
                                <p:to>
                                  <p:strVal val="visible"/>
                                </p:to>
                              </p:set>
                            </p:childTnLst>
                          </p:cTn>
                        </p:par>
                      </p:childTnLst>
                    </p:cTn>
                  </p:par>
                  <p:par>
                    <p:cTn id="48" fill="hold">
                      <p:stCondLst>
                        <p:cond delay="indefinite"/>
                      </p:stCondLst>
                      <p:childTnLst>
                        <p:par>
                          <p:cTn id="49" presetID="1" presetClass="entr" presetSubtype="0" fill="hold" grpId="19" nodeType="clickEffect">
                            <p:stCondLst>
                              <p:cond delay="0"/>
                            </p:stCondLst>
                            <p:childTnLst>
                              <p:set>
                                <p:cBhvr>
                                  <p:cTn id="50" dur="1" fill="hold">
                                    <p:stCondLst>
                                      <p:cond delay="0"/>
                                    </p:stCondLst>
                                  </p:cTn>
                                  <p:tgtEl>
                                    <p:spTgt spid="268"/>
                                  </p:tgtEl>
                                  <p:attrNameLst>
                                    <p:attrName>style.visibility</p:attrName>
                                  </p:attrNameLst>
                                </p:cBhvr>
                                <p:to>
                                  <p:strVal val="visible"/>
                                </p:to>
                              </p:set>
                            </p:childTnLst>
                          </p:cTn>
                        </p:par>
                      </p:childTnLst>
                    </p:cTn>
                  </p:par>
                </p:childTnLst>
              </p:cTn>
            </p:seq>
          </p:childTnLst>
        </p:cTn>
      </p:par>
    </p:tnLst>
    <p:bldLst>
      <p:bldP spid="257" grpId="0"/>
      <p:bldP spid="271" grpId="1"/>
      <p:bldP spid="262" grpId="2"/>
      <p:bldP spid="258" grpId="3"/>
      <p:bldP spid="272" grpId="4"/>
      <p:bldP spid="263" grpId="5"/>
      <p:bldP spid="259" grpId="6"/>
      <p:bldP spid="273" grpId="7"/>
      <p:bldP spid="265" grpId="8"/>
      <p:bldP spid="260" grpId="9"/>
      <p:bldP spid="274" grpId="10"/>
      <p:bldP spid="267" grpId="11"/>
      <p:bldP spid="261" grpId="12"/>
      <p:bldP spid="275" grpId="13"/>
      <p:bldP spid="264" grpId="14"/>
      <p:bldP spid="270" grpId="15"/>
      <p:bldP spid="269" grpId="16"/>
      <p:bldP spid="276" grpId="17"/>
      <p:bldP spid="266" grpId="18"/>
      <p:bldP spid="268" grpId="19"/>
    </p:bld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52"/>
          <p:cNvSpPr/>
          <p:nvPr/>
        </p:nvSpPr>
        <p:spPr>
          <a:xfrm>
            <a:off x="0" y="-13418"/>
            <a:ext cx="9144000" cy="5143500"/>
          </a:xfrm>
          <a:prstGeom prst="rect">
            <a:avLst/>
          </a:prstGeom>
          <a:solidFill>
            <a:srgbClr val="0D111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6" name="Google Shape;276;p52"/>
          <p:cNvSpPr txBox="1"/>
          <p:nvPr/>
        </p:nvSpPr>
        <p:spPr>
          <a:xfrm>
            <a:off x="411491" y="240030"/>
            <a:ext cx="8298401" cy="514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300">
                <a:solidFill>
                  <a:srgbClr val="E6E9EF"/>
                </a:solidFill>
                <a:latin typeface="Arial"/>
                <a:ea typeface="Arial"/>
                <a:cs typeface="Arial"/>
                <a:sym typeface="Arial"/>
              </a:rPr>
              <a:t>What options do we have currently?</a:t>
            </a:r>
            <a:endParaRPr sz="1100"/>
          </a:p>
        </p:txBody>
      </p:sp>
      <p:sp>
        <p:nvSpPr>
          <p:cNvPr id="277" name="Google Shape;277;p52"/>
          <p:cNvSpPr/>
          <p:nvPr/>
        </p:nvSpPr>
        <p:spPr>
          <a:xfrm>
            <a:off x="411491" y="720090"/>
            <a:ext cx="754400" cy="28575"/>
          </a:xfrm>
          <a:prstGeom prst="rect">
            <a:avLst/>
          </a:prstGeom>
          <a:solidFill>
            <a:srgbClr val="4F7FD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8" name="Google Shape;278;p52"/>
          <p:cNvSpPr txBox="1"/>
          <p:nvPr/>
        </p:nvSpPr>
        <p:spPr>
          <a:xfrm>
            <a:off x="411491" y="925830"/>
            <a:ext cx="82983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 sz="1100">
                <a:solidFill>
                  <a:srgbClr val="8B93A3"/>
                </a:solidFill>
                <a:latin typeface="Arial"/>
                <a:ea typeface="Arial"/>
                <a:cs typeface="Arial"/>
                <a:sym typeface="Arial"/>
              </a:rPr>
              <a:t>Current options fail to break all 3 language barriers</a:t>
            </a:r>
            <a:r>
              <a:rPr lang="en" sz="1100">
                <a:solidFill>
                  <a:srgbClr val="8B93A3"/>
                </a:solidFill>
              </a:rPr>
              <a:t> → C</a:t>
            </a:r>
            <a:r>
              <a:rPr b="0" lang="en" sz="1100">
                <a:solidFill>
                  <a:srgbClr val="8B93A3"/>
                </a:solidFill>
                <a:latin typeface="Arial"/>
                <a:ea typeface="Arial"/>
                <a:cs typeface="Arial"/>
                <a:sym typeface="Arial"/>
              </a:rPr>
              <a:t>ommunication almost certain to break down</a:t>
            </a:r>
            <a:endParaRPr sz="1100"/>
          </a:p>
        </p:txBody>
      </p:sp>
      <p:grpSp>
        <p:nvGrpSpPr>
          <p:cNvPr id="279" name="Google Shape;279;p52"/>
          <p:cNvGrpSpPr/>
          <p:nvPr/>
        </p:nvGrpSpPr>
        <p:grpSpPr>
          <a:xfrm>
            <a:off x="2667833" y="1298260"/>
            <a:ext cx="3813267" cy="3597145"/>
            <a:chOff x="2667833" y="1298260"/>
            <a:chExt cx="3813267" cy="3597145"/>
          </a:xfrm>
        </p:grpSpPr>
        <p:grpSp>
          <p:nvGrpSpPr>
            <p:cNvPr id="280" name="Google Shape;280;p52"/>
            <p:cNvGrpSpPr/>
            <p:nvPr/>
          </p:nvGrpSpPr>
          <p:grpSpPr>
            <a:xfrm>
              <a:off x="2842260" y="1298260"/>
              <a:ext cx="3439215" cy="3151500"/>
              <a:chOff x="2842260" y="1298260"/>
              <a:chExt cx="3439215" cy="3151500"/>
            </a:xfrm>
          </p:grpSpPr>
          <p:grpSp>
            <p:nvGrpSpPr>
              <p:cNvPr id="281" name="Google Shape;281;p52"/>
              <p:cNvGrpSpPr/>
              <p:nvPr/>
            </p:nvGrpSpPr>
            <p:grpSpPr>
              <a:xfrm>
                <a:off x="2944151" y="1298260"/>
                <a:ext cx="3233100" cy="3151500"/>
                <a:chOff x="2944151" y="1298260"/>
                <a:chExt cx="3233100" cy="3151500"/>
              </a:xfrm>
            </p:grpSpPr>
            <p:sp>
              <p:nvSpPr>
                <p:cNvPr id="282" name="Google Shape;282;p52"/>
                <p:cNvSpPr/>
                <p:nvPr/>
              </p:nvSpPr>
              <p:spPr>
                <a:xfrm>
                  <a:off x="2944151" y="1298260"/>
                  <a:ext cx="3233100" cy="3151500"/>
                </a:xfrm>
                <a:prstGeom prst="ellipse">
                  <a:avLst/>
                </a:prstGeom>
                <a:solidFill>
                  <a:srgbClr val="12959A">
                    <a:alpha val="12940"/>
                  </a:srgbClr>
                </a:solidFill>
                <a:ln cap="flat" cmpd="sng" w="28575">
                  <a:solidFill>
                    <a:srgbClr val="4F7FD1"/>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83" name="Google Shape;283;p52"/>
                <p:cNvSpPr txBox="1"/>
                <p:nvPr/>
              </p:nvSpPr>
              <p:spPr>
                <a:xfrm>
                  <a:off x="3679415" y="1432235"/>
                  <a:ext cx="1783200" cy="2232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 sz="1000">
                      <a:solidFill>
                        <a:srgbClr val="4F7FD1"/>
                      </a:solidFill>
                      <a:latin typeface="Arial"/>
                      <a:ea typeface="Arial"/>
                      <a:cs typeface="Arial"/>
                      <a:sym typeface="Arial"/>
                    </a:rPr>
                    <a:t>Technical</a:t>
                  </a:r>
                  <a:endParaRPr sz="1100">
                    <a:solidFill>
                      <a:srgbClr val="4F7FD1"/>
                    </a:solidFill>
                  </a:endParaRPr>
                </a:p>
              </p:txBody>
            </p:sp>
          </p:grpSp>
          <p:grpSp>
            <p:nvGrpSpPr>
              <p:cNvPr id="284" name="Google Shape;284;p52"/>
              <p:cNvGrpSpPr/>
              <p:nvPr/>
            </p:nvGrpSpPr>
            <p:grpSpPr>
              <a:xfrm>
                <a:off x="2842260" y="2005737"/>
                <a:ext cx="3439215" cy="411746"/>
                <a:chOff x="2842260" y="2005737"/>
                <a:chExt cx="3439215" cy="411746"/>
              </a:xfrm>
            </p:grpSpPr>
            <p:pic>
              <p:nvPicPr>
                <p:cNvPr descr="/home/claude/logos/trim_teams.png" id="285" name="Google Shape;285;p52"/>
                <p:cNvPicPr preferRelativeResize="0"/>
                <p:nvPr/>
              </p:nvPicPr>
              <p:blipFill rotWithShape="1">
                <a:blip r:embed="rId3">
                  <a:alphaModFix/>
                </a:blip>
                <a:srcRect b="0" l="0" r="0" t="0"/>
                <a:stretch/>
              </p:blipFill>
              <p:spPr>
                <a:xfrm>
                  <a:off x="3328153" y="2005737"/>
                  <a:ext cx="202902" cy="182302"/>
                </a:xfrm>
                <a:prstGeom prst="rect">
                  <a:avLst/>
                </a:prstGeom>
                <a:noFill/>
                <a:ln>
                  <a:noFill/>
                </a:ln>
              </p:spPr>
            </p:pic>
            <p:pic>
              <p:nvPicPr>
                <p:cNvPr descr="/home/claude/logos/trim_meet.png" id="286" name="Google Shape;286;p52"/>
                <p:cNvPicPr preferRelativeResize="0"/>
                <p:nvPr/>
              </p:nvPicPr>
              <p:blipFill rotWithShape="1">
                <a:blip r:embed="rId4">
                  <a:alphaModFix/>
                </a:blip>
                <a:srcRect b="0" l="0" r="0" t="0"/>
                <a:stretch/>
              </p:blipFill>
              <p:spPr>
                <a:xfrm>
                  <a:off x="4104355" y="2015503"/>
                  <a:ext cx="200054" cy="162769"/>
                </a:xfrm>
                <a:prstGeom prst="rect">
                  <a:avLst/>
                </a:prstGeom>
                <a:noFill/>
                <a:ln>
                  <a:noFill/>
                </a:ln>
              </p:spPr>
            </p:pic>
            <p:pic>
              <p:nvPicPr>
                <p:cNvPr descr="/home/claude/logos/trim_whereby.png" id="287" name="Google Shape;287;p52"/>
                <p:cNvPicPr preferRelativeResize="0"/>
                <p:nvPr/>
              </p:nvPicPr>
              <p:blipFill rotWithShape="1">
                <a:blip r:embed="rId5">
                  <a:alphaModFix/>
                </a:blip>
                <a:srcRect b="0" l="0" r="0" t="0"/>
                <a:stretch/>
              </p:blipFill>
              <p:spPr>
                <a:xfrm>
                  <a:off x="4877709" y="2015503"/>
                  <a:ext cx="184235" cy="162769"/>
                </a:xfrm>
                <a:prstGeom prst="rect">
                  <a:avLst/>
                </a:prstGeom>
                <a:noFill/>
                <a:ln>
                  <a:noFill/>
                </a:ln>
              </p:spPr>
            </p:pic>
            <p:pic>
              <p:nvPicPr>
                <p:cNvPr descr="/home/claude/logos/trim_gotomeeting.png" id="288" name="Google Shape;288;p52"/>
                <p:cNvPicPr preferRelativeResize="0"/>
                <p:nvPr/>
              </p:nvPicPr>
              <p:blipFill rotWithShape="1">
                <a:blip r:embed="rId6">
                  <a:alphaModFix/>
                </a:blip>
                <a:srcRect b="0" l="0" r="0" t="0"/>
                <a:stretch/>
              </p:blipFill>
              <p:spPr>
                <a:xfrm>
                  <a:off x="5635245" y="2012248"/>
                  <a:ext cx="157378" cy="169280"/>
                </a:xfrm>
                <a:prstGeom prst="rect">
                  <a:avLst/>
                </a:prstGeom>
                <a:noFill/>
                <a:ln>
                  <a:noFill/>
                </a:ln>
              </p:spPr>
            </p:pic>
            <p:sp>
              <p:nvSpPr>
                <p:cNvPr id="289" name="Google Shape;289;p52"/>
                <p:cNvSpPr/>
                <p:nvPr/>
              </p:nvSpPr>
              <p:spPr>
                <a:xfrm>
                  <a:off x="2842260" y="2282333"/>
                  <a:ext cx="1384500" cy="87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Font typeface="Arial"/>
                    <a:buNone/>
                  </a:pPr>
                  <a:r>
                    <a:rPr b="1" lang="en" sz="600">
                      <a:solidFill>
                        <a:srgbClr val="E6E9EF"/>
                      </a:solidFill>
                    </a:rPr>
                    <a:t>Microsoft Teams</a:t>
                  </a:r>
                  <a:endParaRPr b="0" i="0" sz="568" u="none" cap="none" strike="noStrike">
                    <a:solidFill>
                      <a:schemeClr val="dk1"/>
                    </a:solidFill>
                    <a:latin typeface="Calibri"/>
                    <a:ea typeface="Calibri"/>
                    <a:cs typeface="Calibri"/>
                    <a:sym typeface="Calibri"/>
                  </a:endParaRPr>
                </a:p>
              </p:txBody>
            </p:sp>
            <p:sp>
              <p:nvSpPr>
                <p:cNvPr id="290" name="Google Shape;290;p52"/>
                <p:cNvSpPr/>
                <p:nvPr/>
              </p:nvSpPr>
              <p:spPr>
                <a:xfrm>
                  <a:off x="3790365" y="2282333"/>
                  <a:ext cx="1181100" cy="87900"/>
                </a:xfrm>
                <a:prstGeom prst="rect">
                  <a:avLst/>
                </a:prstGeom>
                <a:noFill/>
                <a:ln>
                  <a:noFill/>
                </a:ln>
              </p:spPr>
              <p:txBody>
                <a:bodyPr anchorCtr="0" anchor="ctr" bIns="0" lIns="0" spcFirstLastPara="1" rIns="0" wrap="square" tIns="0">
                  <a:noAutofit/>
                </a:bodyPr>
                <a:lstStyle/>
                <a:p>
                  <a:pPr indent="0" lvl="0" marL="0" rtl="0" algn="ctr">
                    <a:spcBef>
                      <a:spcPts val="200"/>
                    </a:spcBef>
                    <a:spcAft>
                      <a:spcPts val="0"/>
                    </a:spcAft>
                    <a:buClr>
                      <a:schemeClr val="dk1"/>
                    </a:buClr>
                    <a:buFont typeface="Arial"/>
                    <a:buNone/>
                  </a:pPr>
                  <a:r>
                    <a:rPr b="1" lang="en" sz="600">
                      <a:solidFill>
                        <a:srgbClr val="E6E9EF"/>
                      </a:solidFill>
                    </a:rPr>
                    <a:t>Google Meet</a:t>
                  </a:r>
                  <a:endParaRPr b="0" i="0" sz="568" u="none" cap="none" strike="noStrike">
                    <a:solidFill>
                      <a:schemeClr val="dk1"/>
                    </a:solidFill>
                    <a:latin typeface="Calibri"/>
                    <a:ea typeface="Calibri"/>
                    <a:cs typeface="Calibri"/>
                    <a:sym typeface="Calibri"/>
                  </a:endParaRPr>
                </a:p>
              </p:txBody>
            </p:sp>
            <p:sp>
              <p:nvSpPr>
                <p:cNvPr id="291" name="Google Shape;291;p52"/>
                <p:cNvSpPr/>
                <p:nvPr/>
              </p:nvSpPr>
              <p:spPr>
                <a:xfrm>
                  <a:off x="4535070" y="2282333"/>
                  <a:ext cx="978600" cy="87900"/>
                </a:xfrm>
                <a:prstGeom prst="rect">
                  <a:avLst/>
                </a:prstGeom>
                <a:noFill/>
                <a:ln>
                  <a:noFill/>
                </a:ln>
              </p:spPr>
              <p:txBody>
                <a:bodyPr anchorCtr="0" anchor="ctr" bIns="0" lIns="0" spcFirstLastPara="1" rIns="0" wrap="square" tIns="0">
                  <a:noAutofit/>
                </a:bodyPr>
                <a:lstStyle/>
                <a:p>
                  <a:pPr indent="0" lvl="0" marL="0" rtl="0" algn="ctr">
                    <a:spcBef>
                      <a:spcPts val="200"/>
                    </a:spcBef>
                    <a:spcAft>
                      <a:spcPts val="0"/>
                    </a:spcAft>
                    <a:buClr>
                      <a:schemeClr val="dk1"/>
                    </a:buClr>
                    <a:buFont typeface="Arial"/>
                    <a:buNone/>
                  </a:pPr>
                  <a:r>
                    <a:rPr b="1" lang="en" sz="600">
                      <a:solidFill>
                        <a:srgbClr val="E6E9EF"/>
                      </a:solidFill>
                    </a:rPr>
                    <a:t>Whereby</a:t>
                  </a:r>
                  <a:endParaRPr b="0" i="0" sz="568" u="none" cap="none" strike="noStrike">
                    <a:solidFill>
                      <a:schemeClr val="dk1"/>
                    </a:solidFill>
                    <a:latin typeface="Calibri"/>
                    <a:ea typeface="Calibri"/>
                    <a:cs typeface="Calibri"/>
                    <a:sym typeface="Calibri"/>
                  </a:endParaRPr>
                </a:p>
              </p:txBody>
            </p:sp>
            <p:sp>
              <p:nvSpPr>
                <p:cNvPr id="292" name="Google Shape;292;p52"/>
                <p:cNvSpPr/>
                <p:nvPr/>
              </p:nvSpPr>
              <p:spPr>
                <a:xfrm>
                  <a:off x="5077275" y="2235083"/>
                  <a:ext cx="1204200" cy="182400"/>
                </a:xfrm>
                <a:prstGeom prst="rect">
                  <a:avLst/>
                </a:prstGeom>
                <a:noFill/>
                <a:ln>
                  <a:noFill/>
                </a:ln>
              </p:spPr>
              <p:txBody>
                <a:bodyPr anchorCtr="0" anchor="ctr" bIns="0" lIns="0" spcFirstLastPara="1" rIns="0" wrap="square" tIns="0">
                  <a:noAutofit/>
                </a:bodyPr>
                <a:lstStyle/>
                <a:p>
                  <a:pPr indent="0" lvl="0" marL="0" rtl="0" algn="ctr">
                    <a:spcBef>
                      <a:spcPts val="200"/>
                    </a:spcBef>
                    <a:spcAft>
                      <a:spcPts val="0"/>
                    </a:spcAft>
                    <a:buClr>
                      <a:schemeClr val="dk1"/>
                    </a:buClr>
                    <a:buFont typeface="Arial"/>
                    <a:buNone/>
                  </a:pPr>
                  <a:r>
                    <a:rPr b="1" lang="en" sz="600">
                      <a:solidFill>
                        <a:srgbClr val="E6E9EF"/>
                      </a:solidFill>
                    </a:rPr>
                    <a:t>GoToMeeting</a:t>
                  </a:r>
                  <a:endParaRPr b="1" sz="568">
                    <a:solidFill>
                      <a:srgbClr val="2B3555"/>
                    </a:solidFill>
                  </a:endParaRPr>
                </a:p>
              </p:txBody>
            </p:sp>
          </p:grpSp>
        </p:grpSp>
        <p:grpSp>
          <p:nvGrpSpPr>
            <p:cNvPr id="293" name="Google Shape;293;p52"/>
            <p:cNvGrpSpPr/>
            <p:nvPr/>
          </p:nvGrpSpPr>
          <p:grpSpPr>
            <a:xfrm>
              <a:off x="2667833" y="2563805"/>
              <a:ext cx="2331900" cy="2331600"/>
              <a:chOff x="2667833" y="2563805"/>
              <a:chExt cx="2331900" cy="2331600"/>
            </a:xfrm>
          </p:grpSpPr>
          <p:grpSp>
            <p:nvGrpSpPr>
              <p:cNvPr id="294" name="Google Shape;294;p52"/>
              <p:cNvGrpSpPr/>
              <p:nvPr/>
            </p:nvGrpSpPr>
            <p:grpSpPr>
              <a:xfrm>
                <a:off x="2667833" y="2563805"/>
                <a:ext cx="2331900" cy="2331600"/>
                <a:chOff x="2667833" y="2563805"/>
                <a:chExt cx="2331900" cy="2331600"/>
              </a:xfrm>
            </p:grpSpPr>
            <p:sp>
              <p:nvSpPr>
                <p:cNvPr id="295" name="Google Shape;295;p52"/>
                <p:cNvSpPr/>
                <p:nvPr/>
              </p:nvSpPr>
              <p:spPr>
                <a:xfrm>
                  <a:off x="2667833" y="2563805"/>
                  <a:ext cx="2331900" cy="2331600"/>
                </a:xfrm>
                <a:prstGeom prst="ellipse">
                  <a:avLst/>
                </a:prstGeom>
                <a:solidFill>
                  <a:srgbClr val="C21C6C">
                    <a:alpha val="12940"/>
                  </a:srgbClr>
                </a:solidFill>
                <a:ln cap="flat" cmpd="sng" w="28575">
                  <a:solidFill>
                    <a:srgbClr val="C47CB8"/>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96" name="Google Shape;296;p52"/>
                <p:cNvSpPr txBox="1"/>
                <p:nvPr/>
              </p:nvSpPr>
              <p:spPr>
                <a:xfrm>
                  <a:off x="2772709" y="4449755"/>
                  <a:ext cx="1783200" cy="2232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 sz="1000">
                      <a:solidFill>
                        <a:srgbClr val="C47CB8"/>
                      </a:solidFill>
                      <a:latin typeface="Arial"/>
                      <a:ea typeface="Arial"/>
                      <a:cs typeface="Arial"/>
                      <a:sym typeface="Arial"/>
                    </a:rPr>
                    <a:t>Semantic</a:t>
                  </a:r>
                  <a:endParaRPr sz="1100"/>
                </a:p>
              </p:txBody>
            </p:sp>
          </p:grpSp>
          <p:grpSp>
            <p:nvGrpSpPr>
              <p:cNvPr id="297" name="Google Shape;297;p52"/>
              <p:cNvGrpSpPr/>
              <p:nvPr/>
            </p:nvGrpSpPr>
            <p:grpSpPr>
              <a:xfrm>
                <a:off x="3271898" y="2833244"/>
                <a:ext cx="1476949" cy="844362"/>
                <a:chOff x="3271898" y="2833244"/>
                <a:chExt cx="1476949" cy="844362"/>
              </a:xfrm>
            </p:grpSpPr>
            <p:pic>
              <p:nvPicPr>
                <p:cNvPr descr="/home/claude/logos/trim_wordly.png" id="298" name="Google Shape;298;p52"/>
                <p:cNvPicPr preferRelativeResize="0"/>
                <p:nvPr/>
              </p:nvPicPr>
              <p:blipFill rotWithShape="1">
                <a:blip r:embed="rId7">
                  <a:alphaModFix/>
                </a:blip>
                <a:srcRect b="0" l="0" r="0" t="0"/>
                <a:stretch/>
              </p:blipFill>
              <p:spPr>
                <a:xfrm>
                  <a:off x="3271898" y="2950711"/>
                  <a:ext cx="81792" cy="84589"/>
                </a:xfrm>
                <a:prstGeom prst="rect">
                  <a:avLst/>
                </a:prstGeom>
                <a:noFill/>
                <a:ln>
                  <a:noFill/>
                </a:ln>
              </p:spPr>
            </p:pic>
            <p:pic>
              <p:nvPicPr>
                <p:cNvPr descr="/home/claude/logos/trim_kudo.png" id="299" name="Google Shape;299;p52"/>
                <p:cNvPicPr preferRelativeResize="0"/>
                <p:nvPr/>
              </p:nvPicPr>
              <p:blipFill rotWithShape="1">
                <a:blip r:embed="rId8">
                  <a:alphaModFix/>
                </a:blip>
                <a:srcRect b="0" l="0" r="0" t="0"/>
                <a:stretch/>
              </p:blipFill>
              <p:spPr>
                <a:xfrm>
                  <a:off x="3271898" y="3064866"/>
                  <a:ext cx="385408" cy="78129"/>
                </a:xfrm>
                <a:prstGeom prst="rect">
                  <a:avLst/>
                </a:prstGeom>
                <a:noFill/>
                <a:ln>
                  <a:noFill/>
                </a:ln>
              </p:spPr>
            </p:pic>
            <p:pic>
              <p:nvPicPr>
                <p:cNvPr descr="/home/claude/logos/trim_interprefy.png" id="300" name="Google Shape;300;p52"/>
                <p:cNvPicPr preferRelativeResize="0"/>
                <p:nvPr/>
              </p:nvPicPr>
              <p:blipFill rotWithShape="1">
                <a:blip r:embed="rId9">
                  <a:alphaModFix/>
                </a:blip>
                <a:srcRect b="0" l="0" r="0" t="0"/>
                <a:stretch/>
              </p:blipFill>
              <p:spPr>
                <a:xfrm>
                  <a:off x="3271898" y="3172562"/>
                  <a:ext cx="371114" cy="78129"/>
                </a:xfrm>
                <a:prstGeom prst="rect">
                  <a:avLst/>
                </a:prstGeom>
                <a:noFill/>
                <a:ln>
                  <a:noFill/>
                </a:ln>
              </p:spPr>
            </p:pic>
            <p:pic>
              <p:nvPicPr>
                <p:cNvPr descr="/home/claude/logos/trim_palabra.png" id="301" name="Google Shape;301;p52"/>
                <p:cNvPicPr preferRelativeResize="0"/>
                <p:nvPr/>
              </p:nvPicPr>
              <p:blipFill rotWithShape="1">
                <a:blip r:embed="rId10">
                  <a:alphaModFix/>
                </a:blip>
                <a:srcRect b="0" l="0" r="0" t="0"/>
                <a:stretch/>
              </p:blipFill>
              <p:spPr>
                <a:xfrm>
                  <a:off x="3271898" y="3380907"/>
                  <a:ext cx="74874" cy="84640"/>
                </a:xfrm>
                <a:prstGeom prst="rect">
                  <a:avLst/>
                </a:prstGeom>
                <a:noFill/>
                <a:ln>
                  <a:noFill/>
                </a:ln>
              </p:spPr>
            </p:pic>
            <p:pic>
              <p:nvPicPr>
                <p:cNvPr descr="/home/claude/logos/trim_jotme.png" id="302" name="Google Shape;302;p52"/>
                <p:cNvPicPr preferRelativeResize="0"/>
                <p:nvPr/>
              </p:nvPicPr>
              <p:blipFill rotWithShape="1">
                <a:blip r:embed="rId11">
                  <a:alphaModFix/>
                </a:blip>
                <a:srcRect b="0" l="0" r="0" t="0"/>
                <a:stretch/>
              </p:blipFill>
              <p:spPr>
                <a:xfrm>
                  <a:off x="3271898" y="3488335"/>
                  <a:ext cx="47000" cy="84589"/>
                </a:xfrm>
                <a:prstGeom prst="rect">
                  <a:avLst/>
                </a:prstGeom>
                <a:noFill/>
                <a:ln>
                  <a:noFill/>
                </a:ln>
              </p:spPr>
            </p:pic>
            <p:pic>
              <p:nvPicPr>
                <p:cNvPr descr="/home/claude/logos/trim_meta.png" id="303" name="Google Shape;303;p52"/>
                <p:cNvPicPr preferRelativeResize="0"/>
                <p:nvPr/>
              </p:nvPicPr>
              <p:blipFill rotWithShape="1">
                <a:blip r:embed="rId12">
                  <a:alphaModFix/>
                </a:blip>
                <a:srcRect b="0" l="0" r="0" t="0"/>
                <a:stretch/>
              </p:blipFill>
              <p:spPr>
                <a:xfrm>
                  <a:off x="3271898" y="3598561"/>
                  <a:ext cx="110683" cy="79045"/>
                </a:xfrm>
                <a:prstGeom prst="rect">
                  <a:avLst/>
                </a:prstGeom>
                <a:noFill/>
                <a:ln>
                  <a:noFill/>
                </a:ln>
              </p:spPr>
            </p:pic>
            <p:sp>
              <p:nvSpPr>
                <p:cNvPr id="304" name="Google Shape;304;p52"/>
                <p:cNvSpPr/>
                <p:nvPr/>
              </p:nvSpPr>
              <p:spPr>
                <a:xfrm>
                  <a:off x="3479162" y="2954514"/>
                  <a:ext cx="825600" cy="7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056"/>
                    </a:buClr>
                    <a:buSzPts val="672"/>
                    <a:buFont typeface="Arial"/>
                    <a:buNone/>
                  </a:pPr>
                  <a:r>
                    <a:rPr b="1" i="0" lang="en" sz="672" u="none" cap="none" strike="noStrike">
                      <a:solidFill>
                        <a:schemeClr val="lt1"/>
                      </a:solidFill>
                    </a:rPr>
                    <a:t>Wordly</a:t>
                  </a:r>
                  <a:endParaRPr i="0" sz="672" u="none" cap="none" strike="noStrike">
                    <a:solidFill>
                      <a:schemeClr val="lt1"/>
                    </a:solidFill>
                  </a:endParaRPr>
                </a:p>
              </p:txBody>
            </p:sp>
            <p:sp>
              <p:nvSpPr>
                <p:cNvPr id="305" name="Google Shape;305;p52"/>
                <p:cNvSpPr/>
                <p:nvPr/>
              </p:nvSpPr>
              <p:spPr>
                <a:xfrm>
                  <a:off x="3479162" y="3269747"/>
                  <a:ext cx="1077300" cy="7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056"/>
                    </a:buClr>
                    <a:buSzPts val="672"/>
                    <a:buFont typeface="Arial"/>
                    <a:buNone/>
                  </a:pPr>
                  <a:r>
                    <a:rPr b="1" i="0" lang="en" sz="672" u="none" cap="none" strike="noStrike">
                      <a:solidFill>
                        <a:schemeClr val="lt1"/>
                      </a:solidFill>
                    </a:rPr>
                    <a:t>DeepL Voice</a:t>
                  </a:r>
                  <a:endParaRPr i="0" sz="672" u="none" cap="none" strike="noStrike">
                    <a:solidFill>
                      <a:schemeClr val="lt1"/>
                    </a:solidFill>
                  </a:endParaRPr>
                </a:p>
              </p:txBody>
            </p:sp>
            <p:sp>
              <p:nvSpPr>
                <p:cNvPr id="306" name="Google Shape;306;p52"/>
                <p:cNvSpPr/>
                <p:nvPr/>
              </p:nvSpPr>
              <p:spPr>
                <a:xfrm>
                  <a:off x="3479162" y="3384163"/>
                  <a:ext cx="972300" cy="7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056"/>
                    </a:buClr>
                    <a:buSzPts val="672"/>
                    <a:buFont typeface="Arial"/>
                    <a:buNone/>
                  </a:pPr>
                  <a:r>
                    <a:rPr b="1" i="0" lang="en" sz="672" u="none" cap="none" strike="noStrike">
                      <a:solidFill>
                        <a:schemeClr val="lt1"/>
                      </a:solidFill>
                    </a:rPr>
                    <a:t>Palabra.ai</a:t>
                  </a:r>
                  <a:endParaRPr i="0" sz="672" u="none" cap="none" strike="noStrike">
                    <a:solidFill>
                      <a:schemeClr val="lt1"/>
                    </a:solidFill>
                  </a:endParaRPr>
                </a:p>
              </p:txBody>
            </p:sp>
            <p:sp>
              <p:nvSpPr>
                <p:cNvPr id="307" name="Google Shape;307;p52"/>
                <p:cNvSpPr/>
                <p:nvPr/>
              </p:nvSpPr>
              <p:spPr>
                <a:xfrm>
                  <a:off x="3479162" y="3491590"/>
                  <a:ext cx="761700" cy="7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056"/>
                    </a:buClr>
                    <a:buSzPts val="672"/>
                    <a:buFont typeface="Arial"/>
                    <a:buNone/>
                  </a:pPr>
                  <a:r>
                    <a:rPr b="1" i="0" lang="en" sz="672" u="none" cap="none" strike="noStrike">
                      <a:solidFill>
                        <a:schemeClr val="lt1"/>
                      </a:solidFill>
                    </a:rPr>
                    <a:t>JotMe</a:t>
                  </a:r>
                  <a:endParaRPr i="0" sz="672" u="none" cap="none" strike="noStrike">
                    <a:solidFill>
                      <a:schemeClr val="lt1"/>
                    </a:solidFill>
                  </a:endParaRPr>
                </a:p>
              </p:txBody>
            </p:sp>
            <p:sp>
              <p:nvSpPr>
                <p:cNvPr id="308" name="Google Shape;308;p52"/>
                <p:cNvSpPr/>
                <p:nvPr/>
              </p:nvSpPr>
              <p:spPr>
                <a:xfrm>
                  <a:off x="3479162" y="3599018"/>
                  <a:ext cx="1213200" cy="78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056"/>
                    </a:buClr>
                    <a:buSzPts val="672"/>
                    <a:buFont typeface="Arial"/>
                    <a:buNone/>
                  </a:pPr>
                  <a:r>
                    <a:rPr b="1" i="0" lang="en" sz="672" u="none" cap="none" strike="noStrike">
                      <a:solidFill>
                        <a:schemeClr val="lt1"/>
                      </a:solidFill>
                    </a:rPr>
                    <a:t>Meta Seamless</a:t>
                  </a:r>
                  <a:endParaRPr i="0" sz="672" u="none" cap="none" strike="noStrike">
                    <a:solidFill>
                      <a:schemeClr val="lt1"/>
                    </a:solidFill>
                  </a:endParaRPr>
                </a:p>
              </p:txBody>
            </p:sp>
            <p:sp>
              <p:nvSpPr>
                <p:cNvPr id="309" name="Google Shape;309;p52"/>
                <p:cNvSpPr/>
                <p:nvPr/>
              </p:nvSpPr>
              <p:spPr>
                <a:xfrm>
                  <a:off x="3669447" y="2847610"/>
                  <a:ext cx="1079400" cy="75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590"/>
                    </a:buClr>
                    <a:buSzPts val="600"/>
                    <a:buFont typeface="Arial"/>
                    <a:buNone/>
                  </a:pPr>
                  <a:r>
                    <a:rPr b="0" i="0" lang="en" sz="600" u="none" cap="none" strike="noStrike">
                      <a:solidFill>
                        <a:schemeClr val="lt1"/>
                      </a:solidFill>
                      <a:latin typeface="Arial"/>
                      <a:ea typeface="Arial"/>
                      <a:cs typeface="Arial"/>
                      <a:sym typeface="Arial"/>
                    </a:rPr>
                    <a:t>(AI Companion)</a:t>
                  </a:r>
                  <a:endParaRPr b="0" i="0" sz="600" u="none" cap="none" strike="noStrike">
                    <a:solidFill>
                      <a:schemeClr val="lt1"/>
                    </a:solidFill>
                    <a:latin typeface="Calibri"/>
                    <a:ea typeface="Calibri"/>
                    <a:cs typeface="Calibri"/>
                    <a:sym typeface="Calibri"/>
                  </a:endParaRPr>
                </a:p>
              </p:txBody>
            </p:sp>
            <p:pic>
              <p:nvPicPr>
                <p:cNvPr descr="/home/claude/logos/trim_zoom.png" id="310" name="Google Shape;310;p52"/>
                <p:cNvPicPr preferRelativeResize="0"/>
                <p:nvPr/>
              </p:nvPicPr>
              <p:blipFill rotWithShape="1">
                <a:blip r:embed="rId13">
                  <a:alphaModFix/>
                </a:blip>
                <a:srcRect b="0" l="0" r="0" t="0"/>
                <a:stretch/>
              </p:blipFill>
              <p:spPr>
                <a:xfrm>
                  <a:off x="3271898" y="2833244"/>
                  <a:ext cx="367131" cy="87900"/>
                </a:xfrm>
                <a:prstGeom prst="rect">
                  <a:avLst/>
                </a:prstGeom>
                <a:noFill/>
                <a:ln>
                  <a:noFill/>
                </a:ln>
              </p:spPr>
            </p:pic>
            <p:pic>
              <p:nvPicPr>
                <p:cNvPr id="311" name="Google Shape;311;p52"/>
                <p:cNvPicPr preferRelativeResize="0"/>
                <p:nvPr/>
              </p:nvPicPr>
              <p:blipFill>
                <a:blip r:embed="rId14">
                  <a:alphaModFix/>
                </a:blip>
                <a:stretch>
                  <a:fillRect/>
                </a:stretch>
              </p:blipFill>
              <p:spPr>
                <a:xfrm>
                  <a:off x="3271898" y="3268877"/>
                  <a:ext cx="74875" cy="79740"/>
                </a:xfrm>
                <a:prstGeom prst="rect">
                  <a:avLst/>
                </a:prstGeom>
                <a:solidFill>
                  <a:srgbClr val="0D1117"/>
                </a:solidFill>
                <a:ln>
                  <a:noFill/>
                </a:ln>
              </p:spPr>
            </p:pic>
          </p:grpSp>
        </p:grpSp>
        <p:grpSp>
          <p:nvGrpSpPr>
            <p:cNvPr id="312" name="Google Shape;312;p52"/>
            <p:cNvGrpSpPr/>
            <p:nvPr/>
          </p:nvGrpSpPr>
          <p:grpSpPr>
            <a:xfrm>
              <a:off x="4149201" y="2563805"/>
              <a:ext cx="2331900" cy="2331600"/>
              <a:chOff x="4149201" y="2563805"/>
              <a:chExt cx="2331900" cy="2331600"/>
            </a:xfrm>
          </p:grpSpPr>
          <p:grpSp>
            <p:nvGrpSpPr>
              <p:cNvPr id="313" name="Google Shape;313;p52"/>
              <p:cNvGrpSpPr/>
              <p:nvPr/>
            </p:nvGrpSpPr>
            <p:grpSpPr>
              <a:xfrm>
                <a:off x="4149201" y="2563805"/>
                <a:ext cx="2331900" cy="2331600"/>
                <a:chOff x="4149201" y="2563805"/>
                <a:chExt cx="2331900" cy="2331600"/>
              </a:xfrm>
            </p:grpSpPr>
            <p:sp>
              <p:nvSpPr>
                <p:cNvPr id="314" name="Google Shape;314;p52"/>
                <p:cNvSpPr/>
                <p:nvPr/>
              </p:nvSpPr>
              <p:spPr>
                <a:xfrm>
                  <a:off x="4149201" y="2563805"/>
                  <a:ext cx="2331900" cy="2331600"/>
                </a:xfrm>
                <a:prstGeom prst="ellipse">
                  <a:avLst/>
                </a:prstGeom>
                <a:solidFill>
                  <a:srgbClr val="47B484">
                    <a:alpha val="19310"/>
                  </a:srgbClr>
                </a:solidFill>
                <a:ln cap="flat" cmpd="sng" w="28575">
                  <a:solidFill>
                    <a:srgbClr val="47B48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15" name="Google Shape;315;p52"/>
                <p:cNvSpPr txBox="1"/>
                <p:nvPr/>
              </p:nvSpPr>
              <p:spPr>
                <a:xfrm>
                  <a:off x="4634195" y="4449755"/>
                  <a:ext cx="1783200" cy="223200"/>
                </a:xfrm>
                <a:prstGeom prst="rect">
                  <a:avLst/>
                </a:prstGeom>
                <a:noFill/>
                <a:ln>
                  <a:noFill/>
                </a:ln>
              </p:spPr>
              <p:txBody>
                <a:bodyPr anchorCtr="0" anchor="ctr" bIns="34275" lIns="68575" spcFirstLastPara="1" rIns="68575" wrap="square" tIns="34275">
                  <a:spAutoFit/>
                </a:bodyPr>
                <a:lstStyle/>
                <a:p>
                  <a:pPr indent="0" lvl="0" marL="0" marR="0" rtl="0" algn="ctr">
                    <a:spcBef>
                      <a:spcPts val="0"/>
                    </a:spcBef>
                    <a:spcAft>
                      <a:spcPts val="0"/>
                    </a:spcAft>
                    <a:buNone/>
                  </a:pPr>
                  <a:r>
                    <a:rPr b="1" lang="en" sz="1000">
                      <a:solidFill>
                        <a:srgbClr val="4FBF8F"/>
                      </a:solidFill>
                      <a:latin typeface="Arial"/>
                      <a:ea typeface="Arial"/>
                      <a:cs typeface="Arial"/>
                      <a:sym typeface="Arial"/>
                    </a:rPr>
                    <a:t>Effectiveness</a:t>
                  </a:r>
                  <a:endParaRPr sz="1100"/>
                </a:p>
              </p:txBody>
            </p:sp>
          </p:grpSp>
          <p:grpSp>
            <p:nvGrpSpPr>
              <p:cNvPr id="316" name="Google Shape;316;p52"/>
              <p:cNvGrpSpPr/>
              <p:nvPr/>
            </p:nvGrpSpPr>
            <p:grpSpPr>
              <a:xfrm>
                <a:off x="5061953" y="2891925"/>
                <a:ext cx="1395403" cy="577200"/>
                <a:chOff x="5061953" y="2891925"/>
                <a:chExt cx="1395403" cy="577200"/>
              </a:xfrm>
            </p:grpSpPr>
            <p:sp>
              <p:nvSpPr>
                <p:cNvPr id="317" name="Google Shape;317;p52"/>
                <p:cNvSpPr txBox="1"/>
                <p:nvPr/>
              </p:nvSpPr>
              <p:spPr>
                <a:xfrm>
                  <a:off x="5154156" y="2891925"/>
                  <a:ext cx="1303200" cy="577200"/>
                </a:xfrm>
                <a:prstGeom prst="rect">
                  <a:avLst/>
                </a:prstGeom>
                <a:noFill/>
                <a:ln>
                  <a:noFill/>
                </a:ln>
              </p:spPr>
              <p:txBody>
                <a:bodyPr anchorCtr="0" anchor="ctr" bIns="34275" lIns="68575" spcFirstLastPara="1" rIns="68575" wrap="square" tIns="34275">
                  <a:spAutoFit/>
                </a:bodyPr>
                <a:lstStyle/>
                <a:p>
                  <a:pPr indent="0" lvl="0" marL="0" marR="0" rtl="0" algn="l">
                    <a:spcBef>
                      <a:spcPts val="0"/>
                    </a:spcBef>
                    <a:spcAft>
                      <a:spcPts val="0"/>
                    </a:spcAft>
                    <a:buNone/>
                  </a:pPr>
                  <a:r>
                    <a:rPr b="1" lang="en" sz="700">
                      <a:solidFill>
                        <a:srgbClr val="E6E9EF"/>
                      </a:solidFill>
                      <a:latin typeface="Arial"/>
                      <a:ea typeface="Arial"/>
                      <a:cs typeface="Arial"/>
                      <a:sym typeface="Arial"/>
                    </a:rPr>
                    <a:t>Fireflies.ai</a:t>
                  </a:r>
                  <a:endParaRPr sz="1100"/>
                </a:p>
                <a:p>
                  <a:pPr indent="0" lvl="0" marL="0" marR="0" rtl="0" algn="l">
                    <a:spcBef>
                      <a:spcPts val="200"/>
                    </a:spcBef>
                    <a:spcAft>
                      <a:spcPts val="0"/>
                    </a:spcAft>
                    <a:buNone/>
                  </a:pPr>
                  <a:r>
                    <a:rPr b="1" lang="en" sz="700">
                      <a:solidFill>
                        <a:srgbClr val="E6E9EF"/>
                      </a:solidFill>
                      <a:latin typeface="Arial"/>
                      <a:ea typeface="Arial"/>
                      <a:cs typeface="Arial"/>
                      <a:sym typeface="Arial"/>
                    </a:rPr>
                    <a:t>Fellow</a:t>
                  </a:r>
                  <a:endParaRPr b="1" sz="700">
                    <a:solidFill>
                      <a:srgbClr val="E6E9EF"/>
                    </a:solidFill>
                    <a:latin typeface="Arial"/>
                    <a:ea typeface="Arial"/>
                    <a:cs typeface="Arial"/>
                    <a:sym typeface="Arial"/>
                  </a:endParaRPr>
                </a:p>
                <a:p>
                  <a:pPr indent="0" lvl="0" marL="0" marR="0" rtl="0" algn="l">
                    <a:spcBef>
                      <a:spcPts val="200"/>
                    </a:spcBef>
                    <a:spcAft>
                      <a:spcPts val="0"/>
                    </a:spcAft>
                    <a:buNone/>
                  </a:pPr>
                  <a:r>
                    <a:rPr b="1" lang="en" sz="700">
                      <a:solidFill>
                        <a:srgbClr val="E6E9EF"/>
                      </a:solidFill>
                    </a:rPr>
                    <a:t>Read.ai</a:t>
                  </a:r>
                  <a:endParaRPr b="1" sz="700">
                    <a:solidFill>
                      <a:srgbClr val="E6E9EF"/>
                    </a:solidFill>
                  </a:endParaRPr>
                </a:p>
                <a:p>
                  <a:pPr indent="0" lvl="0" marL="0" marR="0" rtl="0" algn="l">
                    <a:spcBef>
                      <a:spcPts val="200"/>
                    </a:spcBef>
                    <a:spcAft>
                      <a:spcPts val="0"/>
                    </a:spcAft>
                    <a:buNone/>
                  </a:pPr>
                  <a:r>
                    <a:rPr b="1" lang="en" sz="700">
                      <a:solidFill>
                        <a:srgbClr val="E6E9EF"/>
                      </a:solidFill>
                    </a:rPr>
                    <a:t>MS latecomer patent</a:t>
                  </a:r>
                  <a:endParaRPr b="1" sz="700">
                    <a:solidFill>
                      <a:srgbClr val="E6E9EF"/>
                    </a:solidFill>
                  </a:endParaRPr>
                </a:p>
              </p:txBody>
            </p:sp>
            <p:pic>
              <p:nvPicPr>
                <p:cNvPr descr="/home/claude/logos/trim_fireflies.png" id="318" name="Google Shape;318;p52"/>
                <p:cNvPicPr preferRelativeResize="0"/>
                <p:nvPr/>
              </p:nvPicPr>
              <p:blipFill rotWithShape="1">
                <a:blip r:embed="rId15">
                  <a:alphaModFix/>
                </a:blip>
                <a:srcRect b="0" l="0" r="0" t="0"/>
                <a:stretch/>
              </p:blipFill>
              <p:spPr>
                <a:xfrm>
                  <a:off x="5067570" y="2925052"/>
                  <a:ext cx="74366" cy="84589"/>
                </a:xfrm>
                <a:prstGeom prst="rect">
                  <a:avLst/>
                </a:prstGeom>
                <a:noFill/>
                <a:ln>
                  <a:noFill/>
                </a:ln>
              </p:spPr>
            </p:pic>
            <p:pic>
              <p:nvPicPr>
                <p:cNvPr descr="/home/claude/logos/trim_readai.png" id="319" name="Google Shape;319;p52"/>
                <p:cNvPicPr preferRelativeResize="0"/>
                <p:nvPr/>
              </p:nvPicPr>
              <p:blipFill rotWithShape="1">
                <a:blip r:embed="rId16">
                  <a:alphaModFix/>
                </a:blip>
                <a:srcRect b="0" l="0" r="0" t="0"/>
                <a:stretch/>
              </p:blipFill>
              <p:spPr>
                <a:xfrm>
                  <a:off x="5065096" y="3200401"/>
                  <a:ext cx="78791" cy="84589"/>
                </a:xfrm>
                <a:prstGeom prst="rect">
                  <a:avLst/>
                </a:prstGeom>
                <a:noFill/>
                <a:ln>
                  <a:noFill/>
                </a:ln>
              </p:spPr>
            </p:pic>
            <p:pic>
              <p:nvPicPr>
                <p:cNvPr descr="/home/claude/logos/trim_microsoft.png" id="320" name="Google Shape;320;p52"/>
                <p:cNvPicPr preferRelativeResize="0"/>
                <p:nvPr/>
              </p:nvPicPr>
              <p:blipFill rotWithShape="1">
                <a:blip r:embed="rId17">
                  <a:alphaModFix/>
                </a:blip>
                <a:srcRect b="0" l="0" r="0" t="0"/>
                <a:stretch/>
              </p:blipFill>
              <p:spPr>
                <a:xfrm>
                  <a:off x="5061953" y="3338050"/>
                  <a:ext cx="82148" cy="84589"/>
                </a:xfrm>
                <a:prstGeom prst="rect">
                  <a:avLst/>
                </a:prstGeom>
                <a:noFill/>
                <a:ln>
                  <a:noFill/>
                </a:ln>
              </p:spPr>
            </p:pic>
            <p:pic>
              <p:nvPicPr>
                <p:cNvPr descr="/home/claude/logos/trim_fellow.png" id="321" name="Google Shape;321;p52"/>
                <p:cNvPicPr preferRelativeResize="0"/>
                <p:nvPr/>
              </p:nvPicPr>
              <p:blipFill rotWithShape="1">
                <a:blip r:embed="rId18">
                  <a:alphaModFix/>
                </a:blip>
                <a:srcRect b="0" l="0" r="0" t="0"/>
                <a:stretch/>
              </p:blipFill>
              <p:spPr>
                <a:xfrm>
                  <a:off x="5067570" y="3062701"/>
                  <a:ext cx="76705" cy="84640"/>
                </a:xfrm>
                <a:prstGeom prst="rect">
                  <a:avLst/>
                </a:prstGeom>
                <a:noFill/>
                <a:ln>
                  <a:noFill/>
                </a:ln>
              </p:spPr>
            </p:pic>
          </p:grpSp>
        </p:grpSp>
      </p:grpSp>
      <p:grpSp>
        <p:nvGrpSpPr>
          <p:cNvPr id="322" name="Google Shape;322;p52"/>
          <p:cNvGrpSpPr/>
          <p:nvPr/>
        </p:nvGrpSpPr>
        <p:grpSpPr>
          <a:xfrm>
            <a:off x="4185100" y="3308388"/>
            <a:ext cx="841800" cy="512413"/>
            <a:chOff x="4185100" y="3308388"/>
            <a:chExt cx="841800" cy="512413"/>
          </a:xfrm>
        </p:grpSpPr>
        <p:sp>
          <p:nvSpPr>
            <p:cNvPr id="323" name="Google Shape;323;p52"/>
            <p:cNvSpPr/>
            <p:nvPr/>
          </p:nvSpPr>
          <p:spPr>
            <a:xfrm>
              <a:off x="4376989" y="3308388"/>
              <a:ext cx="390000" cy="118800"/>
            </a:xfrm>
            <a:prstGeom prst="roundRect">
              <a:avLst>
                <a:gd fmla="val 27907" name="adj"/>
              </a:avLst>
            </a:prstGeom>
            <a:solidFill>
              <a:srgbClr val="FFFFFF">
                <a:alpha val="72160"/>
              </a:srgbClr>
            </a:solidFill>
            <a:ln cap="flat" cmpd="sng" w="13425">
              <a:solidFill>
                <a:srgbClr val="0D1117"/>
              </a:solidFill>
              <a:prstDash val="dash"/>
              <a:round/>
              <a:headEnd len="sm" w="sm" type="none"/>
              <a:tailEnd len="sm" w="sm" type="none"/>
            </a:ln>
          </p:spPr>
          <p:txBody>
            <a:bodyPr anchorCtr="0" anchor="ctr" bIns="21525" lIns="21525" spcFirstLastPara="1" rIns="21525" wrap="square" tIns="21525">
              <a:noAutofit/>
            </a:bodyPr>
            <a:lstStyle/>
            <a:p>
              <a:pPr indent="0" lvl="0" marL="0" marR="0" rtl="0" algn="ctr">
                <a:spcBef>
                  <a:spcPts val="0"/>
                </a:spcBef>
                <a:spcAft>
                  <a:spcPts val="0"/>
                </a:spcAft>
                <a:buClr>
                  <a:srgbClr val="132043"/>
                </a:buClr>
                <a:buSzPts val="732"/>
                <a:buFont typeface="Arial"/>
                <a:buNone/>
              </a:pPr>
              <a:r>
                <a:rPr b="1" i="0" lang="en" sz="700" u="none" cap="none" strike="noStrike">
                  <a:solidFill>
                    <a:srgbClr val="132043"/>
                  </a:solidFill>
                </a:rPr>
                <a:t>LINC</a:t>
              </a:r>
              <a:endParaRPr i="0" sz="700" u="none" cap="none" strike="noStrike">
                <a:solidFill>
                  <a:schemeClr val="dk1"/>
                </a:solidFill>
              </a:endParaRPr>
            </a:p>
          </p:txBody>
        </p:sp>
        <p:pic>
          <p:nvPicPr>
            <p:cNvPr id="324" name="Google Shape;324;p52"/>
            <p:cNvPicPr preferRelativeResize="0"/>
            <p:nvPr/>
          </p:nvPicPr>
          <p:blipFill>
            <a:blip r:embed="rId19">
              <a:alphaModFix/>
            </a:blip>
            <a:stretch>
              <a:fillRect/>
            </a:stretch>
          </p:blipFill>
          <p:spPr>
            <a:xfrm>
              <a:off x="4185100" y="3688615"/>
              <a:ext cx="157375" cy="105057"/>
            </a:xfrm>
            <a:prstGeom prst="rect">
              <a:avLst/>
            </a:prstGeom>
            <a:noFill/>
            <a:ln>
              <a:noFill/>
            </a:ln>
          </p:spPr>
        </p:pic>
        <p:sp>
          <p:nvSpPr>
            <p:cNvPr id="325" name="Google Shape;325;p52"/>
            <p:cNvSpPr/>
            <p:nvPr/>
          </p:nvSpPr>
          <p:spPr>
            <a:xfrm>
              <a:off x="4377001" y="3638400"/>
              <a:ext cx="625800" cy="18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056"/>
                </a:buClr>
                <a:buSzPts val="672"/>
                <a:buFont typeface="Arial"/>
                <a:buNone/>
              </a:pPr>
              <a:r>
                <a:rPr b="1" lang="en" sz="472">
                  <a:solidFill>
                    <a:schemeClr val="lt1"/>
                  </a:solidFill>
                </a:rPr>
                <a:t>Live Meeting </a:t>
              </a:r>
              <a:r>
                <a:rPr b="1" lang="en" sz="472">
                  <a:solidFill>
                    <a:schemeClr val="lt1"/>
                  </a:solidFill>
                </a:rPr>
                <a:t>Assistant</a:t>
              </a:r>
              <a:r>
                <a:rPr b="1" lang="en" sz="472">
                  <a:solidFill>
                    <a:schemeClr val="lt1"/>
                  </a:solidFill>
                </a:rPr>
                <a:t> (generic)</a:t>
              </a:r>
              <a:endParaRPr i="0" sz="472" u="none" cap="none" strike="noStrike">
                <a:solidFill>
                  <a:schemeClr val="lt1"/>
                </a:solidFill>
              </a:endParaRPr>
            </a:p>
          </p:txBody>
        </p:sp>
        <p:sp>
          <p:nvSpPr>
            <p:cNvPr id="326" name="Google Shape;326;p52"/>
            <p:cNvSpPr/>
            <p:nvPr/>
          </p:nvSpPr>
          <p:spPr>
            <a:xfrm>
              <a:off x="4401100" y="3397750"/>
              <a:ext cx="6258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43056"/>
                </a:buClr>
                <a:buSzPts val="672"/>
                <a:buFont typeface="Arial"/>
                <a:buNone/>
              </a:pPr>
              <a:r>
                <a:rPr b="1" lang="en" sz="472">
                  <a:solidFill>
                    <a:schemeClr val="lt1"/>
                  </a:solidFill>
                </a:rPr>
                <a:t>(Research only)</a:t>
              </a:r>
              <a:endParaRPr i="0" sz="472" u="none" cap="none" strike="noStrike">
                <a:solidFill>
                  <a:schemeClr val="lt1"/>
                </a:solidFill>
              </a:endParaRPr>
            </a:p>
          </p:txBody>
        </p:sp>
      </p:grpSp>
    </p:spTree>
  </p:cSld>
  <p:clrMapOvr>
    <a:masterClrMapping/>
  </p:clrMapOvr>
  <p:timing>
    <p:tnLst>
      <p:par>
        <p:cTn id="1" dur="indefinite" restart="never" nodeType="tmRoot">
          <p:childTnLst>
            <p:seq concat="0" nextAc="seek">
              <p:cTn id="2" dur="indefinite" nodeType="mainSeq">
                <p:childTnLst>
                  <p:par>
                    <p:cTn id="3" fill="hold">
                      <p:stCondLst>
                        <p:cond delay="indefinite"/>
                      </p:stCondLst>
                      <p:childTnLst>
                        <p:par>
                          <p:cTn id="4" presetID="1" presetClass="entr" presetSubtype="0" fill="hold" grpId="0" nodeType="clickEffect">
                            <p:stCondLst>
                              <p:cond delay="0"/>
                            </p:stCondLst>
                            <p:childTnLst>
                              <p:set>
                                <p:cBhvr>
                                  <p:cTn id="5" dur="1" fill="hold">
                                    <p:stCondLst>
                                      <p:cond delay="0"/>
                                    </p:stCondLst>
                                  </p:cTn>
                                  <p:tgtEl>
                                    <p:spTgt spid="278"/>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grpId="1" nodeType="clickEffect">
                            <p:stCondLst>
                              <p:cond delay="0"/>
                            </p:stCondLst>
                            <p:childTnLst>
                              <p:set>
                                <p:cBhvr>
                                  <p:cTn id="8" dur="1" fill="hold">
                                    <p:stCondLst>
                                      <p:cond delay="0"/>
                                    </p:stCondLst>
                                  </p:cTn>
                                  <p:tgtEl>
                                    <p:spTgt spid="279"/>
                                  </p:tgtEl>
                                  <p:attrNameLst>
                                    <p:attrName>style.visibility</p:attrName>
                                  </p:attrNameLst>
                                </p:cBhvr>
                                <p:to>
                                  <p:strVal val="visible"/>
                                </p:to>
                              </p:set>
                            </p:childTnLst>
                          </p:cTn>
                        </p:par>
                      </p:childTnLst>
                    </p:cTn>
                  </p:par>
                  <p:par>
                    <p:cTn id="9" fill="hold">
                      <p:stCondLst>
                        <p:cond delay="indefinite"/>
                      </p:stCondLst>
                      <p:childTnLst>
                        <p:par>
                          <p:cTn id="10" presetID="1" presetClass="entr" presetSubtype="0" fill="hold" grpId="2" nodeType="clickEffect">
                            <p:stCondLst>
                              <p:cond delay="0"/>
                            </p:stCondLst>
                            <p:childTnLst>
                              <p:set>
                                <p:cBhvr>
                                  <p:cTn id="11" dur="1" fill="hold">
                                    <p:stCondLst>
                                      <p:cond delay="0"/>
                                    </p:stCondLst>
                                  </p:cTn>
                                  <p:tgtEl>
                                    <p:spTgt spid="322"/>
                                  </p:tgtEl>
                                  <p:attrNameLst>
                                    <p:attrName>style.visibility</p:attrName>
                                  </p:attrNameLst>
                                </p:cBhvr>
                                <p:to>
                                  <p:strVal val="visible"/>
                                </p:to>
                              </p:set>
                            </p:childTnLst>
                          </p:cTn>
                        </p:par>
                      </p:childTnLst>
                    </p:cTn>
                  </p:par>
                </p:childTnLst>
              </p:cTn>
            </p:seq>
          </p:childTnLst>
        </p:cTn>
      </p:par>
    </p:tnLst>
    <p:bldLst>
      <p:bldP spid="278" grpId="0"/>
      <p:bldP spid="279" grpId="1"/>
      <p:bldP spid="322" grpId="2"/>
    </p:bld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53"/>
          <p:cNvSpPr/>
          <p:nvPr/>
        </p:nvSpPr>
        <p:spPr>
          <a:xfrm>
            <a:off x="0" y="0"/>
            <a:ext cx="9144015" cy="5143500"/>
          </a:xfrm>
          <a:prstGeom prst="rect">
            <a:avLst/>
          </a:prstGeom>
          <a:solidFill>
            <a:srgbClr val="0D111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32" name="Google Shape;332;p53"/>
          <p:cNvSpPr txBox="1"/>
          <p:nvPr/>
        </p:nvSpPr>
        <p:spPr>
          <a:xfrm>
            <a:off x="411491" y="240030"/>
            <a:ext cx="8298300" cy="423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300">
                <a:solidFill>
                  <a:srgbClr val="E6E9EF"/>
                </a:solidFill>
                <a:latin typeface="Arial"/>
                <a:ea typeface="Arial"/>
                <a:cs typeface="Arial"/>
                <a:sym typeface="Arial"/>
              </a:rPr>
              <a:t>Interlinga.ai </a:t>
            </a:r>
            <a:r>
              <a:rPr b="1" lang="en" sz="2300">
                <a:solidFill>
                  <a:srgbClr val="E6E9EF"/>
                </a:solidFill>
              </a:rPr>
              <a:t>breaks all 3 language barriers</a:t>
            </a:r>
            <a:endParaRPr sz="1100"/>
          </a:p>
        </p:txBody>
      </p:sp>
      <p:sp>
        <p:nvSpPr>
          <p:cNvPr id="333" name="Google Shape;333;p53"/>
          <p:cNvSpPr/>
          <p:nvPr/>
        </p:nvSpPr>
        <p:spPr>
          <a:xfrm>
            <a:off x="411491" y="720090"/>
            <a:ext cx="754400" cy="28575"/>
          </a:xfrm>
          <a:prstGeom prst="rect">
            <a:avLst/>
          </a:prstGeom>
          <a:solidFill>
            <a:srgbClr val="4F7FD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grpSp>
        <p:nvGrpSpPr>
          <p:cNvPr id="334" name="Google Shape;334;p53"/>
          <p:cNvGrpSpPr/>
          <p:nvPr/>
        </p:nvGrpSpPr>
        <p:grpSpPr>
          <a:xfrm>
            <a:off x="411500" y="2648421"/>
            <a:ext cx="8325834" cy="2289378"/>
            <a:chOff x="411491" y="1337310"/>
            <a:chExt cx="8325834" cy="3531900"/>
          </a:xfrm>
        </p:grpSpPr>
        <p:sp>
          <p:nvSpPr>
            <p:cNvPr id="335" name="Google Shape;335;p53"/>
            <p:cNvSpPr/>
            <p:nvPr/>
          </p:nvSpPr>
          <p:spPr>
            <a:xfrm>
              <a:off x="3237062" y="1337310"/>
              <a:ext cx="2674800" cy="3531900"/>
            </a:xfrm>
            <a:prstGeom prst="roundRect">
              <a:avLst>
                <a:gd fmla="val 6000" name="adj"/>
              </a:avLst>
            </a:prstGeom>
            <a:solidFill>
              <a:srgbClr val="171D27"/>
            </a:solidFill>
            <a:ln cap="flat" cmpd="sng" w="9525">
              <a:solidFill>
                <a:srgbClr val="2A334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36" name="Google Shape;336;p53"/>
            <p:cNvSpPr/>
            <p:nvPr/>
          </p:nvSpPr>
          <p:spPr>
            <a:xfrm>
              <a:off x="6062634" y="1337310"/>
              <a:ext cx="2674691" cy="3531870"/>
            </a:xfrm>
            <a:prstGeom prst="roundRect">
              <a:avLst>
                <a:gd fmla="val 6000" name="adj"/>
              </a:avLst>
            </a:prstGeom>
            <a:solidFill>
              <a:srgbClr val="171D27"/>
            </a:solidFill>
            <a:ln cap="flat" cmpd="sng" w="9525">
              <a:solidFill>
                <a:srgbClr val="2A334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37" name="Google Shape;337;p53"/>
            <p:cNvSpPr/>
            <p:nvPr/>
          </p:nvSpPr>
          <p:spPr>
            <a:xfrm>
              <a:off x="3237062" y="1337310"/>
              <a:ext cx="2674691" cy="38100"/>
            </a:xfrm>
            <a:prstGeom prst="roundRect">
              <a:avLst>
                <a:gd fmla="val 16667" name="adj"/>
              </a:avLst>
            </a:prstGeom>
            <a:solidFill>
              <a:srgbClr val="C47CB8"/>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38" name="Google Shape;338;p53"/>
            <p:cNvSpPr/>
            <p:nvPr/>
          </p:nvSpPr>
          <p:spPr>
            <a:xfrm>
              <a:off x="6062634" y="1337310"/>
              <a:ext cx="2674691" cy="38100"/>
            </a:xfrm>
            <a:prstGeom prst="roundRect">
              <a:avLst>
                <a:gd fmla="val 16667" name="adj"/>
              </a:avLst>
            </a:prstGeom>
            <a:solidFill>
              <a:srgbClr val="4FBF8F"/>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39" name="Google Shape;339;p53"/>
            <p:cNvSpPr/>
            <p:nvPr/>
          </p:nvSpPr>
          <p:spPr>
            <a:xfrm>
              <a:off x="411491" y="1337310"/>
              <a:ext cx="2674691" cy="3531870"/>
            </a:xfrm>
            <a:prstGeom prst="roundRect">
              <a:avLst>
                <a:gd fmla="val 6000" name="adj"/>
              </a:avLst>
            </a:prstGeom>
            <a:solidFill>
              <a:srgbClr val="171D27"/>
            </a:solidFill>
            <a:ln cap="flat" cmpd="sng" w="9525">
              <a:solidFill>
                <a:srgbClr val="2A334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40" name="Google Shape;340;p53"/>
            <p:cNvSpPr/>
            <p:nvPr/>
          </p:nvSpPr>
          <p:spPr>
            <a:xfrm>
              <a:off x="411491" y="1337310"/>
              <a:ext cx="2674800" cy="38100"/>
            </a:xfrm>
            <a:prstGeom prst="roundRect">
              <a:avLst>
                <a:gd fmla="val 16667" name="adj"/>
              </a:avLst>
            </a:prstGeom>
            <a:solidFill>
              <a:srgbClr val="4F7FD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41" name="Google Shape;341;p53"/>
            <p:cNvSpPr txBox="1"/>
            <p:nvPr/>
          </p:nvSpPr>
          <p:spPr>
            <a:xfrm>
              <a:off x="582946" y="1543050"/>
              <a:ext cx="2331900" cy="232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300">
                  <a:solidFill>
                    <a:srgbClr val="4F7FD1"/>
                  </a:solidFill>
                  <a:latin typeface="Arial"/>
                  <a:ea typeface="Arial"/>
                  <a:cs typeface="Arial"/>
                  <a:sym typeface="Arial"/>
                </a:rPr>
                <a:t>Accurate transmission</a:t>
              </a:r>
              <a:endParaRPr b="1" sz="1300">
                <a:solidFill>
                  <a:srgbClr val="4F7FD1"/>
                </a:solidFill>
              </a:endParaRPr>
            </a:p>
            <a:p>
              <a:pPr indent="0" lvl="0" marL="0" marR="0" rtl="0" algn="l">
                <a:spcBef>
                  <a:spcPts val="0"/>
                </a:spcBef>
                <a:spcAft>
                  <a:spcPts val="0"/>
                </a:spcAft>
                <a:buNone/>
              </a:pPr>
              <a:r>
                <a:t/>
              </a:r>
              <a:endParaRPr b="1" sz="1300">
                <a:solidFill>
                  <a:srgbClr val="4F7FD1"/>
                </a:solidFill>
              </a:endParaRPr>
            </a:p>
            <a:p>
              <a:pPr indent="-292100" lvl="0" marL="457200" marR="0" rtl="0" algn="l">
                <a:spcBef>
                  <a:spcPts val="900"/>
                </a:spcBef>
                <a:spcAft>
                  <a:spcPts val="0"/>
                </a:spcAft>
                <a:buClr>
                  <a:srgbClr val="E6E9EF"/>
                </a:buClr>
                <a:buSzPts val="1000"/>
                <a:buFont typeface="Arial"/>
                <a:buChar char="●"/>
              </a:pPr>
              <a:r>
                <a:rPr lang="en" sz="1000">
                  <a:solidFill>
                    <a:srgbClr val="E6E9EF"/>
                  </a:solidFill>
                </a:rPr>
                <a:t>E</a:t>
              </a:r>
              <a:r>
                <a:rPr b="0" lang="en" sz="1000">
                  <a:solidFill>
                    <a:srgbClr val="E6E9EF"/>
                  </a:solidFill>
                  <a:latin typeface="Arial"/>
                  <a:ea typeface="Arial"/>
                  <a:cs typeface="Arial"/>
                  <a:sym typeface="Arial"/>
                </a:rPr>
                <a:t>very </a:t>
              </a:r>
              <a:r>
                <a:rPr lang="en" sz="1000">
                  <a:solidFill>
                    <a:srgbClr val="E6E9EF"/>
                  </a:solidFill>
                </a:rPr>
                <a:t>caption</a:t>
              </a:r>
              <a:r>
                <a:rPr b="0" lang="en" sz="1000">
                  <a:solidFill>
                    <a:srgbClr val="E6E9EF"/>
                  </a:solidFill>
                  <a:latin typeface="Arial"/>
                  <a:ea typeface="Arial"/>
                  <a:cs typeface="Arial"/>
                  <a:sym typeface="Arial"/>
                </a:rPr>
                <a:t> </a:t>
              </a:r>
              <a:r>
                <a:rPr lang="en" sz="1000">
                  <a:solidFill>
                    <a:srgbClr val="E6E9EF"/>
                  </a:solidFill>
                </a:rPr>
                <a:t>displays (in real time)</a:t>
              </a:r>
              <a:r>
                <a:rPr b="0" lang="en" sz="1000">
                  <a:solidFill>
                    <a:srgbClr val="E6E9EF"/>
                  </a:solidFill>
                  <a:latin typeface="Arial"/>
                  <a:ea typeface="Arial"/>
                  <a:cs typeface="Arial"/>
                  <a:sym typeface="Arial"/>
                </a:rPr>
                <a:t> a </a:t>
              </a:r>
              <a:r>
                <a:rPr b="1" lang="en" sz="1000">
                  <a:solidFill>
                    <a:srgbClr val="E6E9EF"/>
                  </a:solidFill>
                </a:rPr>
                <a:t>network score</a:t>
              </a:r>
              <a:r>
                <a:rPr lang="en" sz="1000">
                  <a:solidFill>
                    <a:srgbClr val="E6E9EF"/>
                  </a:solidFill>
                </a:rPr>
                <a:t> and a </a:t>
              </a:r>
              <a:r>
                <a:rPr b="1" lang="en" sz="1000">
                  <a:solidFill>
                    <a:srgbClr val="E6E9EF"/>
                  </a:solidFill>
                </a:rPr>
                <a:t>speech-to text score</a:t>
              </a:r>
              <a:r>
                <a:rPr lang="en" sz="1000">
                  <a:solidFill>
                    <a:srgbClr val="E6E9EF"/>
                  </a:solidFill>
                </a:rPr>
                <a:t> and an overall </a:t>
              </a:r>
              <a:r>
                <a:rPr lang="en" sz="1000" u="sng">
                  <a:solidFill>
                    <a:srgbClr val="E6E9EF"/>
                  </a:solidFill>
                </a:rPr>
                <a:t>c</a:t>
              </a:r>
              <a:r>
                <a:rPr lang="en" sz="1000" u="sng">
                  <a:solidFill>
                    <a:srgbClr val="E6E9EF"/>
                  </a:solidFill>
                </a:rPr>
                <a:t>onfidence rating %</a:t>
              </a:r>
              <a:r>
                <a:rPr lang="en" sz="1000">
                  <a:solidFill>
                    <a:srgbClr val="E6E9EF"/>
                  </a:solidFill>
                </a:rPr>
                <a:t> t</a:t>
              </a:r>
              <a:r>
                <a:rPr b="0" lang="en" sz="1000">
                  <a:solidFill>
                    <a:srgbClr val="E6E9EF"/>
                  </a:solidFill>
                  <a:latin typeface="Arial"/>
                  <a:ea typeface="Arial"/>
                  <a:cs typeface="Arial"/>
                  <a:sym typeface="Arial"/>
                </a:rPr>
                <a:t>o expose exactly where the signal was shaky</a:t>
              </a:r>
              <a:endParaRPr sz="1100"/>
            </a:p>
          </p:txBody>
        </p:sp>
        <p:sp>
          <p:nvSpPr>
            <p:cNvPr id="342" name="Google Shape;342;p53"/>
            <p:cNvSpPr txBox="1"/>
            <p:nvPr/>
          </p:nvSpPr>
          <p:spPr>
            <a:xfrm>
              <a:off x="3408517" y="1543050"/>
              <a:ext cx="2331900" cy="256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300">
                  <a:solidFill>
                    <a:srgbClr val="C47CB8"/>
                  </a:solidFill>
                  <a:latin typeface="Arial"/>
                  <a:ea typeface="Arial"/>
                  <a:cs typeface="Arial"/>
                  <a:sym typeface="Arial"/>
                </a:rPr>
                <a:t>Shared meaning across languages</a:t>
              </a:r>
              <a:endParaRPr sz="1000">
                <a:solidFill>
                  <a:srgbClr val="E6E9EF"/>
                </a:solidFill>
              </a:endParaRPr>
            </a:p>
            <a:p>
              <a:pPr indent="-292100" lvl="0" marL="457200" marR="0" rtl="0" algn="l">
                <a:spcBef>
                  <a:spcPts val="900"/>
                </a:spcBef>
                <a:spcAft>
                  <a:spcPts val="0"/>
                </a:spcAft>
                <a:buClr>
                  <a:srgbClr val="E6E9EF"/>
                </a:buClr>
                <a:buSzPts val="1000"/>
                <a:buChar char="●"/>
              </a:pPr>
              <a:r>
                <a:rPr lang="en" sz="1000">
                  <a:solidFill>
                    <a:srgbClr val="E6E9EF"/>
                  </a:solidFill>
                </a:rPr>
                <a:t>Every caption also displays (in real time) a </a:t>
              </a:r>
              <a:r>
                <a:rPr b="1" lang="en" sz="1000">
                  <a:solidFill>
                    <a:srgbClr val="E6E9EF"/>
                  </a:solidFill>
                </a:rPr>
                <a:t>translation c</a:t>
              </a:r>
              <a:r>
                <a:rPr b="1" lang="en" sz="1000">
                  <a:solidFill>
                    <a:srgbClr val="E6E9EF"/>
                  </a:solidFill>
                </a:rPr>
                <a:t>onfidence score</a:t>
              </a:r>
              <a:endParaRPr b="1" sz="1000">
                <a:solidFill>
                  <a:srgbClr val="E6E9EF"/>
                </a:solidFill>
              </a:endParaRPr>
            </a:p>
            <a:p>
              <a:pPr indent="-292100" lvl="0" marL="457200" marR="0" rtl="0" algn="l">
                <a:spcBef>
                  <a:spcPts val="0"/>
                </a:spcBef>
                <a:spcAft>
                  <a:spcPts val="0"/>
                </a:spcAft>
                <a:buClr>
                  <a:srgbClr val="E6E9EF"/>
                </a:buClr>
                <a:buSzPts val="1000"/>
                <a:buChar char="●"/>
              </a:pPr>
              <a:r>
                <a:rPr lang="en" sz="1000">
                  <a:solidFill>
                    <a:srgbClr val="E6E9EF"/>
                  </a:solidFill>
                </a:rPr>
                <a:t>Support </a:t>
              </a:r>
              <a:r>
                <a:rPr lang="en" sz="1000" u="sng">
                  <a:solidFill>
                    <a:srgbClr val="E6E9EF"/>
                  </a:solidFill>
                </a:rPr>
                <a:t>cross-modality translation</a:t>
              </a:r>
              <a:r>
                <a:rPr lang="en" sz="1000">
                  <a:solidFill>
                    <a:srgbClr val="E6E9EF"/>
                  </a:solidFill>
                </a:rPr>
                <a:t>: text-to-text, speech-to-text, text-speech, </a:t>
              </a:r>
              <a:r>
                <a:rPr b="1" lang="en" sz="1000">
                  <a:solidFill>
                    <a:srgbClr val="E6E9EF"/>
                  </a:solidFill>
                </a:rPr>
                <a:t>whiteboard </a:t>
              </a:r>
              <a:r>
                <a:rPr lang="en" sz="1000">
                  <a:solidFill>
                    <a:srgbClr val="E6E9EF"/>
                  </a:solidFill>
                </a:rPr>
                <a:t>(also translated)</a:t>
              </a:r>
              <a:endParaRPr sz="1100"/>
            </a:p>
          </p:txBody>
        </p:sp>
        <p:sp>
          <p:nvSpPr>
            <p:cNvPr id="343" name="Google Shape;343;p53"/>
            <p:cNvSpPr txBox="1"/>
            <p:nvPr/>
          </p:nvSpPr>
          <p:spPr>
            <a:xfrm>
              <a:off x="6234091" y="1543047"/>
              <a:ext cx="2415900" cy="3276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1300">
                  <a:solidFill>
                    <a:srgbClr val="4FBF8F"/>
                  </a:solidFill>
                  <a:latin typeface="Arial"/>
                  <a:ea typeface="Arial"/>
                  <a:cs typeface="Arial"/>
                  <a:sym typeface="Arial"/>
                </a:rPr>
                <a:t>Confirm it changed understanding</a:t>
              </a:r>
              <a:endParaRPr sz="1100"/>
            </a:p>
            <a:p>
              <a:pPr indent="-292100" lvl="0" marL="457200" marR="0" rtl="0" algn="l">
                <a:spcBef>
                  <a:spcPts val="900"/>
                </a:spcBef>
                <a:spcAft>
                  <a:spcPts val="0"/>
                </a:spcAft>
                <a:buClr>
                  <a:srgbClr val="E6E9EF"/>
                </a:buClr>
                <a:buSzPts val="1000"/>
                <a:buFont typeface="Arial"/>
                <a:buChar char="●"/>
              </a:pPr>
              <a:r>
                <a:rPr lang="en" sz="1000">
                  <a:solidFill>
                    <a:srgbClr val="E6E9EF"/>
                  </a:solidFill>
                </a:rPr>
                <a:t>Identifies</a:t>
              </a:r>
              <a:r>
                <a:rPr b="0" lang="en" sz="1000">
                  <a:solidFill>
                    <a:srgbClr val="E6E9EF"/>
                  </a:solidFill>
                  <a:latin typeface="Arial"/>
                  <a:ea typeface="Arial"/>
                  <a:cs typeface="Arial"/>
                  <a:sym typeface="Arial"/>
                </a:rPr>
                <a:t> </a:t>
              </a:r>
              <a:r>
                <a:rPr b="1" lang="en" sz="1000">
                  <a:solidFill>
                    <a:srgbClr val="E6E9EF"/>
                  </a:solidFill>
                </a:rPr>
                <a:t>current-activity, decisions, blockers </a:t>
              </a:r>
              <a:r>
                <a:rPr lang="en" sz="1000">
                  <a:solidFill>
                    <a:srgbClr val="E6E9EF"/>
                  </a:solidFill>
                </a:rPr>
                <a:t>with</a:t>
              </a:r>
              <a:r>
                <a:rPr b="0" lang="en" sz="1000">
                  <a:solidFill>
                    <a:srgbClr val="E6E9EF"/>
                  </a:solidFill>
                  <a:latin typeface="Arial"/>
                  <a:ea typeface="Arial"/>
                  <a:cs typeface="Arial"/>
                  <a:sym typeface="Arial"/>
                </a:rPr>
                <a:t> </a:t>
              </a:r>
              <a:r>
                <a:rPr b="0" lang="en" sz="1000" u="sng">
                  <a:solidFill>
                    <a:srgbClr val="E6E9EF"/>
                  </a:solidFill>
                  <a:latin typeface="Arial"/>
                  <a:ea typeface="Arial"/>
                  <a:cs typeface="Arial"/>
                  <a:sym typeface="Arial"/>
                </a:rPr>
                <a:t>traceable quotes</a:t>
              </a:r>
              <a:endParaRPr sz="1000" u="sng">
                <a:solidFill>
                  <a:srgbClr val="E6E9EF"/>
                </a:solidFill>
              </a:endParaRPr>
            </a:p>
            <a:p>
              <a:pPr indent="-292100" lvl="0" marL="457200" marR="0" rtl="0" algn="l">
                <a:spcBef>
                  <a:spcPts val="0"/>
                </a:spcBef>
                <a:spcAft>
                  <a:spcPts val="0"/>
                </a:spcAft>
                <a:buClr>
                  <a:srgbClr val="E6E9EF"/>
                </a:buClr>
                <a:buSzPts val="1000"/>
                <a:buFont typeface="Arial"/>
                <a:buChar char="●"/>
              </a:pPr>
              <a:r>
                <a:rPr lang="en" sz="1000">
                  <a:solidFill>
                    <a:srgbClr val="E6E9EF"/>
                  </a:solidFill>
                </a:rPr>
                <a:t>Gauges g</a:t>
              </a:r>
              <a:r>
                <a:rPr b="0" lang="en" sz="1000">
                  <a:solidFill>
                    <a:srgbClr val="E6E9EF"/>
                  </a:solidFill>
                  <a:latin typeface="Arial"/>
                  <a:ea typeface="Arial"/>
                  <a:cs typeface="Arial"/>
                  <a:sym typeface="Arial"/>
                </a:rPr>
                <a:t>roup </a:t>
              </a:r>
              <a:r>
                <a:rPr b="1" lang="en" sz="1000">
                  <a:solidFill>
                    <a:srgbClr val="E6E9EF"/>
                  </a:solidFill>
                </a:rPr>
                <a:t>confusion</a:t>
              </a:r>
              <a:r>
                <a:rPr b="1" lang="en" sz="1000">
                  <a:solidFill>
                    <a:srgbClr val="E6E9EF"/>
                  </a:solidFill>
                </a:rPr>
                <a:t>-level trends </a:t>
              </a:r>
              <a:endParaRPr b="1" sz="1000">
                <a:solidFill>
                  <a:srgbClr val="E6E9EF"/>
                </a:solidFill>
              </a:endParaRPr>
            </a:p>
            <a:p>
              <a:pPr indent="-292100" lvl="0" marL="457200" marR="0" rtl="0" algn="l">
                <a:spcBef>
                  <a:spcPts val="0"/>
                </a:spcBef>
                <a:spcAft>
                  <a:spcPts val="0"/>
                </a:spcAft>
                <a:buClr>
                  <a:srgbClr val="E6E9EF"/>
                </a:buClr>
                <a:buSzPts val="1000"/>
                <a:buFont typeface="Arial"/>
                <a:buChar char="●"/>
              </a:pPr>
              <a:r>
                <a:rPr lang="en" sz="1000">
                  <a:solidFill>
                    <a:srgbClr val="E6E9EF"/>
                  </a:solidFill>
                </a:rPr>
                <a:t>Detects </a:t>
              </a:r>
              <a:r>
                <a:rPr lang="en" sz="1000" u="sng">
                  <a:solidFill>
                    <a:srgbClr val="E6E9EF"/>
                  </a:solidFill>
                </a:rPr>
                <a:t>p</a:t>
              </a:r>
              <a:r>
                <a:rPr b="0" lang="en" sz="1000" u="sng">
                  <a:solidFill>
                    <a:srgbClr val="E6E9EF"/>
                  </a:solidFill>
                  <a:latin typeface="Arial"/>
                  <a:ea typeface="Arial"/>
                  <a:cs typeface="Arial"/>
                  <a:sym typeface="Arial"/>
                </a:rPr>
                <a:t>er-learner </a:t>
              </a:r>
              <a:r>
                <a:rPr b="0" lang="en" sz="1000">
                  <a:solidFill>
                    <a:srgbClr val="E6E9EF"/>
                  </a:solidFill>
                  <a:latin typeface="Arial"/>
                  <a:ea typeface="Arial"/>
                  <a:cs typeface="Arial"/>
                  <a:sym typeface="Arial"/>
                </a:rPr>
                <a:t>confusion </a:t>
              </a:r>
              <a:endParaRPr sz="1000">
                <a:solidFill>
                  <a:srgbClr val="E6E9EF"/>
                </a:solidFill>
              </a:endParaRPr>
            </a:p>
            <a:p>
              <a:pPr indent="-292100" lvl="0" marL="457200" marR="0" rtl="0" algn="l">
                <a:spcBef>
                  <a:spcPts val="0"/>
                </a:spcBef>
                <a:spcAft>
                  <a:spcPts val="0"/>
                </a:spcAft>
                <a:buClr>
                  <a:srgbClr val="E6E9EF"/>
                </a:buClr>
                <a:buSzPts val="1000"/>
                <a:buFont typeface="Arial"/>
                <a:buChar char="●"/>
              </a:pPr>
              <a:r>
                <a:rPr lang="en" sz="1000">
                  <a:solidFill>
                    <a:srgbClr val="E6E9EF"/>
                  </a:solidFill>
                </a:rPr>
                <a:t>Measures bl</a:t>
              </a:r>
              <a:r>
                <a:rPr b="0" lang="en" sz="1000">
                  <a:solidFill>
                    <a:srgbClr val="E6E9EF"/>
                  </a:solidFill>
                  <a:latin typeface="Arial"/>
                  <a:ea typeface="Arial"/>
                  <a:cs typeface="Arial"/>
                  <a:sym typeface="Arial"/>
                </a:rPr>
                <a:t>ocker resolution time</a:t>
              </a:r>
              <a:endParaRPr b="0" sz="1000">
                <a:solidFill>
                  <a:srgbClr val="E6E9EF"/>
                </a:solidFill>
                <a:latin typeface="Arial"/>
                <a:ea typeface="Arial"/>
                <a:cs typeface="Arial"/>
                <a:sym typeface="Arial"/>
              </a:endParaRPr>
            </a:p>
            <a:p>
              <a:pPr indent="-292100" lvl="0" marL="457200" rtl="0" algn="l">
                <a:spcBef>
                  <a:spcPts val="0"/>
                </a:spcBef>
                <a:spcAft>
                  <a:spcPts val="0"/>
                </a:spcAft>
                <a:buClr>
                  <a:srgbClr val="E6E9EF"/>
                </a:buClr>
                <a:buSzPts val="1000"/>
                <a:buChar char="●"/>
              </a:pPr>
              <a:r>
                <a:rPr lang="en" sz="1000">
                  <a:solidFill>
                    <a:srgbClr val="E6E9EF"/>
                  </a:solidFill>
                </a:rPr>
                <a:t>Feedback loop with “explain simply” button on every caption</a:t>
              </a:r>
              <a:endParaRPr sz="1000">
                <a:solidFill>
                  <a:srgbClr val="E6E9EF"/>
                </a:solidFill>
              </a:endParaRPr>
            </a:p>
          </p:txBody>
        </p:sp>
      </p:grpSp>
      <p:sp>
        <p:nvSpPr>
          <p:cNvPr id="344" name="Google Shape;344;p53"/>
          <p:cNvSpPr txBox="1"/>
          <p:nvPr/>
        </p:nvSpPr>
        <p:spPr>
          <a:xfrm>
            <a:off x="1806402" y="2012270"/>
            <a:ext cx="5421000" cy="531600"/>
          </a:xfrm>
          <a:prstGeom prst="rect">
            <a:avLst/>
          </a:prstGeom>
          <a:noFill/>
          <a:ln>
            <a:noFill/>
          </a:ln>
        </p:spPr>
        <p:txBody>
          <a:bodyPr anchorCtr="0" anchor="t" bIns="23900" lIns="47850" spcFirstLastPara="1" rIns="47850" wrap="square" tIns="23900">
            <a:spAutoFit/>
          </a:bodyPr>
          <a:lstStyle/>
          <a:p>
            <a:pPr indent="0" lvl="0" marL="0" marR="0" rtl="0" algn="ctr">
              <a:spcBef>
                <a:spcPts val="0"/>
              </a:spcBef>
              <a:spcAft>
                <a:spcPts val="0"/>
              </a:spcAft>
              <a:buNone/>
            </a:pPr>
            <a:r>
              <a:rPr b="1" i="0" lang="en" sz="3139" u="none" cap="none" strike="noStrike">
                <a:solidFill>
                  <a:srgbClr val="00FFFF"/>
                </a:solidFill>
                <a:latin typeface="Arial"/>
                <a:ea typeface="Arial"/>
                <a:cs typeface="Arial"/>
                <a:sym typeface="Arial"/>
              </a:rPr>
              <a:t>Interlinga.</a:t>
            </a:r>
            <a:r>
              <a:rPr b="1" i="0" lang="en" sz="3139" u="none" cap="none" strike="noStrike">
                <a:solidFill>
                  <a:schemeClr val="accent1"/>
                </a:solidFill>
                <a:latin typeface="Arial"/>
                <a:ea typeface="Arial"/>
                <a:cs typeface="Arial"/>
                <a:sym typeface="Arial"/>
              </a:rPr>
              <a:t>ai</a:t>
            </a:r>
            <a:endParaRPr sz="767">
              <a:solidFill>
                <a:schemeClr val="accent1"/>
              </a:solidFill>
            </a:endParaRPr>
          </a:p>
        </p:txBody>
      </p:sp>
      <p:pic>
        <p:nvPicPr>
          <p:cNvPr descr="/home/claude/interlinga-deck/logo_mark.png" id="345" name="Google Shape;345;p53"/>
          <p:cNvPicPr preferRelativeResize="0"/>
          <p:nvPr/>
        </p:nvPicPr>
        <p:blipFill rotWithShape="1">
          <a:blip r:embed="rId3">
            <a:alphaModFix/>
          </a:blip>
          <a:srcRect b="0" l="0" r="0" t="0"/>
          <a:stretch/>
        </p:blipFill>
        <p:spPr>
          <a:xfrm>
            <a:off x="3880453" y="943937"/>
            <a:ext cx="1272948" cy="932787"/>
          </a:xfrm>
          <a:prstGeom prst="rect">
            <a:avLst/>
          </a:prstGeom>
          <a:noFill/>
          <a:ln>
            <a:noFill/>
          </a:ln>
        </p:spPr>
      </p:pic>
      <p:sp>
        <p:nvSpPr>
          <p:cNvPr id="346" name="Google Shape;346;p53"/>
          <p:cNvSpPr/>
          <p:nvPr/>
        </p:nvSpPr>
        <p:spPr>
          <a:xfrm>
            <a:off x="3059936" y="3698387"/>
            <a:ext cx="205800" cy="205800"/>
          </a:xfrm>
          <a:prstGeom prst="chevron">
            <a:avLst>
              <a:gd fmla="val 50000" name="adj"/>
            </a:avLst>
          </a:prstGeom>
          <a:solidFill>
            <a:srgbClr val="8B93A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47" name="Google Shape;347;p53"/>
          <p:cNvSpPr/>
          <p:nvPr/>
        </p:nvSpPr>
        <p:spPr>
          <a:xfrm>
            <a:off x="5872780" y="3698412"/>
            <a:ext cx="205800" cy="205800"/>
          </a:xfrm>
          <a:prstGeom prst="chevron">
            <a:avLst>
              <a:gd fmla="val 50000" name="adj"/>
            </a:avLst>
          </a:prstGeom>
          <a:solidFill>
            <a:srgbClr val="8B93A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48" name="Google Shape;348;p53"/>
          <p:cNvSpPr txBox="1"/>
          <p:nvPr/>
        </p:nvSpPr>
        <p:spPr>
          <a:xfrm>
            <a:off x="7227400" y="240025"/>
            <a:ext cx="1565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E2687A"/>
                </a:solidFill>
              </a:rPr>
              <a:t>[LIVE DEMO]</a:t>
            </a:r>
            <a:endParaRPr sz="1800">
              <a:solidFill>
                <a:srgbClr val="E2687A"/>
              </a:solidFill>
            </a:endParaRPr>
          </a:p>
        </p:txBody>
      </p:sp>
    </p:spTree>
  </p:cSld>
  <p:clrMapOvr>
    <a:masterClrMapping/>
  </p:clrMapOvr>
  <p:timing>
    <p:tnLst>
      <p:par>
        <p:cTn id="1" dur="indefinite" restart="never" nodeType="tmRoot">
          <p:childTnLst>
            <p:seq concat="0" nextAc="seek">
              <p:cTn id="2" dur="indefinite" nodeType="mainSeq">
                <p:childTnLst>
                  <p:par>
                    <p:cTn id="3" fill="hold">
                      <p:stCondLst>
                        <p:cond delay="indefinite"/>
                      </p:stCondLst>
                      <p:childTnLst>
                        <p:par>
                          <p:cTn id="4" presetID="1" presetClass="entr" presetSubtype="0" fill="hold" grpId="0" nodeType="clickEffect">
                            <p:stCondLst>
                              <p:cond delay="0"/>
                            </p:stCondLst>
                            <p:childTnLst>
                              <p:set>
                                <p:cBhvr>
                                  <p:cTn id="5" dur="1" fill="hold">
                                    <p:stCondLst>
                                      <p:cond delay="0"/>
                                    </p:stCondLst>
                                  </p:cTn>
                                  <p:tgtEl>
                                    <p:spTgt spid="334"/>
                                  </p:tgtEl>
                                  <p:attrNameLst>
                                    <p:attrName>style.visibility</p:attrName>
                                  </p:attrNameLst>
                                </p:cBhvr>
                                <p:to>
                                  <p:strVal val="visible"/>
                                </p:to>
                              </p:set>
                            </p:childTnLst>
                          </p:cTn>
                        </p:par>
                        <p:par>
                          <p:cTn id="6" presetID="1" presetClass="entr" presetSubtype="0" fill="hold" grpId="1" nodeType="withEffect">
                            <p:stCondLst>
                              <p:cond delay="0"/>
                            </p:stCondLst>
                            <p:childTnLst>
                              <p:set>
                                <p:cBhvr>
                                  <p:cTn id="7" dur="1" fill="hold">
                                    <p:stCondLst>
                                      <p:cond delay="0"/>
                                    </p:stCondLst>
                                  </p:cTn>
                                  <p:tgtEl>
                                    <p:spTgt spid="344"/>
                                  </p:tgtEl>
                                  <p:attrNameLst>
                                    <p:attrName>style.visibility</p:attrName>
                                  </p:attrNameLst>
                                </p:cBhvr>
                                <p:to>
                                  <p:strVal val="visible"/>
                                </p:to>
                              </p:set>
                            </p:childTnLst>
                          </p:cTn>
                        </p:par>
                        <p:par>
                          <p:cTn id="8" presetID="1" presetClass="entr" presetSubtype="0" fill="hold" grpId="2" nodeType="withEffect">
                            <p:stCondLst>
                              <p:cond delay="0"/>
                            </p:stCondLst>
                            <p:childTnLst>
                              <p:set>
                                <p:cBhvr>
                                  <p:cTn id="9" dur="1" fill="hold">
                                    <p:stCondLst>
                                      <p:cond delay="0"/>
                                    </p:stCondLst>
                                  </p:cTn>
                                  <p:tgtEl>
                                    <p:spTgt spid="345"/>
                                  </p:tgtEl>
                                  <p:attrNameLst>
                                    <p:attrName>style.visibility</p:attrName>
                                  </p:attrNameLst>
                                </p:cBhvr>
                                <p:to>
                                  <p:strVal val="visible"/>
                                </p:to>
                              </p:set>
                            </p:childTnLst>
                          </p:cTn>
                        </p:par>
                        <p:par>
                          <p:cTn id="10" presetID="1" presetClass="entr" presetSubtype="0" fill="hold" grpId="3" nodeType="withEffect">
                            <p:stCondLst>
                              <p:cond delay="0"/>
                            </p:stCondLst>
                            <p:childTnLst>
                              <p:set>
                                <p:cBhvr>
                                  <p:cTn id="11" dur="1" fill="hold">
                                    <p:stCondLst>
                                      <p:cond delay="0"/>
                                    </p:stCondLst>
                                  </p:cTn>
                                  <p:tgtEl>
                                    <p:spTgt spid="346"/>
                                  </p:tgtEl>
                                  <p:attrNameLst>
                                    <p:attrName>style.visibility</p:attrName>
                                  </p:attrNameLst>
                                </p:cBhvr>
                                <p:to>
                                  <p:strVal val="visible"/>
                                </p:to>
                              </p:set>
                            </p:childTnLst>
                          </p:cTn>
                        </p:par>
                        <p:par>
                          <p:cTn id="12" presetID="1" presetClass="entr" presetSubtype="0" fill="hold" grpId="4" nodeType="withEffect">
                            <p:stCondLst>
                              <p:cond delay="0"/>
                            </p:stCondLst>
                            <p:childTnLst>
                              <p:set>
                                <p:cBhvr>
                                  <p:cTn id="13" dur="1" fill="hold">
                                    <p:stCondLst>
                                      <p:cond delay="0"/>
                                    </p:stCondLst>
                                  </p:cTn>
                                  <p:tgtEl>
                                    <p:spTgt spid="347"/>
                                  </p:tgtEl>
                                  <p:attrNameLst>
                                    <p:attrName>style.visibility</p:attrName>
                                  </p:attrNameLst>
                                </p:cBhvr>
                                <p:to>
                                  <p:strVal val="visible"/>
                                </p:to>
                              </p:set>
                            </p:childTnLst>
                          </p:cTn>
                        </p:par>
                      </p:childTnLst>
                    </p:cTn>
                  </p:par>
                  <p:par>
                    <p:cTn id="14" fill="hold">
                      <p:stCondLst>
                        <p:cond delay="indefinite"/>
                      </p:stCondLst>
                      <p:childTnLst>
                        <p:par>
                          <p:cTn id="15" presetID="1" presetClass="entr" presetSubtype="0" fill="hold" grpId="5" nodeType="clickEffect">
                            <p:stCondLst>
                              <p:cond delay="0"/>
                            </p:stCondLst>
                            <p:childTnLst>
                              <p:set>
                                <p:cBhvr>
                                  <p:cTn id="16" dur="1" fill="hold">
                                    <p:stCondLst>
                                      <p:cond delay="0"/>
                                    </p:stCondLst>
                                  </p:cTn>
                                  <p:tgtEl>
                                    <p:spTgt spid="348"/>
                                  </p:tgtEl>
                                  <p:attrNameLst>
                                    <p:attrName>style.visibility</p:attrName>
                                  </p:attrNameLst>
                                </p:cBhvr>
                                <p:to>
                                  <p:strVal val="visible"/>
                                </p:to>
                              </p:set>
                            </p:childTnLst>
                          </p:cTn>
                        </p:par>
                      </p:childTnLst>
                    </p:cTn>
                  </p:par>
                </p:childTnLst>
              </p:cTn>
            </p:seq>
          </p:childTnLst>
        </p:cTn>
      </p:par>
    </p:tnLst>
    <p:bldLst>
      <p:bldP spid="334" grpId="0"/>
      <p:bldP spid="344" grpId="1"/>
      <p:bldP spid="345" grpId="2"/>
      <p:bldP spid="346" grpId="3"/>
      <p:bldP spid="347" grpId="4"/>
      <p:bldP spid="348" grpId="5"/>
    </p:bld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4"/>
          <p:cNvSpPr/>
          <p:nvPr/>
        </p:nvSpPr>
        <p:spPr>
          <a:xfrm>
            <a:off x="-12" y="0"/>
            <a:ext cx="9144000" cy="5143500"/>
          </a:xfrm>
          <a:prstGeom prst="rect">
            <a:avLst/>
          </a:prstGeom>
          <a:solidFill>
            <a:srgbClr val="0D111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54" name="Google Shape;354;p54"/>
          <p:cNvSpPr txBox="1"/>
          <p:nvPr/>
        </p:nvSpPr>
        <p:spPr>
          <a:xfrm>
            <a:off x="411491" y="240030"/>
            <a:ext cx="8298300" cy="423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 sz="2300">
                <a:solidFill>
                  <a:srgbClr val="E6E9EF"/>
                </a:solidFill>
                <a:latin typeface="Arial"/>
                <a:ea typeface="Arial"/>
                <a:cs typeface="Arial"/>
                <a:sym typeface="Arial"/>
              </a:rPr>
              <a:t>Interlinga.ai is </a:t>
            </a:r>
            <a:r>
              <a:rPr b="1" lang="en" sz="2300">
                <a:solidFill>
                  <a:srgbClr val="E6E9EF"/>
                </a:solidFill>
              </a:rPr>
              <a:t>accessible</a:t>
            </a:r>
            <a:endParaRPr sz="1100"/>
          </a:p>
        </p:txBody>
      </p:sp>
      <p:sp>
        <p:nvSpPr>
          <p:cNvPr id="355" name="Google Shape;355;p54"/>
          <p:cNvSpPr/>
          <p:nvPr/>
        </p:nvSpPr>
        <p:spPr>
          <a:xfrm>
            <a:off x="411491" y="720090"/>
            <a:ext cx="754400" cy="28575"/>
          </a:xfrm>
          <a:prstGeom prst="rect">
            <a:avLst/>
          </a:prstGeom>
          <a:solidFill>
            <a:srgbClr val="4F7FD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356" name="Google Shape;356;p54"/>
          <p:cNvSpPr txBox="1"/>
          <p:nvPr/>
        </p:nvSpPr>
        <p:spPr>
          <a:xfrm>
            <a:off x="411491" y="891540"/>
            <a:ext cx="82983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 sz="1100">
                <a:solidFill>
                  <a:srgbClr val="8B93A3"/>
                </a:solidFill>
                <a:latin typeface="Arial"/>
                <a:ea typeface="Arial"/>
                <a:cs typeface="Arial"/>
                <a:sym typeface="Arial"/>
              </a:rPr>
              <a:t>Substantially WCAG 2.1 AA.</a:t>
            </a:r>
            <a:endParaRPr sz="1100"/>
          </a:p>
        </p:txBody>
      </p:sp>
      <p:graphicFrame>
        <p:nvGraphicFramePr>
          <p:cNvPr id="357" name="Google Shape;357;p54"/>
          <p:cNvGraphicFramePr/>
          <p:nvPr/>
        </p:nvGraphicFramePr>
        <p:xfrm>
          <a:off x="342909" y="1152144"/>
          <a:ext cx="3000000" cy="3000000"/>
        </p:xfrm>
        <a:graphic>
          <a:graphicData uri="http://schemas.openxmlformats.org/drawingml/2006/table">
            <a:tbl>
              <a:tblPr>
                <a:noFill/>
                <a:tableStyleId>{4116388B-F912-41BF-AC5F-0E7920A34DD1}</a:tableStyleId>
              </a:tblPr>
              <a:tblGrid>
                <a:gridCol w="925850"/>
                <a:gridCol w="1337325"/>
                <a:gridCol w="720100"/>
                <a:gridCol w="5472800"/>
              </a:tblGrid>
              <a:tr h="288025">
                <a:tc>
                  <a:txBody>
                    <a:bodyPr/>
                    <a:lstStyle/>
                    <a:p>
                      <a:pPr indent="0" lvl="0" marL="0" marR="0" rtl="0" algn="l">
                        <a:spcBef>
                          <a:spcPts val="0"/>
                        </a:spcBef>
                        <a:spcAft>
                          <a:spcPts val="0"/>
                        </a:spcAft>
                        <a:buNone/>
                      </a:pPr>
                      <a:r>
                        <a:rPr b="1" lang="en" sz="800" u="none" cap="none" strike="noStrike">
                          <a:solidFill>
                            <a:srgbClr val="4F7FD1"/>
                          </a:solidFill>
                          <a:latin typeface="Arial"/>
                          <a:ea typeface="Arial"/>
                          <a:cs typeface="Arial"/>
                          <a:sym typeface="Arial"/>
                        </a:rPr>
                        <a:t>SC</a:t>
                      </a:r>
                      <a:endParaRPr sz="1100"/>
                    </a:p>
                  </a:txBody>
                  <a:tcPr marT="13725" marB="13725" marR="54875" marL="54875" anchor="ctr">
                    <a:solidFill>
                      <a:srgbClr val="171D27"/>
                    </a:solidFill>
                  </a:tcPr>
                </a:tc>
                <a:tc>
                  <a:txBody>
                    <a:bodyPr/>
                    <a:lstStyle/>
                    <a:p>
                      <a:pPr indent="0" lvl="0" marL="0" marR="0" rtl="0" algn="l">
                        <a:spcBef>
                          <a:spcPts val="0"/>
                        </a:spcBef>
                        <a:spcAft>
                          <a:spcPts val="0"/>
                        </a:spcAft>
                        <a:buNone/>
                      </a:pPr>
                      <a:r>
                        <a:rPr b="1" lang="en" sz="800">
                          <a:solidFill>
                            <a:srgbClr val="4F7FD1"/>
                          </a:solidFill>
                          <a:latin typeface="Arial"/>
                          <a:ea typeface="Arial"/>
                          <a:cs typeface="Arial"/>
                          <a:sym typeface="Arial"/>
                        </a:rPr>
                        <a:t>Criterion</a:t>
                      </a:r>
                      <a:endParaRPr sz="1100"/>
                    </a:p>
                  </a:txBody>
                  <a:tcPr marT="13725" marB="13725" marR="54875" marL="54875" anchor="ctr">
                    <a:solidFill>
                      <a:srgbClr val="171D27"/>
                    </a:solidFill>
                  </a:tcPr>
                </a:tc>
                <a:tc>
                  <a:txBody>
                    <a:bodyPr/>
                    <a:lstStyle/>
                    <a:p>
                      <a:pPr indent="0" lvl="0" marL="0" marR="0" rtl="0" algn="l">
                        <a:spcBef>
                          <a:spcPts val="0"/>
                        </a:spcBef>
                        <a:spcAft>
                          <a:spcPts val="0"/>
                        </a:spcAft>
                        <a:buNone/>
                      </a:pPr>
                      <a:r>
                        <a:rPr b="1" lang="en" sz="800">
                          <a:solidFill>
                            <a:srgbClr val="4F7FD1"/>
                          </a:solidFill>
                          <a:latin typeface="Arial"/>
                          <a:ea typeface="Arial"/>
                          <a:cs typeface="Arial"/>
                          <a:sym typeface="Arial"/>
                        </a:rPr>
                        <a:t>Verdict</a:t>
                      </a:r>
                      <a:endParaRPr sz="1100"/>
                    </a:p>
                  </a:txBody>
                  <a:tcPr marT="13725" marB="13725" marR="54875" marL="54875" anchor="ctr">
                    <a:solidFill>
                      <a:srgbClr val="171D27"/>
                    </a:solidFill>
                  </a:tcPr>
                </a:tc>
                <a:tc>
                  <a:txBody>
                    <a:bodyPr/>
                    <a:lstStyle/>
                    <a:p>
                      <a:pPr indent="0" lvl="0" marL="0" marR="0" rtl="0" algn="l">
                        <a:spcBef>
                          <a:spcPts val="0"/>
                        </a:spcBef>
                        <a:spcAft>
                          <a:spcPts val="0"/>
                        </a:spcAft>
                        <a:buNone/>
                      </a:pPr>
                      <a:r>
                        <a:rPr b="1" lang="en" sz="800">
                          <a:solidFill>
                            <a:srgbClr val="4F7FD1"/>
                          </a:solidFill>
                          <a:latin typeface="Arial"/>
                          <a:ea typeface="Arial"/>
                          <a:cs typeface="Arial"/>
                          <a:sym typeface="Arial"/>
                        </a:rPr>
                        <a:t>Evidence</a:t>
                      </a:r>
                      <a:endParaRPr sz="1100"/>
                    </a:p>
                  </a:txBody>
                  <a:tcPr marT="13725" marB="13725" marR="54875" marL="54875" anchor="ctr">
                    <a:solidFill>
                      <a:srgbClr val="171D27"/>
                    </a:solidFill>
                  </a:tcPr>
                </a:tc>
              </a:tr>
              <a:tr h="351800">
                <a:tc>
                  <a:txBody>
                    <a:bodyPr/>
                    <a:lstStyle/>
                    <a:p>
                      <a:pPr indent="0" lvl="0" marL="0" marR="0" rtl="0" algn="l">
                        <a:spcBef>
                          <a:spcPts val="0"/>
                        </a:spcBef>
                        <a:spcAft>
                          <a:spcPts val="0"/>
                        </a:spcAft>
                        <a:buNone/>
                      </a:pPr>
                      <a:r>
                        <a:rPr lang="en" sz="700">
                          <a:solidFill>
                            <a:srgbClr val="8B93A3"/>
                          </a:solidFill>
                          <a:latin typeface="Arial"/>
                          <a:ea typeface="Arial"/>
                          <a:cs typeface="Arial"/>
                          <a:sym typeface="Arial"/>
                        </a:rPr>
                        <a:t>1.2.4 · AA</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b="1" lang="en" sz="800">
                          <a:solidFill>
                            <a:srgbClr val="E6E9EF"/>
                          </a:solidFill>
                          <a:latin typeface="Arial"/>
                          <a:ea typeface="Arial"/>
                          <a:cs typeface="Arial"/>
                          <a:sym typeface="Arial"/>
                        </a:rPr>
                        <a:t>Live captions</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b="1" lang="en" sz="800">
                          <a:solidFill>
                            <a:srgbClr val="4FBF8F"/>
                          </a:solidFill>
                          <a:latin typeface="Arial"/>
                          <a:ea typeface="Arial"/>
                          <a:cs typeface="Arial"/>
                          <a:sym typeface="Arial"/>
                        </a:rPr>
                        <a:t>Pass</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lang="en" sz="700">
                          <a:solidFill>
                            <a:srgbClr val="E6E9EF"/>
                          </a:solidFill>
                          <a:latin typeface="Arial"/>
                          <a:ea typeface="Arial"/>
                          <a:cs typeface="Arial"/>
                          <a:sym typeface="Arial"/>
                        </a:rPr>
                        <a:t>Live, translated, confidence-scored captions shipped and running.</a:t>
                      </a:r>
                      <a:endParaRPr sz="1100"/>
                    </a:p>
                  </a:txBody>
                  <a:tcPr marT="13725" marB="13725" marR="54875" marL="54875" anchor="ctr">
                    <a:solidFill>
                      <a:srgbClr val="10141B"/>
                    </a:solidFill>
                  </a:tcPr>
                </a:tc>
              </a:tr>
              <a:tr h="351800">
                <a:tc>
                  <a:txBody>
                    <a:bodyPr/>
                    <a:lstStyle/>
                    <a:p>
                      <a:pPr indent="0" lvl="0" marL="0" marR="0" rtl="0" algn="l">
                        <a:spcBef>
                          <a:spcPts val="0"/>
                        </a:spcBef>
                        <a:spcAft>
                          <a:spcPts val="0"/>
                        </a:spcAft>
                        <a:buNone/>
                      </a:pPr>
                      <a:r>
                        <a:rPr lang="en" sz="700">
                          <a:solidFill>
                            <a:srgbClr val="8B93A3"/>
                          </a:solidFill>
                          <a:latin typeface="Arial"/>
                          <a:ea typeface="Arial"/>
                          <a:cs typeface="Arial"/>
                          <a:sym typeface="Arial"/>
                        </a:rPr>
                        <a:t>2.4.1 · A</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b="1" lang="en" sz="800">
                          <a:solidFill>
                            <a:srgbClr val="E6E9EF"/>
                          </a:solidFill>
                          <a:latin typeface="Arial"/>
                          <a:ea typeface="Arial"/>
                          <a:cs typeface="Arial"/>
                          <a:sym typeface="Arial"/>
                        </a:rPr>
                        <a:t>Bypass blocks</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b="1" lang="en" sz="800">
                          <a:solidFill>
                            <a:srgbClr val="4FBF8F"/>
                          </a:solidFill>
                          <a:latin typeface="Arial"/>
                          <a:ea typeface="Arial"/>
                          <a:cs typeface="Arial"/>
                          <a:sym typeface="Arial"/>
                        </a:rPr>
                        <a:t>Pass</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lang="en" sz="700">
                          <a:solidFill>
                            <a:srgbClr val="E6E9EF"/>
                          </a:solidFill>
                          <a:latin typeface="Arial"/>
                          <a:ea typeface="Arial"/>
                          <a:cs typeface="Arial"/>
                          <a:sym typeface="Arial"/>
                        </a:rPr>
                        <a:t>Real skip-to-main-content link (sr-only → focus:not-sr-only). AppShell.tsx</a:t>
                      </a:r>
                      <a:endParaRPr sz="1100"/>
                    </a:p>
                  </a:txBody>
                  <a:tcPr marT="13725" marB="13725" marR="54875" marL="54875" anchor="ctr">
                    <a:solidFill>
                      <a:srgbClr val="0D1117"/>
                    </a:solidFill>
                  </a:tcPr>
                </a:tc>
              </a:tr>
              <a:tr h="351800">
                <a:tc>
                  <a:txBody>
                    <a:bodyPr/>
                    <a:lstStyle/>
                    <a:p>
                      <a:pPr indent="0" lvl="0" marL="0" marR="0" rtl="0" algn="l">
                        <a:spcBef>
                          <a:spcPts val="0"/>
                        </a:spcBef>
                        <a:spcAft>
                          <a:spcPts val="0"/>
                        </a:spcAft>
                        <a:buNone/>
                      </a:pPr>
                      <a:r>
                        <a:rPr lang="en" sz="700">
                          <a:solidFill>
                            <a:srgbClr val="8B93A3"/>
                          </a:solidFill>
                          <a:latin typeface="Arial"/>
                          <a:ea typeface="Arial"/>
                          <a:cs typeface="Arial"/>
                          <a:sym typeface="Arial"/>
                        </a:rPr>
                        <a:t>4.1.2 · A</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b="1" lang="en" sz="800">
                          <a:solidFill>
                            <a:srgbClr val="E6E9EF"/>
                          </a:solidFill>
                          <a:latin typeface="Arial"/>
                          <a:ea typeface="Arial"/>
                          <a:cs typeface="Arial"/>
                          <a:sym typeface="Arial"/>
                        </a:rPr>
                        <a:t>Name, role, value</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b="1" lang="en" sz="800">
                          <a:solidFill>
                            <a:srgbClr val="4FBF8F"/>
                          </a:solidFill>
                          <a:latin typeface="Arial"/>
                          <a:ea typeface="Arial"/>
                          <a:cs typeface="Arial"/>
                          <a:sym typeface="Arial"/>
                        </a:rPr>
                        <a:t>Pass</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lang="en" sz="700">
                          <a:solidFill>
                            <a:srgbClr val="E6E9EF"/>
                          </a:solidFill>
                          <a:latin typeface="Arial"/>
                          <a:ea typeface="Arial"/>
                          <a:cs typeface="Arial"/>
                          <a:sym typeface="Arial"/>
                        </a:rPr>
                        <a:t>Every media control has an explicit, localized aria-label — mic, camera, screen-share, settings, leave — via a shared button component. MeetingToolbar.tsx</a:t>
                      </a:r>
                      <a:endParaRPr sz="1100"/>
                    </a:p>
                  </a:txBody>
                  <a:tcPr marT="13725" marB="13725" marR="54875" marL="54875" anchor="ctr">
                    <a:solidFill>
                      <a:srgbClr val="10141B"/>
                    </a:solidFill>
                  </a:tcPr>
                </a:tc>
              </a:tr>
              <a:tr h="351800">
                <a:tc>
                  <a:txBody>
                    <a:bodyPr/>
                    <a:lstStyle/>
                    <a:p>
                      <a:pPr indent="0" lvl="0" marL="0" marR="0" rtl="0" algn="l">
                        <a:spcBef>
                          <a:spcPts val="0"/>
                        </a:spcBef>
                        <a:spcAft>
                          <a:spcPts val="0"/>
                        </a:spcAft>
                        <a:buNone/>
                      </a:pPr>
                      <a:r>
                        <a:rPr lang="en" sz="700">
                          <a:solidFill>
                            <a:srgbClr val="8B93A3"/>
                          </a:solidFill>
                          <a:latin typeface="Arial"/>
                          <a:ea typeface="Arial"/>
                          <a:cs typeface="Arial"/>
                          <a:sym typeface="Arial"/>
                        </a:rPr>
                        <a:t>4.1.3 · AA</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b="1" lang="en" sz="800">
                          <a:solidFill>
                            <a:srgbClr val="E6E9EF"/>
                          </a:solidFill>
                          <a:latin typeface="Arial"/>
                          <a:ea typeface="Arial"/>
                          <a:cs typeface="Arial"/>
                          <a:sym typeface="Arial"/>
                        </a:rPr>
                        <a:t>Status messages</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b="1" lang="en" sz="800">
                          <a:solidFill>
                            <a:srgbClr val="4FBF8F"/>
                          </a:solidFill>
                          <a:latin typeface="Arial"/>
                          <a:ea typeface="Arial"/>
                          <a:cs typeface="Arial"/>
                          <a:sym typeface="Arial"/>
                        </a:rPr>
                        <a:t>Pass</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lang="en" sz="700">
                          <a:solidFill>
                            <a:srgbClr val="E6E9EF"/>
                          </a:solidFill>
                          <a:latin typeface="Arial"/>
                          <a:ea typeface="Arial"/>
                          <a:cs typeface="Arial"/>
                          <a:sym typeface="Arial"/>
                        </a:rPr>
                        <a:t>aria-live="polite" on transcript feed &amp; chat — deliberately not "assertive," by comment.</a:t>
                      </a:r>
                      <a:endParaRPr sz="1100"/>
                    </a:p>
                  </a:txBody>
                  <a:tcPr marT="13725" marB="13725" marR="54875" marL="54875" anchor="ctr">
                    <a:solidFill>
                      <a:srgbClr val="0D1117"/>
                    </a:solidFill>
                  </a:tcPr>
                </a:tc>
              </a:tr>
              <a:tr h="351800">
                <a:tc>
                  <a:txBody>
                    <a:bodyPr/>
                    <a:lstStyle/>
                    <a:p>
                      <a:pPr indent="0" lvl="0" marL="0" marR="0" rtl="0" algn="l">
                        <a:spcBef>
                          <a:spcPts val="0"/>
                        </a:spcBef>
                        <a:spcAft>
                          <a:spcPts val="0"/>
                        </a:spcAft>
                        <a:buNone/>
                      </a:pPr>
                      <a:r>
                        <a:rPr lang="en" sz="700">
                          <a:solidFill>
                            <a:srgbClr val="8B93A3"/>
                          </a:solidFill>
                          <a:latin typeface="Arial"/>
                          <a:ea typeface="Arial"/>
                          <a:cs typeface="Arial"/>
                          <a:sym typeface="Arial"/>
                        </a:rPr>
                        <a:t>3.1.1 · A</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b="1" lang="en" sz="800">
                          <a:solidFill>
                            <a:srgbClr val="E6E9EF"/>
                          </a:solidFill>
                          <a:latin typeface="Arial"/>
                          <a:ea typeface="Arial"/>
                          <a:cs typeface="Arial"/>
                          <a:sym typeface="Arial"/>
                        </a:rPr>
                        <a:t>Language of page</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b="1" lang="en" sz="800">
                          <a:solidFill>
                            <a:srgbClr val="4FBF8F"/>
                          </a:solidFill>
                          <a:latin typeface="Arial"/>
                          <a:ea typeface="Arial"/>
                          <a:cs typeface="Arial"/>
                          <a:sym typeface="Arial"/>
                        </a:rPr>
                        <a:t>Pass</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lang="en" sz="700">
                          <a:solidFill>
                            <a:srgbClr val="E6E9EF"/>
                          </a:solidFill>
                          <a:latin typeface="Arial"/>
                          <a:ea typeface="Arial"/>
                          <a:cs typeface="Arial"/>
                          <a:sym typeface="Arial"/>
                        </a:rPr>
                        <a:t>&lt;html lang&gt; set dynamically per session language.</a:t>
                      </a:r>
                      <a:endParaRPr sz="1100"/>
                    </a:p>
                  </a:txBody>
                  <a:tcPr marT="13725" marB="13725" marR="54875" marL="54875" anchor="ctr">
                    <a:solidFill>
                      <a:srgbClr val="10141B"/>
                    </a:solidFill>
                  </a:tcPr>
                </a:tc>
              </a:tr>
              <a:tr h="351800">
                <a:tc>
                  <a:txBody>
                    <a:bodyPr/>
                    <a:lstStyle/>
                    <a:p>
                      <a:pPr indent="0" lvl="0" marL="0" marR="0" rtl="0" algn="l">
                        <a:spcBef>
                          <a:spcPts val="0"/>
                        </a:spcBef>
                        <a:spcAft>
                          <a:spcPts val="0"/>
                        </a:spcAft>
                        <a:buNone/>
                      </a:pPr>
                      <a:r>
                        <a:rPr lang="en" sz="700">
                          <a:solidFill>
                            <a:srgbClr val="8B93A3"/>
                          </a:solidFill>
                          <a:latin typeface="Arial"/>
                          <a:ea typeface="Arial"/>
                          <a:cs typeface="Arial"/>
                          <a:sym typeface="Arial"/>
                        </a:rPr>
                        <a:t>2.4.7 · AA</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b="1" lang="en" sz="800">
                          <a:solidFill>
                            <a:srgbClr val="E6E9EF"/>
                          </a:solidFill>
                          <a:latin typeface="Arial"/>
                          <a:ea typeface="Arial"/>
                          <a:cs typeface="Arial"/>
                          <a:sym typeface="Arial"/>
                        </a:rPr>
                        <a:t>Focus visible</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b="1" lang="en" sz="800">
                          <a:solidFill>
                            <a:srgbClr val="4FBF8F"/>
                          </a:solidFill>
                          <a:latin typeface="Arial"/>
                          <a:ea typeface="Arial"/>
                          <a:cs typeface="Arial"/>
                          <a:sym typeface="Arial"/>
                        </a:rPr>
                        <a:t>Pass</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lang="en" sz="700">
                          <a:solidFill>
                            <a:srgbClr val="E6E9EF"/>
                          </a:solidFill>
                          <a:latin typeface="Arial"/>
                          <a:ea typeface="Arial"/>
                          <a:cs typeface="Arial"/>
                          <a:sym typeface="Arial"/>
                        </a:rPr>
                        <a:t>Consistent focus:ring pattern app-wide, plus a UAT pass (#125) that found &amp; fixed real keyboard-focus loss after confirm dialogs.</a:t>
                      </a:r>
                      <a:endParaRPr sz="1100"/>
                    </a:p>
                  </a:txBody>
                  <a:tcPr marT="13725" marB="13725" marR="54875" marL="54875" anchor="ctr">
                    <a:solidFill>
                      <a:srgbClr val="0D1117"/>
                    </a:solidFill>
                  </a:tcPr>
                </a:tc>
              </a:tr>
              <a:tr h="351800">
                <a:tc>
                  <a:txBody>
                    <a:bodyPr/>
                    <a:lstStyle/>
                    <a:p>
                      <a:pPr indent="0" lvl="0" marL="0" marR="0" rtl="0" algn="l">
                        <a:spcBef>
                          <a:spcPts val="0"/>
                        </a:spcBef>
                        <a:spcAft>
                          <a:spcPts val="0"/>
                        </a:spcAft>
                        <a:buNone/>
                      </a:pPr>
                      <a:r>
                        <a:rPr lang="en" sz="700">
                          <a:solidFill>
                            <a:srgbClr val="8B93A3"/>
                          </a:solidFill>
                          <a:latin typeface="Arial"/>
                          <a:ea typeface="Arial"/>
                          <a:cs typeface="Arial"/>
                          <a:sym typeface="Arial"/>
                        </a:rPr>
                        <a:t>1.4.4 · AA</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b="1" lang="en" sz="800">
                          <a:solidFill>
                            <a:srgbClr val="E6E9EF"/>
                          </a:solidFill>
                          <a:latin typeface="Arial"/>
                          <a:ea typeface="Arial"/>
                          <a:cs typeface="Arial"/>
                          <a:sym typeface="Arial"/>
                        </a:rPr>
                        <a:t>Resize text</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b="1" lang="en" sz="800">
                          <a:solidFill>
                            <a:srgbClr val="4FBF8F"/>
                          </a:solidFill>
                          <a:latin typeface="Arial"/>
                          <a:ea typeface="Arial"/>
                          <a:cs typeface="Arial"/>
                          <a:sym typeface="Arial"/>
                        </a:rPr>
                        <a:t>Pass</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lang="en" sz="700">
                          <a:solidFill>
                            <a:srgbClr val="E6E9EF"/>
                          </a:solidFill>
                          <a:latin typeface="Arial"/>
                          <a:ea typeface="Arial"/>
                          <a:cs typeface="Arial"/>
                          <a:sym typeface="Arial"/>
                        </a:rPr>
                        <a:t>App-wide font-size control, not scoped to one panel. AccessibilityPanel.tsx</a:t>
                      </a:r>
                      <a:endParaRPr sz="1100"/>
                    </a:p>
                  </a:txBody>
                  <a:tcPr marT="13725" marB="13725" marR="54875" marL="54875" anchor="ctr">
                    <a:solidFill>
                      <a:srgbClr val="10141B"/>
                    </a:solidFill>
                  </a:tcPr>
                </a:tc>
              </a:tr>
              <a:tr h="351800">
                <a:tc>
                  <a:txBody>
                    <a:bodyPr/>
                    <a:lstStyle/>
                    <a:p>
                      <a:pPr indent="0" lvl="0" marL="0" marR="0" rtl="0" algn="l">
                        <a:spcBef>
                          <a:spcPts val="0"/>
                        </a:spcBef>
                        <a:spcAft>
                          <a:spcPts val="0"/>
                        </a:spcAft>
                        <a:buNone/>
                      </a:pPr>
                      <a:r>
                        <a:rPr lang="en" sz="700">
                          <a:solidFill>
                            <a:srgbClr val="8B93A3"/>
                          </a:solidFill>
                          <a:latin typeface="Arial"/>
                          <a:ea typeface="Arial"/>
                          <a:cs typeface="Arial"/>
                          <a:sym typeface="Arial"/>
                        </a:rPr>
                        <a:t>1.4.3 / 1.4.11 · AA</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b="1" lang="en" sz="800">
                          <a:solidFill>
                            <a:srgbClr val="E6E9EF"/>
                          </a:solidFill>
                          <a:latin typeface="Arial"/>
                          <a:ea typeface="Arial"/>
                          <a:cs typeface="Arial"/>
                          <a:sym typeface="Arial"/>
                        </a:rPr>
                        <a:t>Contrast (text &amp; non-text)</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b="1" lang="en" sz="800">
                          <a:solidFill>
                            <a:srgbClr val="4FBF8F"/>
                          </a:solidFill>
                          <a:latin typeface="Arial"/>
                          <a:ea typeface="Arial"/>
                          <a:cs typeface="Arial"/>
                          <a:sym typeface="Arial"/>
                        </a:rPr>
                        <a:t>Pass</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lang="en" sz="700">
                          <a:solidFill>
                            <a:srgbClr val="E6E9EF"/>
                          </a:solidFill>
                          <a:latin typeface="Arial"/>
                          <a:ea typeface="Arial"/>
                          <a:cs typeface="Arial"/>
                          <a:sym typeface="Arial"/>
                        </a:rPr>
                        <a:t>A 3.73:1 button fill (below the 4.5:1 minimum) was caught and fixed with a dedicated --accent-fill token, verified across all four themes.</a:t>
                      </a:r>
                      <a:endParaRPr sz="1100"/>
                    </a:p>
                  </a:txBody>
                  <a:tcPr marT="13725" marB="13725" marR="54875" marL="54875" anchor="ctr">
                    <a:solidFill>
                      <a:srgbClr val="0D1117"/>
                    </a:solidFill>
                  </a:tcPr>
                </a:tc>
              </a:tr>
              <a:tr h="351800">
                <a:tc>
                  <a:txBody>
                    <a:bodyPr/>
                    <a:lstStyle/>
                    <a:p>
                      <a:pPr indent="0" lvl="0" marL="0" marR="0" rtl="0" algn="l">
                        <a:spcBef>
                          <a:spcPts val="0"/>
                        </a:spcBef>
                        <a:spcAft>
                          <a:spcPts val="0"/>
                        </a:spcAft>
                        <a:buNone/>
                      </a:pPr>
                      <a:r>
                        <a:rPr lang="en" sz="700">
                          <a:solidFill>
                            <a:srgbClr val="8B93A3"/>
                          </a:solidFill>
                          <a:latin typeface="Arial"/>
                          <a:ea typeface="Arial"/>
                          <a:cs typeface="Arial"/>
                          <a:sym typeface="Arial"/>
                        </a:rPr>
                        <a:t>2.1.1 · A</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b="1" lang="en" sz="800">
                          <a:solidFill>
                            <a:srgbClr val="E6E9EF"/>
                          </a:solidFill>
                          <a:latin typeface="Arial"/>
                          <a:ea typeface="Arial"/>
                          <a:cs typeface="Arial"/>
                          <a:sym typeface="Arial"/>
                        </a:rPr>
                        <a:t>Keyboard</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b="1" lang="en" sz="800">
                          <a:solidFill>
                            <a:srgbClr val="D9A94A"/>
                          </a:solidFill>
                          <a:latin typeface="Arial"/>
                          <a:ea typeface="Arial"/>
                          <a:cs typeface="Arial"/>
                          <a:sym typeface="Arial"/>
                        </a:rPr>
                        <a:t>Partial</a:t>
                      </a:r>
                      <a:endParaRPr sz="1100"/>
                    </a:p>
                  </a:txBody>
                  <a:tcPr marT="13725" marB="13725" marR="54875" marL="54875" anchor="ctr">
                    <a:solidFill>
                      <a:srgbClr val="10141B"/>
                    </a:solidFill>
                  </a:tcPr>
                </a:tc>
                <a:tc>
                  <a:txBody>
                    <a:bodyPr/>
                    <a:lstStyle/>
                    <a:p>
                      <a:pPr indent="0" lvl="0" marL="0" marR="0" rtl="0" algn="l">
                        <a:spcBef>
                          <a:spcPts val="0"/>
                        </a:spcBef>
                        <a:spcAft>
                          <a:spcPts val="0"/>
                        </a:spcAft>
                        <a:buNone/>
                      </a:pPr>
                      <a:r>
                        <a:rPr lang="en" sz="700">
                          <a:solidFill>
                            <a:srgbClr val="E6E9EF"/>
                          </a:solidFill>
                          <a:latin typeface="Arial"/>
                          <a:ea typeface="Arial"/>
                          <a:cs typeface="Arial"/>
                          <a:sym typeface="Arial"/>
                        </a:rPr>
                        <a:t>Core call controls fully keyboard-operable. The whiteboard (merged, PR #129) inherits Excalidraw's own partial keyboard support — freeform canvas navigation is limited, same as Miro/FigJam industry-wide.</a:t>
                      </a:r>
                      <a:endParaRPr sz="1100"/>
                    </a:p>
                  </a:txBody>
                  <a:tcPr marT="13725" marB="13725" marR="54875" marL="54875" anchor="ctr">
                    <a:solidFill>
                      <a:srgbClr val="10141B"/>
                    </a:solidFill>
                  </a:tcPr>
                </a:tc>
              </a:tr>
              <a:tr h="351800">
                <a:tc>
                  <a:txBody>
                    <a:bodyPr/>
                    <a:lstStyle/>
                    <a:p>
                      <a:pPr indent="0" lvl="0" marL="0" marR="0" rtl="0" algn="l">
                        <a:spcBef>
                          <a:spcPts val="0"/>
                        </a:spcBef>
                        <a:spcAft>
                          <a:spcPts val="0"/>
                        </a:spcAft>
                        <a:buNone/>
                      </a:pPr>
                      <a:r>
                        <a:rPr lang="en" sz="700">
                          <a:solidFill>
                            <a:srgbClr val="8B93A3"/>
                          </a:solidFill>
                          <a:latin typeface="Arial"/>
                          <a:ea typeface="Arial"/>
                          <a:cs typeface="Arial"/>
                          <a:sym typeface="Arial"/>
                        </a:rPr>
                        <a:t>2.3.3 · AAA</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b="1" lang="en" sz="800">
                          <a:solidFill>
                            <a:srgbClr val="E6E9EF"/>
                          </a:solidFill>
                          <a:latin typeface="Arial"/>
                          <a:ea typeface="Arial"/>
                          <a:cs typeface="Arial"/>
                          <a:sym typeface="Arial"/>
                        </a:rPr>
                        <a:t>Animation from interactions</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b="1" lang="en" sz="800">
                          <a:solidFill>
                            <a:srgbClr val="E2687A"/>
                          </a:solidFill>
                          <a:latin typeface="Arial"/>
                          <a:ea typeface="Arial"/>
                          <a:cs typeface="Arial"/>
                          <a:sym typeface="Arial"/>
                        </a:rPr>
                        <a:t>Gap</a:t>
                      </a:r>
                      <a:endParaRPr sz="1100"/>
                    </a:p>
                  </a:txBody>
                  <a:tcPr marT="13725" marB="13725" marR="54875" marL="54875" anchor="ctr">
                    <a:solidFill>
                      <a:srgbClr val="0D1117"/>
                    </a:solidFill>
                  </a:tcPr>
                </a:tc>
                <a:tc>
                  <a:txBody>
                    <a:bodyPr/>
                    <a:lstStyle/>
                    <a:p>
                      <a:pPr indent="0" lvl="0" marL="0" marR="0" rtl="0" algn="l">
                        <a:spcBef>
                          <a:spcPts val="0"/>
                        </a:spcBef>
                        <a:spcAft>
                          <a:spcPts val="0"/>
                        </a:spcAft>
                        <a:buNone/>
                      </a:pPr>
                      <a:r>
                        <a:rPr lang="en" sz="700">
                          <a:solidFill>
                            <a:srgbClr val="E6E9EF"/>
                          </a:solidFill>
                          <a:latin typeface="Arial"/>
                          <a:ea typeface="Arial"/>
                          <a:cs typeface="Arial"/>
                          <a:sym typeface="Arial"/>
                        </a:rPr>
                        <a:t>No prefers-reduced-motion handling found. AAA, not required for an AA claim.</a:t>
                      </a:r>
                      <a:endParaRPr sz="1100"/>
                    </a:p>
                  </a:txBody>
                  <a:tcPr marT="13725" marB="13725" marR="54875" marL="54875" anchor="ctr">
                    <a:solidFill>
                      <a:srgbClr val="0D1117"/>
                    </a:solidFill>
                  </a:tcPr>
                </a:tc>
              </a:tr>
            </a:tbl>
          </a:graphicData>
        </a:graphic>
      </p:graphicFrame>
    </p:spTree>
  </p:cSld>
  <p:clrMapOvr>
    <a:masterClrMapping/>
  </p:clrMapOvr>
  <p:timing>
    <p:tnLst>
      <p:par>
        <p:cTn id="1" dur="indefinite" restart="never" nodeType="tmRoot">
          <p:childTnLst>
            <p:seq concat="0" nextAc="seek">
              <p:cTn id="2" dur="indefinite" nodeType="mainSeq">
                <p:childTnLst>
                  <p:par>
                    <p:cTn id="3" fill="hold">
                      <p:stCondLst>
                        <p:cond delay="indefinite"/>
                      </p:stCondLst>
                      <p:childTnLst>
                        <p:par>
                          <p:cTn id="4" presetID="1" presetClass="entr" presetSubtype="0" fill="hold" grpId="0" nodeType="clickEffect">
                            <p:stCondLst>
                              <p:cond delay="0"/>
                            </p:stCondLst>
                            <p:childTnLst>
                              <p:set>
                                <p:cBhvr>
                                  <p:cTn id="5" dur="1" fill="hold">
                                    <p:stCondLst>
                                      <p:cond delay="0"/>
                                    </p:stCondLst>
                                  </p:cTn>
                                  <p:tgtEl>
                                    <p:spTgt spid="356"/>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grpId="1" nodeType="clickEffect">
                            <p:stCondLst>
                              <p:cond delay="0"/>
                            </p:stCondLst>
                            <p:childTnLst>
                              <p:set>
                                <p:cBhvr>
                                  <p:cTn id="8" dur="1" fill="hold">
                                    <p:stCondLst>
                                      <p:cond delay="0"/>
                                    </p:stCondLst>
                                  </p:cTn>
                                  <p:tgtEl>
                                    <p:spTgt spid="357"/>
                                  </p:tgtEl>
                                  <p:attrNameLst>
                                    <p:attrName>style.visibility</p:attrName>
                                  </p:attrNameLst>
                                </p:cBhvr>
                                <p:to>
                                  <p:strVal val="visible"/>
                                </p:to>
                              </p:set>
                            </p:childTnLst>
                          </p:cTn>
                        </p:par>
                      </p:childTnLst>
                    </p:cTn>
                  </p:par>
                </p:childTnLst>
              </p:cTn>
            </p:seq>
          </p:childTnLst>
        </p:cTn>
      </p:par>
    </p:tnLst>
    <p:bldLst>
      <p:bldP spid="356" grpId="0"/>
      <p:bldP spid="357" grpId="1"/>
    </p:bld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5"/>
          <p:cNvSpPr/>
          <p:nvPr/>
        </p:nvSpPr>
        <p:spPr>
          <a:xfrm>
            <a:off x="0" y="0"/>
            <a:ext cx="9144015" cy="5143500"/>
          </a:xfrm>
          <a:prstGeom prst="rect">
            <a:avLst/>
          </a:prstGeom>
          <a:solidFill>
            <a:srgbClr val="0D1117"/>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3" name="Google Shape;363;p55"/>
          <p:cNvSpPr txBox="1"/>
          <p:nvPr/>
        </p:nvSpPr>
        <p:spPr>
          <a:xfrm>
            <a:off x="411491" y="240030"/>
            <a:ext cx="8298300" cy="423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E6E9EF"/>
                </a:solidFill>
                <a:latin typeface="Arial"/>
                <a:ea typeface="Arial"/>
                <a:cs typeface="Arial"/>
                <a:sym typeface="Arial"/>
              </a:rPr>
              <a:t>Interlinga.ai respects privacy</a:t>
            </a:r>
            <a:endParaRPr b="0" i="0" sz="1100" u="none" cap="none" strike="noStrike">
              <a:solidFill>
                <a:srgbClr val="000000"/>
              </a:solidFill>
              <a:latin typeface="Arial"/>
              <a:ea typeface="Arial"/>
              <a:cs typeface="Arial"/>
              <a:sym typeface="Arial"/>
            </a:endParaRPr>
          </a:p>
        </p:txBody>
      </p:sp>
      <p:sp>
        <p:nvSpPr>
          <p:cNvPr id="364" name="Google Shape;364;p55"/>
          <p:cNvSpPr/>
          <p:nvPr/>
        </p:nvSpPr>
        <p:spPr>
          <a:xfrm>
            <a:off x="411491" y="720090"/>
            <a:ext cx="754400" cy="28575"/>
          </a:xfrm>
          <a:prstGeom prst="rect">
            <a:avLst/>
          </a:prstGeom>
          <a:solidFill>
            <a:srgbClr val="4F7FD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
        <p:nvSpPr>
          <p:cNvPr id="365" name="Google Shape;365;p55"/>
          <p:cNvSpPr txBox="1"/>
          <p:nvPr/>
        </p:nvSpPr>
        <p:spPr>
          <a:xfrm>
            <a:off x="411491" y="891540"/>
            <a:ext cx="82983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t/>
            </a:r>
            <a:endParaRPr/>
          </a:p>
        </p:txBody>
      </p:sp>
      <p:sp>
        <p:nvSpPr>
          <p:cNvPr id="366" name="Google Shape;366;p55"/>
          <p:cNvSpPr/>
          <p:nvPr/>
        </p:nvSpPr>
        <p:spPr>
          <a:xfrm>
            <a:off x="411491" y="140000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AUDIO / T</a:t>
            </a:r>
            <a:r>
              <a:rPr b="1" lang="en" sz="1100">
                <a:solidFill>
                  <a:srgbClr val="E6E9EF"/>
                </a:solidFill>
              </a:rPr>
              <a:t>EXT</a:t>
            </a:r>
            <a:endParaRPr/>
          </a:p>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IN</a:t>
            </a:r>
            <a:endParaRPr/>
          </a:p>
        </p:txBody>
      </p:sp>
      <p:sp>
        <p:nvSpPr>
          <p:cNvPr id="367" name="Google Shape;367;p55"/>
          <p:cNvSpPr/>
          <p:nvPr/>
        </p:nvSpPr>
        <p:spPr>
          <a:xfrm>
            <a:off x="2754669" y="140000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STT / TTS / TTT +</a:t>
            </a:r>
            <a:endParaRPr/>
          </a:p>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TRANSLATE</a:t>
            </a:r>
            <a:endParaRPr/>
          </a:p>
        </p:txBody>
      </p:sp>
      <p:sp>
        <p:nvSpPr>
          <p:cNvPr id="368" name="Google Shape;368;p55"/>
          <p:cNvSpPr/>
          <p:nvPr/>
        </p:nvSpPr>
        <p:spPr>
          <a:xfrm>
            <a:off x="5097847" y="140000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INSIGHT</a:t>
            </a:r>
            <a:endParaRPr/>
          </a:p>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LAYER</a:t>
            </a:r>
            <a:endParaRPr/>
          </a:p>
        </p:txBody>
      </p:sp>
      <p:sp>
        <p:nvSpPr>
          <p:cNvPr id="369" name="Google Shape;369;p55"/>
          <p:cNvSpPr/>
          <p:nvPr/>
        </p:nvSpPr>
        <p:spPr>
          <a:xfrm>
            <a:off x="7441025" y="1400000"/>
            <a:ext cx="1268764" cy="72009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LEARNER'S</a:t>
            </a:r>
            <a:endParaRPr/>
          </a:p>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SCREEN</a:t>
            </a:r>
            <a:endParaRPr/>
          </a:p>
        </p:txBody>
      </p:sp>
      <p:sp>
        <p:nvSpPr>
          <p:cNvPr id="370" name="Google Shape;370;p55"/>
          <p:cNvSpPr/>
          <p:nvPr/>
        </p:nvSpPr>
        <p:spPr>
          <a:xfrm>
            <a:off x="2100873" y="1643456"/>
            <a:ext cx="233178" cy="233178"/>
          </a:xfrm>
          <a:prstGeom prst="chevron">
            <a:avLst>
              <a:gd fmla="val 50000" name="adj"/>
            </a:avLst>
          </a:prstGeom>
          <a:solidFill>
            <a:srgbClr val="4F7FD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55"/>
          <p:cNvSpPr/>
          <p:nvPr/>
        </p:nvSpPr>
        <p:spPr>
          <a:xfrm>
            <a:off x="4444051" y="1643456"/>
            <a:ext cx="233178" cy="233178"/>
          </a:xfrm>
          <a:prstGeom prst="chevron">
            <a:avLst>
              <a:gd fmla="val 50000" name="adj"/>
            </a:avLst>
          </a:prstGeom>
          <a:solidFill>
            <a:srgbClr val="8B93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55"/>
          <p:cNvSpPr/>
          <p:nvPr/>
        </p:nvSpPr>
        <p:spPr>
          <a:xfrm>
            <a:off x="6787229" y="1643456"/>
            <a:ext cx="233178" cy="233178"/>
          </a:xfrm>
          <a:prstGeom prst="chevron">
            <a:avLst>
              <a:gd fmla="val 50000" name="adj"/>
            </a:avLst>
          </a:prstGeom>
          <a:solidFill>
            <a:srgbClr val="C47CB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55"/>
          <p:cNvSpPr txBox="1"/>
          <p:nvPr/>
        </p:nvSpPr>
        <p:spPr>
          <a:xfrm>
            <a:off x="1217462" y="2146090"/>
            <a:ext cx="2000100" cy="271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800" u="none" cap="none" strike="noStrike">
                <a:solidFill>
                  <a:srgbClr val="4F7FD1"/>
                </a:solidFill>
                <a:latin typeface="Arial"/>
                <a:ea typeface="Arial"/>
                <a:cs typeface="Arial"/>
                <a:sym typeface="Arial"/>
              </a:rPr>
              <a:t>NOT RECORDED</a:t>
            </a:r>
            <a:endParaRPr/>
          </a:p>
          <a:p>
            <a:pPr indent="0" lvl="0" marL="0" marR="0" rtl="0" algn="ctr">
              <a:lnSpc>
                <a:spcPct val="100000"/>
              </a:lnSpc>
              <a:spcBef>
                <a:spcPts val="200"/>
              </a:spcBef>
              <a:spcAft>
                <a:spcPts val="0"/>
              </a:spcAft>
              <a:buNone/>
            </a:pPr>
            <a:r>
              <a:rPr b="0" i="0" lang="en" sz="800" u="none" cap="none" strike="noStrike">
                <a:solidFill>
                  <a:srgbClr val="8B93A3"/>
                </a:solidFill>
                <a:latin typeface="Arial"/>
                <a:ea typeface="Arial"/>
                <a:cs typeface="Arial"/>
                <a:sym typeface="Arial"/>
              </a:rPr>
              <a:t>stored only if a facilitator opts in</a:t>
            </a:r>
            <a:endParaRPr/>
          </a:p>
        </p:txBody>
      </p:sp>
      <p:sp>
        <p:nvSpPr>
          <p:cNvPr id="374" name="Google Shape;374;p55"/>
          <p:cNvSpPr txBox="1"/>
          <p:nvPr/>
        </p:nvSpPr>
        <p:spPr>
          <a:xfrm>
            <a:off x="5903818" y="2146090"/>
            <a:ext cx="2000100" cy="395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 sz="800" u="none" cap="none" strike="noStrike">
                <a:solidFill>
                  <a:srgbClr val="C47CB8"/>
                </a:solidFill>
                <a:latin typeface="Arial"/>
                <a:ea typeface="Arial"/>
                <a:cs typeface="Arial"/>
                <a:sym typeface="Arial"/>
              </a:rPr>
              <a:t>REDACTED SERVER-SIDE</a:t>
            </a:r>
            <a:endParaRPr/>
          </a:p>
          <a:p>
            <a:pPr indent="0" lvl="0" marL="0" marR="0" rtl="0" algn="ctr">
              <a:lnSpc>
                <a:spcPct val="100000"/>
              </a:lnSpc>
              <a:spcBef>
                <a:spcPts val="200"/>
              </a:spcBef>
              <a:spcAft>
                <a:spcPts val="0"/>
              </a:spcAft>
              <a:buNone/>
            </a:pPr>
            <a:r>
              <a:rPr lang="en" sz="800">
                <a:solidFill>
                  <a:srgbClr val="8B93A3"/>
                </a:solidFill>
              </a:rPr>
              <a:t>I</a:t>
            </a:r>
            <a:r>
              <a:rPr lang="en" sz="800">
                <a:solidFill>
                  <a:srgbClr val="8B93A3"/>
                </a:solidFill>
              </a:rPr>
              <a:t>f message sent anonymously, </a:t>
            </a:r>
            <a:r>
              <a:rPr b="0" i="0" lang="en" sz="800" u="none" cap="none" strike="noStrike">
                <a:solidFill>
                  <a:srgbClr val="8B93A3"/>
                </a:solidFill>
                <a:latin typeface="Arial"/>
                <a:ea typeface="Arial"/>
                <a:cs typeface="Arial"/>
                <a:sym typeface="Arial"/>
              </a:rPr>
              <a:t>names stripped before the page ever renders</a:t>
            </a:r>
            <a:endParaRPr/>
          </a:p>
        </p:txBody>
      </p:sp>
      <p:sp>
        <p:nvSpPr>
          <p:cNvPr id="375" name="Google Shape;375;p55"/>
          <p:cNvSpPr/>
          <p:nvPr/>
        </p:nvSpPr>
        <p:spPr>
          <a:xfrm>
            <a:off x="3289051" y="2420090"/>
            <a:ext cx="200000" cy="260000"/>
          </a:xfrm>
          <a:prstGeom prst="upArrow">
            <a:avLst>
              <a:gd fmla="val 50000" name="adj1"/>
              <a:gd fmla="val 50000" name="adj2"/>
            </a:avLst>
          </a:prstGeom>
          <a:solidFill>
            <a:srgbClr val="4FBF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55"/>
          <p:cNvSpPr/>
          <p:nvPr/>
        </p:nvSpPr>
        <p:spPr>
          <a:xfrm>
            <a:off x="5632229" y="2420090"/>
            <a:ext cx="200000" cy="260000"/>
          </a:xfrm>
          <a:prstGeom prst="upArrow">
            <a:avLst>
              <a:gd fmla="val 50000" name="adj1"/>
              <a:gd fmla="val 50000" name="adj2"/>
            </a:avLst>
          </a:prstGeom>
          <a:solidFill>
            <a:srgbClr val="4FBF8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55"/>
          <p:cNvSpPr/>
          <p:nvPr/>
        </p:nvSpPr>
        <p:spPr>
          <a:xfrm>
            <a:off x="2754669" y="2700090"/>
            <a:ext cx="3611942" cy="620000"/>
          </a:xfrm>
          <a:prstGeom prst="roundRect">
            <a:avLst>
              <a:gd fmla="val 6000" name="adj"/>
            </a:avLst>
          </a:prstGeom>
          <a:solidFill>
            <a:srgbClr val="10141B"/>
          </a:solidFill>
          <a:ln cap="flat" cmpd="sng" w="15875">
            <a:solidFill>
              <a:srgbClr val="4FBF8F"/>
            </a:solidFill>
            <a:prstDash val="solid"/>
            <a:round/>
            <a:headEnd len="sm" w="sm" type="none"/>
            <a:tailEnd len="sm" w="sm" type="none"/>
          </a:ln>
        </p:spPr>
        <p:txBody>
          <a:bodyPr anchorCtr="0" anchor="ctr" bIns="45700" lIns="140000" spcFirstLastPara="1" rIns="140000" wrap="square" tIns="45700">
            <a:noAutofit/>
          </a:bodyPr>
          <a:lstStyle/>
          <a:p>
            <a:pPr indent="0" lvl="0" marL="0" marR="0" rtl="0" algn="ctr">
              <a:lnSpc>
                <a:spcPct val="100000"/>
              </a:lnSpc>
              <a:spcBef>
                <a:spcPts val="0"/>
              </a:spcBef>
              <a:spcAft>
                <a:spcPts val="0"/>
              </a:spcAft>
              <a:buNone/>
            </a:pPr>
            <a:r>
              <a:rPr b="1" i="0" lang="en" sz="1100" u="none" cap="none" strike="noStrike">
                <a:solidFill>
                  <a:srgbClr val="4FBF8F"/>
                </a:solidFill>
                <a:latin typeface="Arial"/>
                <a:ea typeface="Arial"/>
                <a:cs typeface="Arial"/>
                <a:sym typeface="Arial"/>
              </a:rPr>
              <a:t>LOCAL_ONLY MODE</a:t>
            </a:r>
            <a:endParaRPr/>
          </a:p>
          <a:p>
            <a:pPr indent="0" lvl="0" marL="0" marR="0" rtl="0" algn="ctr">
              <a:lnSpc>
                <a:spcPct val="100000"/>
              </a:lnSpc>
              <a:spcBef>
                <a:spcPts val="300"/>
              </a:spcBef>
              <a:spcAft>
                <a:spcPts val="0"/>
              </a:spcAft>
              <a:buNone/>
            </a:pPr>
            <a:r>
              <a:rPr b="0" i="0" lang="en" sz="1050" u="none" cap="none" strike="noStrike">
                <a:solidFill>
                  <a:srgbClr val="E6E9EF"/>
                </a:solidFill>
                <a:latin typeface="Arial"/>
                <a:ea typeface="Arial"/>
                <a:cs typeface="Arial"/>
                <a:sym typeface="Arial"/>
              </a:rPr>
              <a:t>STT and translation stay on self-hosted infrastructure; the Claude insight layer simply doesn’t run.</a:t>
            </a:r>
            <a:endParaRPr/>
          </a:p>
        </p:txBody>
      </p:sp>
      <p:sp>
        <p:nvSpPr>
          <p:cNvPr id="378" name="Google Shape;378;p55"/>
          <p:cNvSpPr/>
          <p:nvPr/>
        </p:nvSpPr>
        <p:spPr>
          <a:xfrm>
            <a:off x="411491" y="3510090"/>
            <a:ext cx="4049150" cy="900000"/>
          </a:xfrm>
          <a:prstGeom prst="roundRect">
            <a:avLst>
              <a:gd fmla="val 6000" name="adj"/>
            </a:avLst>
          </a:prstGeom>
          <a:solidFill>
            <a:srgbClr val="171D27"/>
          </a:solidFill>
          <a:ln cap="flat" cmpd="sng" w="12700">
            <a:solidFill>
              <a:srgbClr val="4F7FD1"/>
            </a:solidFill>
            <a:prstDash val="solid"/>
            <a:round/>
            <a:headEnd len="sm" w="sm" type="none"/>
            <a:tailEnd len="sm" w="sm" type="none"/>
          </a:ln>
        </p:spPr>
        <p:txBody>
          <a:bodyPr anchorCtr="0" anchor="ctr" bIns="60000" lIns="160000" spcFirstLastPara="1" rIns="160000" wrap="square" tIns="60000">
            <a:noAutofit/>
          </a:bodyPr>
          <a:lstStyle/>
          <a:p>
            <a:pPr indent="0" lvl="0" marL="0" marR="0" rtl="0" algn="ctr">
              <a:lnSpc>
                <a:spcPct val="100000"/>
              </a:lnSpc>
              <a:spcBef>
                <a:spcPts val="0"/>
              </a:spcBef>
              <a:spcAft>
                <a:spcPts val="0"/>
              </a:spcAft>
              <a:buNone/>
            </a:pPr>
            <a:r>
              <a:rPr b="1" i="0" lang="en" sz="1050" u="none" cap="none" strike="noStrike">
                <a:solidFill>
                  <a:srgbClr val="4F7FD1"/>
                </a:solidFill>
                <a:latin typeface="Arial"/>
                <a:ea typeface="Arial"/>
                <a:cs typeface="Arial"/>
                <a:sym typeface="Arial"/>
              </a:rPr>
              <a:t>RETENTION SET UP FRONT</a:t>
            </a:r>
            <a:endParaRPr/>
          </a:p>
          <a:p>
            <a:pPr indent="0" lvl="0" marL="0" marR="0" rtl="0" algn="l">
              <a:lnSpc>
                <a:spcPct val="100000"/>
              </a:lnSpc>
              <a:spcBef>
                <a:spcPts val="300"/>
              </a:spcBef>
              <a:spcAft>
                <a:spcPts val="0"/>
              </a:spcAft>
              <a:buNone/>
            </a:pPr>
            <a:r>
              <a:rPr b="0" i="0" lang="en" sz="950" u="none" cap="none" strike="noStrike">
                <a:solidFill>
                  <a:srgbClr val="E6E9EF"/>
                </a:solidFill>
                <a:latin typeface="Arial"/>
                <a:ea typeface="Arial"/>
                <a:cs typeface="Arial"/>
                <a:sym typeface="Arial"/>
              </a:rPr>
              <a:t>1 / 7 / 30 days, chosen at session creation — an hourly job deletes every cascading row (transcript, chat, insights) past deadline.</a:t>
            </a:r>
            <a:endParaRPr/>
          </a:p>
        </p:txBody>
      </p:sp>
      <p:sp>
        <p:nvSpPr>
          <p:cNvPr id="379" name="Google Shape;379;p55"/>
          <p:cNvSpPr/>
          <p:nvPr/>
        </p:nvSpPr>
        <p:spPr>
          <a:xfrm>
            <a:off x="4660641" y="3510090"/>
            <a:ext cx="4049150" cy="900000"/>
          </a:xfrm>
          <a:prstGeom prst="roundRect">
            <a:avLst>
              <a:gd fmla="val 6000" name="adj"/>
            </a:avLst>
          </a:prstGeom>
          <a:solidFill>
            <a:srgbClr val="171D27"/>
          </a:solidFill>
          <a:ln cap="flat" cmpd="sng" w="12700">
            <a:solidFill>
              <a:srgbClr val="C47CB8"/>
            </a:solidFill>
            <a:prstDash val="solid"/>
            <a:round/>
            <a:headEnd len="sm" w="sm" type="none"/>
            <a:tailEnd len="sm" w="sm" type="none"/>
          </a:ln>
        </p:spPr>
        <p:txBody>
          <a:bodyPr anchorCtr="0" anchor="ctr" bIns="60000" lIns="160000" spcFirstLastPara="1" rIns="160000" wrap="square" tIns="60000">
            <a:noAutofit/>
          </a:bodyPr>
          <a:lstStyle/>
          <a:p>
            <a:pPr indent="0" lvl="0" marL="0" marR="0" rtl="0" algn="ctr">
              <a:lnSpc>
                <a:spcPct val="100000"/>
              </a:lnSpc>
              <a:spcBef>
                <a:spcPts val="0"/>
              </a:spcBef>
              <a:spcAft>
                <a:spcPts val="0"/>
              </a:spcAft>
              <a:buNone/>
            </a:pPr>
            <a:r>
              <a:rPr b="1" i="0" lang="en" sz="1050" u="none" cap="none" strike="noStrike">
                <a:solidFill>
                  <a:srgbClr val="C47CB8"/>
                </a:solidFill>
                <a:latin typeface="Arial"/>
                <a:ea typeface="Arial"/>
                <a:cs typeface="Arial"/>
                <a:sym typeface="Arial"/>
              </a:rPr>
              <a:t>SENSITIVE SIGNALS STAY SCOPED</a:t>
            </a:r>
            <a:endParaRPr/>
          </a:p>
          <a:p>
            <a:pPr indent="0" lvl="0" marL="0" marR="0" rtl="0" algn="l">
              <a:lnSpc>
                <a:spcPct val="100000"/>
              </a:lnSpc>
              <a:spcBef>
                <a:spcPts val="300"/>
              </a:spcBef>
              <a:spcAft>
                <a:spcPts val="0"/>
              </a:spcAft>
              <a:buNone/>
            </a:pPr>
            <a:r>
              <a:rPr b="0" i="0" lang="en" sz="950" u="none" cap="none" strike="noStrike">
                <a:solidFill>
                  <a:srgbClr val="E6E9EF"/>
                </a:solidFill>
                <a:latin typeface="Arial"/>
                <a:ea typeface="Arial"/>
                <a:cs typeface="Arial"/>
                <a:sym typeface="Arial"/>
              </a:rPr>
              <a:t>Per-learner confusion levels and analytics are gated to facilitators; private messages are filtered out of the query itself.</a:t>
            </a:r>
            <a:endParaRPr/>
          </a:p>
        </p:txBody>
      </p:sp>
    </p:spTree>
  </p:cSld>
  <p:clrMapOvr>
    <a:masterClrMapping/>
  </p:clrMapOvr>
  <p:timing>
    <p:tnLst>
      <p:par>
        <p:cTn id="1" dur="indefinite" restart="never" nodeType="tmRoot">
          <p:childTnLst>
            <p:seq concat="0" nextAc="seek">
              <p:cTn id="2" dur="indefinite" nodeType="mainSeq">
                <p:childTnLst>
                  <p:par>
                    <p:cTn id="3" fill="hold">
                      <p:stCondLst>
                        <p:cond delay="indefinite"/>
                      </p:stCondLst>
                      <p:childTnLst>
                        <p:par>
                          <p:cTn id="4" presetID="1" presetClass="entr" presetSubtype="0" fill="hold" grpId="0" nodeType="clickEffect">
                            <p:stCondLst>
                              <p:cond delay="0"/>
                            </p:stCondLst>
                            <p:childTnLst>
                              <p:set>
                                <p:cBhvr>
                                  <p:cTn id="5" dur="1" fill="hold">
                                    <p:stCondLst>
                                      <p:cond delay="0"/>
                                    </p:stCondLst>
                                  </p:cTn>
                                  <p:tgtEl>
                                    <p:spTgt spid="366"/>
                                  </p:tgtEl>
                                  <p:attrNameLst>
                                    <p:attrName>style.visibility</p:attrName>
                                  </p:attrNameLst>
                                </p:cBhvr>
                                <p:to>
                                  <p:strVal val="visible"/>
                                </p:to>
                              </p:set>
                            </p:childTnLst>
                          </p:cTn>
                        </p:par>
                        <p:par>
                          <p:cTn id="6" presetID="1" presetClass="entr" presetSubtype="0" fill="hold" grpId="1" nodeType="withEffect">
                            <p:stCondLst>
                              <p:cond delay="0"/>
                            </p:stCondLst>
                            <p:childTnLst>
                              <p:set>
                                <p:cBhvr>
                                  <p:cTn id="7" dur="1" fill="hold">
                                    <p:stCondLst>
                                      <p:cond delay="0"/>
                                    </p:stCondLst>
                                  </p:cTn>
                                  <p:tgtEl>
                                    <p:spTgt spid="370"/>
                                  </p:tgtEl>
                                  <p:attrNameLst>
                                    <p:attrName>style.visibility</p:attrName>
                                  </p:attrNameLst>
                                </p:cBhvr>
                                <p:to>
                                  <p:strVal val="visible"/>
                                </p:to>
                              </p:set>
                            </p:childTnLst>
                          </p:cTn>
                        </p:par>
                        <p:par>
                          <p:cTn id="8" presetID="1" presetClass="entr" presetSubtype="0" fill="hold" grpId="2" nodeType="withEffect">
                            <p:stCondLst>
                              <p:cond delay="0"/>
                            </p:stCondLst>
                            <p:childTnLst>
                              <p:set>
                                <p:cBhvr>
                                  <p:cTn id="9" dur="1" fill="hold">
                                    <p:stCondLst>
                                      <p:cond delay="0"/>
                                    </p:stCondLst>
                                  </p:cTn>
                                  <p:tgtEl>
                                    <p:spTgt spid="367"/>
                                  </p:tgtEl>
                                  <p:attrNameLst>
                                    <p:attrName>style.visibility</p:attrName>
                                  </p:attrNameLst>
                                </p:cBhvr>
                                <p:to>
                                  <p:strVal val="visible"/>
                                </p:to>
                              </p:set>
                            </p:childTnLst>
                          </p:cTn>
                        </p:par>
                        <p:par>
                          <p:cTn id="10" presetID="1" presetClass="entr" presetSubtype="0" fill="hold" grpId="3" nodeType="withEffect">
                            <p:stCondLst>
                              <p:cond delay="0"/>
                            </p:stCondLst>
                            <p:childTnLst>
                              <p:set>
                                <p:cBhvr>
                                  <p:cTn id="11" dur="1" fill="hold">
                                    <p:stCondLst>
                                      <p:cond delay="0"/>
                                    </p:stCondLst>
                                  </p:cTn>
                                  <p:tgtEl>
                                    <p:spTgt spid="371"/>
                                  </p:tgtEl>
                                  <p:attrNameLst>
                                    <p:attrName>style.visibility</p:attrName>
                                  </p:attrNameLst>
                                </p:cBhvr>
                                <p:to>
                                  <p:strVal val="visible"/>
                                </p:to>
                              </p:set>
                            </p:childTnLst>
                          </p:cTn>
                        </p:par>
                        <p:par>
                          <p:cTn id="12" presetID="1" presetClass="entr" presetSubtype="0" fill="hold" grpId="4" nodeType="withEffect">
                            <p:stCondLst>
                              <p:cond delay="0"/>
                            </p:stCondLst>
                            <p:childTnLst>
                              <p:set>
                                <p:cBhvr>
                                  <p:cTn id="13" dur="1" fill="hold">
                                    <p:stCondLst>
                                      <p:cond delay="0"/>
                                    </p:stCondLst>
                                  </p:cTn>
                                  <p:tgtEl>
                                    <p:spTgt spid="368"/>
                                  </p:tgtEl>
                                  <p:attrNameLst>
                                    <p:attrName>style.visibility</p:attrName>
                                  </p:attrNameLst>
                                </p:cBhvr>
                                <p:to>
                                  <p:strVal val="visible"/>
                                </p:to>
                              </p:set>
                            </p:childTnLst>
                          </p:cTn>
                        </p:par>
                        <p:par>
                          <p:cTn id="14" presetID="1" presetClass="entr" presetSubtype="0" fill="hold" grpId="5" nodeType="withEffect">
                            <p:stCondLst>
                              <p:cond delay="0"/>
                            </p:stCondLst>
                            <p:childTnLst>
                              <p:set>
                                <p:cBhvr>
                                  <p:cTn id="15" dur="1" fill="hold">
                                    <p:stCondLst>
                                      <p:cond delay="0"/>
                                    </p:stCondLst>
                                  </p:cTn>
                                  <p:tgtEl>
                                    <p:spTgt spid="372"/>
                                  </p:tgtEl>
                                  <p:attrNameLst>
                                    <p:attrName>style.visibility</p:attrName>
                                  </p:attrNameLst>
                                </p:cBhvr>
                                <p:to>
                                  <p:strVal val="visible"/>
                                </p:to>
                              </p:set>
                            </p:childTnLst>
                          </p:cTn>
                        </p:par>
                        <p:par>
                          <p:cTn id="16" presetID="1" presetClass="entr" presetSubtype="0" fill="hold" grpId="6" nodeType="withEffect">
                            <p:stCondLst>
                              <p:cond delay="0"/>
                            </p:stCondLst>
                            <p:childTnLst>
                              <p:set>
                                <p:cBhvr>
                                  <p:cTn id="17" dur="1" fill="hold">
                                    <p:stCondLst>
                                      <p:cond delay="0"/>
                                    </p:stCondLst>
                                  </p:cTn>
                                  <p:tgtEl>
                                    <p:spTgt spid="369"/>
                                  </p:tgtEl>
                                  <p:attrNameLst>
                                    <p:attrName>style.visibility</p:attrName>
                                  </p:attrNameLst>
                                </p:cBhvr>
                                <p:to>
                                  <p:strVal val="visible"/>
                                </p:to>
                              </p:set>
                            </p:childTnLst>
                          </p:cTn>
                        </p:par>
                      </p:childTnLst>
                    </p:cTn>
                  </p:par>
                  <p:par>
                    <p:cTn id="18" fill="hold">
                      <p:stCondLst>
                        <p:cond delay="indefinite"/>
                      </p:stCondLst>
                      <p:childTnLst>
                        <p:par>
                          <p:cTn id="19" presetID="1" presetClass="entr" presetSubtype="0" fill="hold" grpId="7" nodeType="clickEffect">
                            <p:stCondLst>
                              <p:cond delay="0"/>
                            </p:stCondLst>
                            <p:childTnLst>
                              <p:set>
                                <p:cBhvr>
                                  <p:cTn id="20" dur="1" fill="hold">
                                    <p:stCondLst>
                                      <p:cond delay="0"/>
                                    </p:stCondLst>
                                  </p:cTn>
                                  <p:tgtEl>
                                    <p:spTgt spid="373"/>
                                  </p:tgtEl>
                                  <p:attrNameLst>
                                    <p:attrName>style.visibility</p:attrName>
                                  </p:attrNameLst>
                                </p:cBhvr>
                                <p:to>
                                  <p:strVal val="visible"/>
                                </p:to>
                              </p:set>
                            </p:childTnLst>
                          </p:cTn>
                        </p:par>
                        <p:par>
                          <p:cTn id="21" presetID="1" presetClass="entr" presetSubtype="0" fill="hold" grpId="8" nodeType="withEffect">
                            <p:stCondLst>
                              <p:cond delay="0"/>
                            </p:stCondLst>
                            <p:childTnLst>
                              <p:set>
                                <p:cBhvr>
                                  <p:cTn id="22" dur="1" fill="hold">
                                    <p:stCondLst>
                                      <p:cond delay="0"/>
                                    </p:stCondLst>
                                  </p:cTn>
                                  <p:tgtEl>
                                    <p:spTgt spid="375"/>
                                  </p:tgtEl>
                                  <p:attrNameLst>
                                    <p:attrName>style.visibility</p:attrName>
                                  </p:attrNameLst>
                                </p:cBhvr>
                                <p:to>
                                  <p:strVal val="visible"/>
                                </p:to>
                              </p:set>
                            </p:childTnLst>
                          </p:cTn>
                        </p:par>
                        <p:par>
                          <p:cTn id="23" presetID="1" presetClass="entr" presetSubtype="0" fill="hold" grpId="9" nodeType="withEffect">
                            <p:stCondLst>
                              <p:cond delay="0"/>
                            </p:stCondLst>
                            <p:childTnLst>
                              <p:set>
                                <p:cBhvr>
                                  <p:cTn id="24" dur="1" fill="hold">
                                    <p:stCondLst>
                                      <p:cond delay="0"/>
                                    </p:stCondLst>
                                  </p:cTn>
                                  <p:tgtEl>
                                    <p:spTgt spid="377"/>
                                  </p:tgtEl>
                                  <p:attrNameLst>
                                    <p:attrName>style.visibility</p:attrName>
                                  </p:attrNameLst>
                                </p:cBhvr>
                                <p:to>
                                  <p:strVal val="visible"/>
                                </p:to>
                              </p:set>
                            </p:childTnLst>
                          </p:cTn>
                        </p:par>
                      </p:childTnLst>
                    </p:cTn>
                  </p:par>
                  <p:par>
                    <p:cTn id="25" fill="hold">
                      <p:stCondLst>
                        <p:cond delay="indefinite"/>
                      </p:stCondLst>
                      <p:childTnLst>
                        <p:par>
                          <p:cTn id="26" presetID="1" presetClass="entr" presetSubtype="0" fill="hold" grpId="10" nodeType="clickEffect">
                            <p:stCondLst>
                              <p:cond delay="0"/>
                            </p:stCondLst>
                            <p:childTnLst>
                              <p:set>
                                <p:cBhvr>
                                  <p:cTn id="27" dur="1" fill="hold">
                                    <p:stCondLst>
                                      <p:cond delay="0"/>
                                    </p:stCondLst>
                                  </p:cTn>
                                  <p:tgtEl>
                                    <p:spTgt spid="378"/>
                                  </p:tgtEl>
                                  <p:attrNameLst>
                                    <p:attrName>style.visibility</p:attrName>
                                  </p:attrNameLst>
                                </p:cBhvr>
                                <p:to>
                                  <p:strVal val="visible"/>
                                </p:to>
                              </p:set>
                            </p:childTnLst>
                          </p:cTn>
                        </p:par>
                      </p:childTnLst>
                    </p:cTn>
                  </p:par>
                  <p:par>
                    <p:cTn id="28" fill="hold">
                      <p:stCondLst>
                        <p:cond delay="indefinite"/>
                      </p:stCondLst>
                      <p:childTnLst>
                        <p:par>
                          <p:cTn id="29" presetID="1" presetClass="entr" presetSubtype="0" fill="hold" grpId="11" nodeType="clickEffect">
                            <p:stCondLst>
                              <p:cond delay="0"/>
                            </p:stCondLst>
                            <p:childTnLst>
                              <p:set>
                                <p:cBhvr>
                                  <p:cTn id="30" dur="1" fill="hold">
                                    <p:stCondLst>
                                      <p:cond delay="0"/>
                                    </p:stCondLst>
                                  </p:cTn>
                                  <p:tgtEl>
                                    <p:spTgt spid="379"/>
                                  </p:tgtEl>
                                  <p:attrNameLst>
                                    <p:attrName>style.visibility</p:attrName>
                                  </p:attrNameLst>
                                </p:cBhvr>
                                <p:to>
                                  <p:strVal val="visible"/>
                                </p:to>
                              </p:set>
                            </p:childTnLst>
                          </p:cTn>
                        </p:par>
                      </p:childTnLst>
                    </p:cTn>
                  </p:par>
                  <p:par>
                    <p:cTn id="31" fill="hold">
                      <p:stCondLst>
                        <p:cond delay="indefinite"/>
                      </p:stCondLst>
                      <p:childTnLst>
                        <p:par>
                          <p:cTn id="32" presetID="1" presetClass="entr" presetSubtype="0" fill="hold" grpId="12" nodeType="clickEffect">
                            <p:stCondLst>
                              <p:cond delay="0"/>
                            </p:stCondLst>
                            <p:childTnLst>
                              <p:set>
                                <p:cBhvr>
                                  <p:cTn id="33" dur="1" fill="hold">
                                    <p:stCondLst>
                                      <p:cond delay="0"/>
                                    </p:stCondLst>
                                  </p:cTn>
                                  <p:tgtEl>
                                    <p:spTgt spid="374"/>
                                  </p:tgtEl>
                                  <p:attrNameLst>
                                    <p:attrName>style.visibility</p:attrName>
                                  </p:attrNameLst>
                                </p:cBhvr>
                                <p:to>
                                  <p:strVal val="visible"/>
                                </p:to>
                              </p:set>
                            </p:childTnLst>
                          </p:cTn>
                        </p:par>
                        <p:par>
                          <p:cTn id="34" presetID="1" presetClass="entr" presetSubtype="0" fill="hold" grpId="13" nodeType="withEffect">
                            <p:stCondLst>
                              <p:cond delay="0"/>
                            </p:stCondLst>
                            <p:childTnLst>
                              <p:set>
                                <p:cBhvr>
                                  <p:cTn id="35" dur="1" fill="hold">
                                    <p:stCondLst>
                                      <p:cond delay="0"/>
                                    </p:stCondLst>
                                  </p:cTn>
                                  <p:tgtEl>
                                    <p:spTgt spid="376"/>
                                  </p:tgtEl>
                                  <p:attrNameLst>
                                    <p:attrName>style.visibility</p:attrName>
                                  </p:attrNameLst>
                                </p:cBhvr>
                                <p:to>
                                  <p:strVal val="visible"/>
                                </p:to>
                              </p:set>
                            </p:childTnLst>
                          </p:cTn>
                        </p:par>
                      </p:childTnLst>
                    </p:cTn>
                  </p:par>
                </p:childTnLst>
              </p:cTn>
            </p:seq>
          </p:childTnLst>
        </p:cTn>
      </p:par>
    </p:tnLst>
    <p:bldLst>
      <p:bldP spid="366" grpId="0"/>
      <p:bldP spid="370" grpId="1"/>
      <p:bldP spid="367" grpId="2"/>
      <p:bldP spid="371" grpId="3"/>
      <p:bldP spid="368" grpId="4"/>
      <p:bldP spid="372" grpId="5"/>
      <p:bldP spid="369" grpId="6"/>
      <p:bldP spid="373" grpId="7"/>
      <p:bldP spid="375" grpId="8"/>
      <p:bldP spid="377" grpId="9"/>
      <p:bldP spid="378" grpId="10"/>
      <p:bldP spid="379" grpId="11"/>
      <p:bldP spid="374" grpId="12"/>
      <p:bldP spid="376" grpId="13"/>
    </p:bld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6"/>
          <p:cNvSpPr/>
          <p:nvPr/>
        </p:nvSpPr>
        <p:spPr>
          <a:xfrm>
            <a:off x="0" y="0"/>
            <a:ext cx="9144000" cy="5143500"/>
          </a:xfrm>
          <a:prstGeom prst="rect">
            <a:avLst/>
          </a:prstGeom>
          <a:solidFill>
            <a:srgbClr val="0D111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56"/>
          <p:cNvSpPr txBox="1"/>
          <p:nvPr/>
        </p:nvSpPr>
        <p:spPr>
          <a:xfrm>
            <a:off x="411491" y="240030"/>
            <a:ext cx="8298300" cy="4233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300"/>
              <a:buFont typeface="Arial"/>
              <a:buNone/>
            </a:pPr>
            <a:r>
              <a:rPr b="1" i="0" lang="en" sz="2300" u="none" cap="none" strike="noStrike">
                <a:solidFill>
                  <a:srgbClr val="E6E9EF"/>
                </a:solidFill>
                <a:latin typeface="Arial"/>
                <a:ea typeface="Arial"/>
                <a:cs typeface="Arial"/>
                <a:sym typeface="Arial"/>
              </a:rPr>
              <a:t>Interlinga.ai — Tech Architecture</a:t>
            </a:r>
            <a:endParaRPr/>
          </a:p>
        </p:txBody>
      </p:sp>
      <p:sp>
        <p:nvSpPr>
          <p:cNvPr id="386" name="Google Shape;386;p56"/>
          <p:cNvSpPr/>
          <p:nvPr/>
        </p:nvSpPr>
        <p:spPr>
          <a:xfrm>
            <a:off x="411491" y="720090"/>
            <a:ext cx="754400" cy="28575"/>
          </a:xfrm>
          <a:prstGeom prst="rect">
            <a:avLst/>
          </a:prstGeom>
          <a:solidFill>
            <a:srgbClr val="4F7FD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56"/>
          <p:cNvSpPr txBox="1"/>
          <p:nvPr/>
        </p:nvSpPr>
        <p:spPr>
          <a:xfrm>
            <a:off x="6702763" y="588675"/>
            <a:ext cx="2007000" cy="180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 sz="1100" u="none" cap="none" strike="noStrike">
                <a:solidFill>
                  <a:srgbClr val="4FBF8F"/>
                </a:solidFill>
                <a:latin typeface="Arial"/>
                <a:ea typeface="Arial"/>
                <a:cs typeface="Arial"/>
                <a:sym typeface="Arial"/>
              </a:rPr>
              <a:t>Self-hosted (local-inference)</a:t>
            </a:r>
            <a:endParaRPr/>
          </a:p>
        </p:txBody>
      </p:sp>
      <p:sp>
        <p:nvSpPr>
          <p:cNvPr id="388" name="Google Shape;388;p56"/>
          <p:cNvSpPr/>
          <p:nvPr/>
        </p:nvSpPr>
        <p:spPr>
          <a:xfrm>
            <a:off x="411491" y="1058665"/>
            <a:ext cx="8298300" cy="42000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18000" lIns="45700" spcFirstLastPara="1" rIns="45700" wrap="square" tIns="18000">
            <a:noAutofit/>
          </a:bodyPr>
          <a:lstStyle/>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FACILITATOR / LEARNER BROWSER</a:t>
            </a:r>
            <a:endParaRPr/>
          </a:p>
          <a:p>
            <a:pPr indent="0" lvl="0" marL="0" marR="0" rtl="0" algn="ctr">
              <a:lnSpc>
                <a:spcPct val="100000"/>
              </a:lnSpc>
              <a:spcBef>
                <a:spcPts val="200"/>
              </a:spcBef>
              <a:spcAft>
                <a:spcPts val="0"/>
              </a:spcAft>
              <a:buNone/>
            </a:pPr>
            <a:r>
              <a:rPr b="0" i="0" lang="en" sz="850" u="none" cap="none" strike="noStrike">
                <a:solidFill>
                  <a:srgbClr val="8B93A3"/>
                </a:solidFill>
                <a:latin typeface="Arial"/>
                <a:ea typeface="Arial"/>
                <a:cs typeface="Arial"/>
                <a:sym typeface="Arial"/>
              </a:rPr>
              <a:t>Next.js (App Router) + TypeScript · LiveKit client SDK (mic/camera) · chat</a:t>
            </a:r>
            <a:endParaRPr/>
          </a:p>
        </p:txBody>
      </p:sp>
      <p:sp>
        <p:nvSpPr>
          <p:cNvPr id="389" name="Google Shape;389;p56"/>
          <p:cNvSpPr/>
          <p:nvPr/>
        </p:nvSpPr>
        <p:spPr>
          <a:xfrm rot="5400000">
            <a:off x="4495641" y="1483665"/>
            <a:ext cx="130000" cy="130000"/>
          </a:xfrm>
          <a:prstGeom prst="chevron">
            <a:avLst>
              <a:gd fmla="val 50000" name="adj"/>
            </a:avLst>
          </a:prstGeom>
          <a:solidFill>
            <a:srgbClr val="8B93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0" name="Google Shape;390;p56"/>
          <p:cNvSpPr/>
          <p:nvPr/>
        </p:nvSpPr>
        <p:spPr>
          <a:xfrm>
            <a:off x="411491" y="1618665"/>
            <a:ext cx="4900000" cy="460000"/>
          </a:xfrm>
          <a:prstGeom prst="roundRect">
            <a:avLst>
              <a:gd fmla="val 8000" name="adj"/>
            </a:avLst>
          </a:prstGeom>
          <a:solidFill>
            <a:srgbClr val="171D27"/>
          </a:solidFill>
          <a:ln cap="flat" cmpd="sng" w="15875">
            <a:solidFill>
              <a:srgbClr val="C47CB8"/>
            </a:solidFill>
            <a:prstDash val="solid"/>
            <a:round/>
            <a:headEnd len="sm" w="sm" type="none"/>
            <a:tailEnd len="sm" w="sm" type="none"/>
          </a:ln>
        </p:spPr>
        <p:txBody>
          <a:bodyPr anchorCtr="0" anchor="ctr" bIns="18000" lIns="45700" spcFirstLastPara="1" rIns="45700" wrap="square" tIns="18000">
            <a:noAutofit/>
          </a:bodyPr>
          <a:lstStyle/>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LIVEKIT ROOM (WebRTC)</a:t>
            </a:r>
            <a:endParaRPr/>
          </a:p>
          <a:p>
            <a:pPr indent="0" lvl="0" marL="0" marR="0" rtl="0" algn="ctr">
              <a:lnSpc>
                <a:spcPct val="100000"/>
              </a:lnSpc>
              <a:spcBef>
                <a:spcPts val="200"/>
              </a:spcBef>
              <a:spcAft>
                <a:spcPts val="0"/>
              </a:spcAft>
              <a:buNone/>
            </a:pPr>
            <a:r>
              <a:rPr b="0" i="0" lang="en" sz="850" u="none" cap="none" strike="noStrike">
                <a:solidFill>
                  <a:srgbClr val="8B93A3"/>
                </a:solidFill>
                <a:latin typeface="Arial"/>
                <a:ea typeface="Arial"/>
                <a:cs typeface="Arial"/>
                <a:sym typeface="Arial"/>
              </a:rPr>
              <a:t>WebRTC audio/video · DataChannel carries the caption signal</a:t>
            </a:r>
            <a:endParaRPr/>
          </a:p>
        </p:txBody>
      </p:sp>
      <p:sp>
        <p:nvSpPr>
          <p:cNvPr id="391" name="Google Shape;391;p56"/>
          <p:cNvSpPr/>
          <p:nvPr/>
        </p:nvSpPr>
        <p:spPr>
          <a:xfrm>
            <a:off x="5401491" y="1618665"/>
            <a:ext cx="3308300" cy="460000"/>
          </a:xfrm>
          <a:prstGeom prst="roundRect">
            <a:avLst>
              <a:gd fmla="val 8000" name="adj"/>
            </a:avLst>
          </a:prstGeom>
          <a:solidFill>
            <a:srgbClr val="171D27"/>
          </a:solidFill>
          <a:ln cap="flat" cmpd="sng" w="15875">
            <a:solidFill>
              <a:srgbClr val="4F7FD1"/>
            </a:solidFill>
            <a:prstDash val="solid"/>
            <a:round/>
            <a:headEnd len="sm" w="sm" type="none"/>
            <a:tailEnd len="sm" w="sm" type="none"/>
          </a:ln>
        </p:spPr>
        <p:txBody>
          <a:bodyPr anchorCtr="0" anchor="ctr" bIns="18000" lIns="45700" spcFirstLastPara="1" rIns="45700" wrap="square" tIns="18000">
            <a:noAutofit/>
          </a:bodyPr>
          <a:lstStyle/>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CAPTION AGENT WORKER</a:t>
            </a:r>
            <a:endParaRPr/>
          </a:p>
          <a:p>
            <a:pPr indent="0" lvl="0" marL="0" marR="0" rtl="0" algn="ctr">
              <a:lnSpc>
                <a:spcPct val="100000"/>
              </a:lnSpc>
              <a:spcBef>
                <a:spcPts val="200"/>
              </a:spcBef>
              <a:spcAft>
                <a:spcPts val="0"/>
              </a:spcAft>
              <a:buNone/>
            </a:pPr>
            <a:r>
              <a:rPr b="0" i="0" lang="en" sz="850" u="none" cap="none" strike="noStrike">
                <a:solidFill>
                  <a:srgbClr val="8B93A3"/>
                </a:solidFill>
                <a:latin typeface="Arial"/>
                <a:ea typeface="Arial"/>
                <a:cs typeface="Arial"/>
                <a:sym typeface="Arial"/>
              </a:rPr>
              <a:t>In-process LiveKit Agents job (server.ts)</a:t>
            </a:r>
            <a:endParaRPr/>
          </a:p>
        </p:txBody>
      </p:sp>
      <p:sp>
        <p:nvSpPr>
          <p:cNvPr id="392" name="Google Shape;392;p56"/>
          <p:cNvSpPr/>
          <p:nvPr/>
        </p:nvSpPr>
        <p:spPr>
          <a:xfrm rot="5400000">
            <a:off x="4495641" y="2083665"/>
            <a:ext cx="130000" cy="130000"/>
          </a:xfrm>
          <a:prstGeom prst="chevron">
            <a:avLst>
              <a:gd fmla="val 50000" name="adj"/>
            </a:avLst>
          </a:prstGeom>
          <a:solidFill>
            <a:srgbClr val="8B93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56"/>
          <p:cNvSpPr/>
          <p:nvPr/>
        </p:nvSpPr>
        <p:spPr>
          <a:xfrm>
            <a:off x="411491" y="2218665"/>
            <a:ext cx="2007075" cy="360000"/>
          </a:xfrm>
          <a:prstGeom prst="roundRect">
            <a:avLst>
              <a:gd fmla="val 8000" name="adj"/>
            </a:avLst>
          </a:prstGeom>
          <a:noFill/>
          <a:ln>
            <a:noFill/>
          </a:ln>
        </p:spPr>
        <p:txBody>
          <a:bodyPr anchorCtr="0" anchor="ctr" bIns="18000" lIns="27425" spcFirstLastPara="1" rIns="27425" wrap="square" tIns="18000">
            <a:noAutofit/>
          </a:bodyPr>
          <a:lstStyle/>
          <a:p>
            <a:pPr indent="0" lvl="0" marL="0" marR="0" rtl="0" algn="ctr">
              <a:lnSpc>
                <a:spcPct val="100000"/>
              </a:lnSpc>
              <a:spcBef>
                <a:spcPts val="0"/>
              </a:spcBef>
              <a:spcAft>
                <a:spcPts val="0"/>
              </a:spcAft>
              <a:buNone/>
            </a:pPr>
            <a:r>
              <a:rPr b="1" i="0" lang="en" sz="1000" u="none" cap="none" strike="noStrike">
                <a:solidFill>
                  <a:srgbClr val="E6E9EF"/>
                </a:solidFill>
                <a:latin typeface="Arial"/>
                <a:ea typeface="Arial"/>
                <a:cs typeface="Arial"/>
                <a:sym typeface="Arial"/>
              </a:rPr>
              <a:t>SPEECH-TO-TEXT</a:t>
            </a:r>
            <a:endParaRPr/>
          </a:p>
        </p:txBody>
      </p:sp>
      <p:sp>
        <p:nvSpPr>
          <p:cNvPr id="394" name="Google Shape;394;p56"/>
          <p:cNvSpPr/>
          <p:nvPr/>
        </p:nvSpPr>
        <p:spPr>
          <a:xfrm>
            <a:off x="411491" y="2618665"/>
            <a:ext cx="2007075" cy="360000"/>
          </a:xfrm>
          <a:prstGeom prst="roundRect">
            <a:avLst>
              <a:gd fmla="val 10000" name="adj"/>
            </a:avLst>
          </a:prstGeom>
          <a:solidFill>
            <a:srgbClr val="171D27"/>
          </a:solidFill>
          <a:ln cap="flat" cmpd="sng" w="12700">
            <a:solidFill>
              <a:srgbClr val="4FBF8F"/>
            </a:solidFill>
            <a:prstDash val="solid"/>
            <a:round/>
            <a:headEnd len="sm" w="sm" type="none"/>
            <a:tailEnd len="sm" w="sm" type="none"/>
          </a:ln>
        </p:spPr>
        <p:txBody>
          <a:bodyPr anchorCtr="0" anchor="ctr" bIns="18000" lIns="27425" spcFirstLastPara="1" rIns="27425" wrap="square" tIns="18000">
            <a:noAutofit/>
          </a:bodyPr>
          <a:lstStyle/>
          <a:p>
            <a:pPr indent="0" lvl="0" marL="0" marR="0" rtl="0" algn="ctr">
              <a:lnSpc>
                <a:spcPct val="100000"/>
              </a:lnSpc>
              <a:spcBef>
                <a:spcPts val="0"/>
              </a:spcBef>
              <a:spcAft>
                <a:spcPts val="0"/>
              </a:spcAft>
              <a:buNone/>
            </a:pPr>
            <a:r>
              <a:rPr b="1" i="0" lang="en" sz="1000" u="none" cap="none" strike="noStrike">
                <a:solidFill>
                  <a:srgbClr val="4FBF8F"/>
                </a:solidFill>
                <a:latin typeface="Arial"/>
                <a:ea typeface="Arial"/>
                <a:cs typeface="Arial"/>
                <a:sym typeface="Arial"/>
              </a:rPr>
              <a:t>faster-whisper</a:t>
            </a:r>
            <a:endParaRPr/>
          </a:p>
          <a:p>
            <a:pPr indent="0" lvl="0" marL="0" marR="0" rtl="0" algn="ctr">
              <a:lnSpc>
                <a:spcPct val="100000"/>
              </a:lnSpc>
              <a:spcBef>
                <a:spcPts val="150"/>
              </a:spcBef>
              <a:spcAft>
                <a:spcPts val="0"/>
              </a:spcAft>
              <a:buNone/>
            </a:pPr>
            <a:r>
              <a:rPr b="0" i="0" lang="en" sz="820" u="none" cap="none" strike="noStrike">
                <a:solidFill>
                  <a:srgbClr val="8B93A3"/>
                </a:solidFill>
                <a:latin typeface="Arial"/>
                <a:ea typeface="Arial"/>
                <a:cs typeface="Arial"/>
                <a:sym typeface="Arial"/>
              </a:rPr>
              <a:t>local-inference · tried first</a:t>
            </a:r>
            <a:endParaRPr/>
          </a:p>
        </p:txBody>
      </p:sp>
      <p:sp>
        <p:nvSpPr>
          <p:cNvPr id="395" name="Google Shape;395;p56"/>
          <p:cNvSpPr/>
          <p:nvPr/>
        </p:nvSpPr>
        <p:spPr>
          <a:xfrm>
            <a:off x="411491" y="3018665"/>
            <a:ext cx="2007075" cy="360000"/>
          </a:xfrm>
          <a:prstGeom prst="roundRect">
            <a:avLst>
              <a:gd fmla="val 10000" name="adj"/>
            </a:avLst>
          </a:prstGeom>
          <a:solidFill>
            <a:srgbClr val="171D27"/>
          </a:solidFill>
          <a:ln cap="flat" cmpd="sng" w="12700">
            <a:solidFill>
              <a:srgbClr val="4F7FD1"/>
            </a:solidFill>
            <a:prstDash val="solid"/>
            <a:round/>
            <a:headEnd len="sm" w="sm" type="none"/>
            <a:tailEnd len="sm" w="sm" type="none"/>
          </a:ln>
        </p:spPr>
        <p:txBody>
          <a:bodyPr anchorCtr="0" anchor="ctr" bIns="18000" lIns="27425" spcFirstLastPara="1" rIns="27425" wrap="square" tIns="18000">
            <a:noAutofit/>
          </a:bodyPr>
          <a:lstStyle/>
          <a:p>
            <a:pPr indent="0" lvl="0" marL="0" marR="0" rtl="0" algn="ctr">
              <a:lnSpc>
                <a:spcPct val="100000"/>
              </a:lnSpc>
              <a:spcBef>
                <a:spcPts val="0"/>
              </a:spcBef>
              <a:spcAft>
                <a:spcPts val="0"/>
              </a:spcAft>
              <a:buNone/>
            </a:pPr>
            <a:r>
              <a:rPr b="1" i="0" lang="en" sz="1000" u="none" cap="none" strike="noStrike">
                <a:solidFill>
                  <a:srgbClr val="4F7FD1"/>
                </a:solidFill>
                <a:latin typeface="Arial"/>
                <a:ea typeface="Arial"/>
                <a:cs typeface="Arial"/>
                <a:sym typeface="Arial"/>
              </a:rPr>
              <a:t>Deepgram Nova-3</a:t>
            </a:r>
            <a:endParaRPr/>
          </a:p>
          <a:p>
            <a:pPr indent="0" lvl="0" marL="0" marR="0" rtl="0" algn="ctr">
              <a:lnSpc>
                <a:spcPct val="100000"/>
              </a:lnSpc>
              <a:spcBef>
                <a:spcPts val="150"/>
              </a:spcBef>
              <a:spcAft>
                <a:spcPts val="0"/>
              </a:spcAft>
              <a:buNone/>
            </a:pPr>
            <a:r>
              <a:rPr b="0" i="0" lang="en" sz="820" u="none" cap="none" strike="noStrike">
                <a:solidFill>
                  <a:srgbClr val="8B93A3"/>
                </a:solidFill>
                <a:latin typeface="Arial"/>
                <a:ea typeface="Arial"/>
                <a:cs typeface="Arial"/>
                <a:sym typeface="Arial"/>
              </a:rPr>
              <a:t>cloud fallback · diarized</a:t>
            </a:r>
            <a:endParaRPr/>
          </a:p>
        </p:txBody>
      </p:sp>
      <p:sp>
        <p:nvSpPr>
          <p:cNvPr id="396" name="Google Shape;396;p56"/>
          <p:cNvSpPr/>
          <p:nvPr/>
        </p:nvSpPr>
        <p:spPr>
          <a:xfrm>
            <a:off x="2508566" y="2218665"/>
            <a:ext cx="2007075" cy="360000"/>
          </a:xfrm>
          <a:prstGeom prst="roundRect">
            <a:avLst>
              <a:gd fmla="val 8000" name="adj"/>
            </a:avLst>
          </a:prstGeom>
          <a:noFill/>
          <a:ln>
            <a:noFill/>
          </a:ln>
        </p:spPr>
        <p:txBody>
          <a:bodyPr anchorCtr="0" anchor="ctr" bIns="18000" lIns="27425" spcFirstLastPara="1" rIns="27425" wrap="square" tIns="18000">
            <a:noAutofit/>
          </a:bodyPr>
          <a:lstStyle/>
          <a:p>
            <a:pPr indent="0" lvl="0" marL="0" marR="0" rtl="0" algn="ctr">
              <a:lnSpc>
                <a:spcPct val="100000"/>
              </a:lnSpc>
              <a:spcBef>
                <a:spcPts val="0"/>
              </a:spcBef>
              <a:spcAft>
                <a:spcPts val="0"/>
              </a:spcAft>
              <a:buNone/>
            </a:pPr>
            <a:r>
              <a:rPr b="1" i="0" lang="en" sz="1000" u="none" cap="none" strike="noStrike">
                <a:solidFill>
                  <a:srgbClr val="E6E9EF"/>
                </a:solidFill>
                <a:latin typeface="Arial"/>
                <a:ea typeface="Arial"/>
                <a:cs typeface="Arial"/>
                <a:sym typeface="Arial"/>
              </a:rPr>
              <a:t>TRANSLATION</a:t>
            </a:r>
            <a:endParaRPr/>
          </a:p>
        </p:txBody>
      </p:sp>
      <p:sp>
        <p:nvSpPr>
          <p:cNvPr id="397" name="Google Shape;397;p56"/>
          <p:cNvSpPr/>
          <p:nvPr/>
        </p:nvSpPr>
        <p:spPr>
          <a:xfrm>
            <a:off x="2508566" y="2618665"/>
            <a:ext cx="2007075" cy="360000"/>
          </a:xfrm>
          <a:prstGeom prst="roundRect">
            <a:avLst>
              <a:gd fmla="val 10000" name="adj"/>
            </a:avLst>
          </a:prstGeom>
          <a:solidFill>
            <a:srgbClr val="171D27"/>
          </a:solidFill>
          <a:ln cap="flat" cmpd="sng" w="12700">
            <a:solidFill>
              <a:srgbClr val="4FBF8F"/>
            </a:solidFill>
            <a:prstDash val="solid"/>
            <a:round/>
            <a:headEnd len="sm" w="sm" type="none"/>
            <a:tailEnd len="sm" w="sm" type="none"/>
          </a:ln>
        </p:spPr>
        <p:txBody>
          <a:bodyPr anchorCtr="0" anchor="ctr" bIns="18000" lIns="27425" spcFirstLastPara="1" rIns="27425" wrap="square" tIns="18000">
            <a:noAutofit/>
          </a:bodyPr>
          <a:lstStyle/>
          <a:p>
            <a:pPr indent="0" lvl="0" marL="0" marR="0" rtl="0" algn="ctr">
              <a:lnSpc>
                <a:spcPct val="100000"/>
              </a:lnSpc>
              <a:spcBef>
                <a:spcPts val="0"/>
              </a:spcBef>
              <a:spcAft>
                <a:spcPts val="0"/>
              </a:spcAft>
              <a:buNone/>
            </a:pPr>
            <a:r>
              <a:rPr b="1" i="0" lang="en" sz="1000" u="none" cap="none" strike="noStrike">
                <a:solidFill>
                  <a:srgbClr val="4FBF8F"/>
                </a:solidFill>
                <a:latin typeface="Arial"/>
                <a:ea typeface="Arial"/>
                <a:cs typeface="Arial"/>
                <a:sym typeface="Arial"/>
              </a:rPr>
              <a:t>NLLB-600M</a:t>
            </a:r>
            <a:endParaRPr/>
          </a:p>
          <a:p>
            <a:pPr indent="0" lvl="0" marL="0" marR="0" rtl="0" algn="ctr">
              <a:lnSpc>
                <a:spcPct val="100000"/>
              </a:lnSpc>
              <a:spcBef>
                <a:spcPts val="150"/>
              </a:spcBef>
              <a:spcAft>
                <a:spcPts val="0"/>
              </a:spcAft>
              <a:buNone/>
            </a:pPr>
            <a:r>
              <a:rPr b="0" i="0" lang="en" sz="820" u="none" cap="none" strike="noStrike">
                <a:solidFill>
                  <a:srgbClr val="8B93A3"/>
                </a:solidFill>
                <a:latin typeface="Arial"/>
                <a:ea typeface="Arial"/>
                <a:cs typeface="Arial"/>
                <a:sym typeface="Arial"/>
              </a:rPr>
              <a:t>local-inference · tried first</a:t>
            </a:r>
            <a:endParaRPr/>
          </a:p>
        </p:txBody>
      </p:sp>
      <p:sp>
        <p:nvSpPr>
          <p:cNvPr id="398" name="Google Shape;398;p56"/>
          <p:cNvSpPr/>
          <p:nvPr/>
        </p:nvSpPr>
        <p:spPr>
          <a:xfrm>
            <a:off x="2508566" y="3018665"/>
            <a:ext cx="2007075" cy="360000"/>
          </a:xfrm>
          <a:prstGeom prst="roundRect">
            <a:avLst>
              <a:gd fmla="val 10000" name="adj"/>
            </a:avLst>
          </a:prstGeom>
          <a:solidFill>
            <a:srgbClr val="171D27"/>
          </a:solidFill>
          <a:ln cap="flat" cmpd="sng" w="12700">
            <a:solidFill>
              <a:srgbClr val="4F7FD1"/>
            </a:solidFill>
            <a:prstDash val="solid"/>
            <a:round/>
            <a:headEnd len="sm" w="sm" type="none"/>
            <a:tailEnd len="sm" w="sm" type="none"/>
          </a:ln>
        </p:spPr>
        <p:txBody>
          <a:bodyPr anchorCtr="0" anchor="ctr" bIns="18000" lIns="27425" spcFirstLastPara="1" rIns="27425" wrap="square" tIns="18000">
            <a:noAutofit/>
          </a:bodyPr>
          <a:lstStyle/>
          <a:p>
            <a:pPr indent="0" lvl="0" marL="0" marR="0" rtl="0" algn="ctr">
              <a:lnSpc>
                <a:spcPct val="100000"/>
              </a:lnSpc>
              <a:spcBef>
                <a:spcPts val="0"/>
              </a:spcBef>
              <a:spcAft>
                <a:spcPts val="0"/>
              </a:spcAft>
              <a:buNone/>
            </a:pPr>
            <a:r>
              <a:rPr b="1" i="0" lang="en" sz="1000" u="none" cap="none" strike="noStrike">
                <a:solidFill>
                  <a:srgbClr val="4F7FD1"/>
                </a:solidFill>
                <a:latin typeface="Arial"/>
                <a:ea typeface="Arial"/>
                <a:cs typeface="Arial"/>
                <a:sym typeface="Arial"/>
              </a:rPr>
              <a:t>Claude Haiku</a:t>
            </a:r>
            <a:endParaRPr/>
          </a:p>
          <a:p>
            <a:pPr indent="0" lvl="0" marL="0" marR="0" rtl="0" algn="ctr">
              <a:lnSpc>
                <a:spcPct val="100000"/>
              </a:lnSpc>
              <a:spcBef>
                <a:spcPts val="150"/>
              </a:spcBef>
              <a:spcAft>
                <a:spcPts val="0"/>
              </a:spcAft>
              <a:buNone/>
            </a:pPr>
            <a:r>
              <a:rPr b="0" i="0" lang="en" sz="820" u="none" cap="none" strike="noStrike">
                <a:solidFill>
                  <a:srgbClr val="8B93A3"/>
                </a:solidFill>
                <a:latin typeface="Arial"/>
                <a:ea typeface="Arial"/>
                <a:cs typeface="Arial"/>
                <a:sym typeface="Arial"/>
              </a:rPr>
              <a:t>cloud fallback</a:t>
            </a:r>
            <a:endParaRPr/>
          </a:p>
        </p:txBody>
      </p:sp>
      <p:sp>
        <p:nvSpPr>
          <p:cNvPr id="399" name="Google Shape;399;p56"/>
          <p:cNvSpPr/>
          <p:nvPr/>
        </p:nvSpPr>
        <p:spPr>
          <a:xfrm>
            <a:off x="4605641" y="2218665"/>
            <a:ext cx="2007075" cy="360000"/>
          </a:xfrm>
          <a:prstGeom prst="roundRect">
            <a:avLst>
              <a:gd fmla="val 8000" name="adj"/>
            </a:avLst>
          </a:prstGeom>
          <a:noFill/>
          <a:ln>
            <a:noFill/>
          </a:ln>
        </p:spPr>
        <p:txBody>
          <a:bodyPr anchorCtr="0" anchor="ctr" bIns="18000" lIns="27425" spcFirstLastPara="1" rIns="27425" wrap="square" tIns="18000">
            <a:noAutofit/>
          </a:bodyPr>
          <a:lstStyle/>
          <a:p>
            <a:pPr indent="0" lvl="0" marL="0" marR="0" rtl="0" algn="ctr">
              <a:lnSpc>
                <a:spcPct val="100000"/>
              </a:lnSpc>
              <a:spcBef>
                <a:spcPts val="0"/>
              </a:spcBef>
              <a:spcAft>
                <a:spcPts val="0"/>
              </a:spcAft>
              <a:buNone/>
            </a:pPr>
            <a:r>
              <a:rPr b="1" i="0" lang="en" sz="1000" u="none" cap="none" strike="noStrike">
                <a:solidFill>
                  <a:srgbClr val="E6E9EF"/>
                </a:solidFill>
                <a:latin typeface="Arial"/>
                <a:ea typeface="Arial"/>
                <a:cs typeface="Arial"/>
                <a:sym typeface="Arial"/>
              </a:rPr>
              <a:t>INSIGHT LAYER</a:t>
            </a:r>
            <a:endParaRPr/>
          </a:p>
        </p:txBody>
      </p:sp>
      <p:sp>
        <p:nvSpPr>
          <p:cNvPr id="400" name="Google Shape;400;p56"/>
          <p:cNvSpPr/>
          <p:nvPr/>
        </p:nvSpPr>
        <p:spPr>
          <a:xfrm>
            <a:off x="4605641" y="2618665"/>
            <a:ext cx="2007075" cy="760000"/>
          </a:xfrm>
          <a:prstGeom prst="roundRect">
            <a:avLst>
              <a:gd fmla="val 8000" name="adj"/>
            </a:avLst>
          </a:prstGeom>
          <a:solidFill>
            <a:srgbClr val="171D27"/>
          </a:solidFill>
          <a:ln cap="flat" cmpd="sng" w="12700">
            <a:solidFill>
              <a:srgbClr val="4F7FD1"/>
            </a:solidFill>
            <a:prstDash val="solid"/>
            <a:round/>
            <a:headEnd len="sm" w="sm" type="none"/>
            <a:tailEnd len="sm" w="sm" type="none"/>
          </a:ln>
        </p:spPr>
        <p:txBody>
          <a:bodyPr anchorCtr="0" anchor="ctr" bIns="18000" lIns="27425" spcFirstLastPara="1" rIns="27425" wrap="square" tIns="18000">
            <a:noAutofit/>
          </a:bodyPr>
          <a:lstStyle/>
          <a:p>
            <a:pPr indent="0" lvl="0" marL="0" marR="0" rtl="0" algn="ctr">
              <a:lnSpc>
                <a:spcPct val="100000"/>
              </a:lnSpc>
              <a:spcBef>
                <a:spcPts val="0"/>
              </a:spcBef>
              <a:spcAft>
                <a:spcPts val="0"/>
              </a:spcAft>
              <a:buNone/>
            </a:pPr>
            <a:r>
              <a:rPr b="1" i="0" lang="en" sz="1000" u="none" cap="none" strike="noStrike">
                <a:solidFill>
                  <a:srgbClr val="4F7FD1"/>
                </a:solidFill>
                <a:latin typeface="Arial"/>
                <a:ea typeface="Arial"/>
                <a:cs typeface="Arial"/>
                <a:sym typeface="Arial"/>
              </a:rPr>
              <a:t>Claude</a:t>
            </a:r>
            <a:endParaRPr/>
          </a:p>
          <a:p>
            <a:pPr indent="0" lvl="0" marL="0" marR="0" rtl="0" algn="ctr">
              <a:lnSpc>
                <a:spcPct val="100000"/>
              </a:lnSpc>
              <a:spcBef>
                <a:spcPts val="150"/>
              </a:spcBef>
              <a:spcAft>
                <a:spcPts val="0"/>
              </a:spcAft>
              <a:buNone/>
            </a:pPr>
            <a:r>
              <a:rPr b="0" i="0" lang="en" sz="820" u="none" cap="none" strike="noStrike">
                <a:solidFill>
                  <a:srgbClr val="8B93A3"/>
                </a:solidFill>
                <a:latin typeface="Arial"/>
                <a:ea typeface="Arial"/>
                <a:cs typeface="Arial"/>
                <a:sym typeface="Arial"/>
              </a:rPr>
              <a:t>prompt-cached over the transcript · citation-checked before display</a:t>
            </a:r>
            <a:endParaRPr/>
          </a:p>
        </p:txBody>
      </p:sp>
      <p:sp>
        <p:nvSpPr>
          <p:cNvPr id="401" name="Google Shape;401;p56"/>
          <p:cNvSpPr/>
          <p:nvPr/>
        </p:nvSpPr>
        <p:spPr>
          <a:xfrm>
            <a:off x="6702716" y="2218665"/>
            <a:ext cx="2007075" cy="360000"/>
          </a:xfrm>
          <a:prstGeom prst="roundRect">
            <a:avLst>
              <a:gd fmla="val 8000" name="adj"/>
            </a:avLst>
          </a:prstGeom>
          <a:noFill/>
          <a:ln>
            <a:noFill/>
          </a:ln>
        </p:spPr>
        <p:txBody>
          <a:bodyPr anchorCtr="0" anchor="ctr" bIns="18000" lIns="27425" spcFirstLastPara="1" rIns="27425" wrap="square" tIns="18000">
            <a:noAutofit/>
          </a:bodyPr>
          <a:lstStyle/>
          <a:p>
            <a:pPr indent="0" lvl="0" marL="0" marR="0" rtl="0" algn="ctr">
              <a:lnSpc>
                <a:spcPct val="100000"/>
              </a:lnSpc>
              <a:spcBef>
                <a:spcPts val="0"/>
              </a:spcBef>
              <a:spcAft>
                <a:spcPts val="0"/>
              </a:spcAft>
              <a:buNone/>
            </a:pPr>
            <a:r>
              <a:rPr b="1" i="0" lang="en" sz="1000" u="none" cap="none" strike="noStrike">
                <a:solidFill>
                  <a:srgbClr val="E6E9EF"/>
                </a:solidFill>
                <a:latin typeface="Arial"/>
                <a:ea typeface="Arial"/>
                <a:cs typeface="Arial"/>
                <a:sym typeface="Arial"/>
              </a:rPr>
              <a:t>TEXT-TO-SPEECH (opt-in)</a:t>
            </a:r>
            <a:endParaRPr/>
          </a:p>
        </p:txBody>
      </p:sp>
      <p:sp>
        <p:nvSpPr>
          <p:cNvPr id="402" name="Google Shape;402;p56"/>
          <p:cNvSpPr/>
          <p:nvPr/>
        </p:nvSpPr>
        <p:spPr>
          <a:xfrm>
            <a:off x="6702716" y="2618665"/>
            <a:ext cx="2007075" cy="360000"/>
          </a:xfrm>
          <a:prstGeom prst="roundRect">
            <a:avLst>
              <a:gd fmla="val 10000" name="adj"/>
            </a:avLst>
          </a:prstGeom>
          <a:solidFill>
            <a:srgbClr val="171D27"/>
          </a:solidFill>
          <a:ln cap="flat" cmpd="sng" w="12700">
            <a:solidFill>
              <a:srgbClr val="4FBF8F"/>
            </a:solidFill>
            <a:prstDash val="solid"/>
            <a:round/>
            <a:headEnd len="sm" w="sm" type="none"/>
            <a:tailEnd len="sm" w="sm" type="none"/>
          </a:ln>
        </p:spPr>
        <p:txBody>
          <a:bodyPr anchorCtr="0" anchor="ctr" bIns="18000" lIns="27425" spcFirstLastPara="1" rIns="27425" wrap="square" tIns="18000">
            <a:noAutofit/>
          </a:bodyPr>
          <a:lstStyle/>
          <a:p>
            <a:pPr indent="0" lvl="0" marL="0" marR="0" rtl="0" algn="ctr">
              <a:lnSpc>
                <a:spcPct val="100000"/>
              </a:lnSpc>
              <a:spcBef>
                <a:spcPts val="0"/>
              </a:spcBef>
              <a:spcAft>
                <a:spcPts val="0"/>
              </a:spcAft>
              <a:buNone/>
            </a:pPr>
            <a:r>
              <a:rPr b="1" i="0" lang="en" sz="1000" u="none" cap="none" strike="noStrike">
                <a:solidFill>
                  <a:srgbClr val="4FBF8F"/>
                </a:solidFill>
                <a:latin typeface="Arial"/>
                <a:ea typeface="Arial"/>
                <a:cs typeface="Arial"/>
                <a:sym typeface="Arial"/>
              </a:rPr>
              <a:t>Piper</a:t>
            </a:r>
            <a:endParaRPr/>
          </a:p>
          <a:p>
            <a:pPr indent="0" lvl="0" marL="0" marR="0" rtl="0" algn="ctr">
              <a:lnSpc>
                <a:spcPct val="100000"/>
              </a:lnSpc>
              <a:spcBef>
                <a:spcPts val="150"/>
              </a:spcBef>
              <a:spcAft>
                <a:spcPts val="0"/>
              </a:spcAft>
              <a:buNone/>
            </a:pPr>
            <a:r>
              <a:rPr b="0" i="0" lang="en" sz="820" u="none" cap="none" strike="noStrike">
                <a:solidFill>
                  <a:srgbClr val="8B93A3"/>
                </a:solidFill>
                <a:latin typeface="Arial"/>
                <a:ea typeface="Arial"/>
                <a:cs typeface="Arial"/>
                <a:sym typeface="Arial"/>
              </a:rPr>
              <a:t>local-inference · tried first</a:t>
            </a:r>
            <a:endParaRPr/>
          </a:p>
        </p:txBody>
      </p:sp>
      <p:sp>
        <p:nvSpPr>
          <p:cNvPr id="403" name="Google Shape;403;p56"/>
          <p:cNvSpPr/>
          <p:nvPr/>
        </p:nvSpPr>
        <p:spPr>
          <a:xfrm>
            <a:off x="6702716" y="3018665"/>
            <a:ext cx="2007075" cy="360000"/>
          </a:xfrm>
          <a:prstGeom prst="roundRect">
            <a:avLst>
              <a:gd fmla="val 10000" name="adj"/>
            </a:avLst>
          </a:prstGeom>
          <a:solidFill>
            <a:srgbClr val="171D27"/>
          </a:solidFill>
          <a:ln cap="flat" cmpd="sng" w="12700">
            <a:solidFill>
              <a:srgbClr val="4F7FD1"/>
            </a:solidFill>
            <a:prstDash val="solid"/>
            <a:round/>
            <a:headEnd len="sm" w="sm" type="none"/>
            <a:tailEnd len="sm" w="sm" type="none"/>
          </a:ln>
        </p:spPr>
        <p:txBody>
          <a:bodyPr anchorCtr="0" anchor="ctr" bIns="18000" lIns="27425" spcFirstLastPara="1" rIns="27425" wrap="square" tIns="18000">
            <a:noAutofit/>
          </a:bodyPr>
          <a:lstStyle/>
          <a:p>
            <a:pPr indent="0" lvl="0" marL="0" marR="0" rtl="0" algn="ctr">
              <a:lnSpc>
                <a:spcPct val="100000"/>
              </a:lnSpc>
              <a:spcBef>
                <a:spcPts val="0"/>
              </a:spcBef>
              <a:spcAft>
                <a:spcPts val="0"/>
              </a:spcAft>
              <a:buNone/>
            </a:pPr>
            <a:r>
              <a:rPr b="1" i="0" lang="en" sz="1000" u="none" cap="none" strike="noStrike">
                <a:solidFill>
                  <a:srgbClr val="4F7FD1"/>
                </a:solidFill>
                <a:latin typeface="Arial"/>
                <a:ea typeface="Arial"/>
                <a:cs typeface="Arial"/>
                <a:sym typeface="Arial"/>
              </a:rPr>
              <a:t>ElevenLabs</a:t>
            </a:r>
            <a:endParaRPr/>
          </a:p>
          <a:p>
            <a:pPr indent="0" lvl="0" marL="0" marR="0" rtl="0" algn="ctr">
              <a:lnSpc>
                <a:spcPct val="100000"/>
              </a:lnSpc>
              <a:spcBef>
                <a:spcPts val="150"/>
              </a:spcBef>
              <a:spcAft>
                <a:spcPts val="0"/>
              </a:spcAft>
              <a:buNone/>
            </a:pPr>
            <a:r>
              <a:rPr b="0" i="0" lang="en" sz="820" u="none" cap="none" strike="noStrike">
                <a:solidFill>
                  <a:srgbClr val="8B93A3"/>
                </a:solidFill>
                <a:latin typeface="Arial"/>
                <a:ea typeface="Arial"/>
                <a:cs typeface="Arial"/>
                <a:sym typeface="Arial"/>
              </a:rPr>
              <a:t>cloud fallback</a:t>
            </a:r>
            <a:endParaRPr/>
          </a:p>
        </p:txBody>
      </p:sp>
      <p:sp>
        <p:nvSpPr>
          <p:cNvPr id="404" name="Google Shape;404;p56"/>
          <p:cNvSpPr/>
          <p:nvPr/>
        </p:nvSpPr>
        <p:spPr>
          <a:xfrm rot="5400000">
            <a:off x="4495641" y="3383665"/>
            <a:ext cx="130000" cy="130000"/>
          </a:xfrm>
          <a:prstGeom prst="chevron">
            <a:avLst>
              <a:gd fmla="val 50000" name="adj"/>
            </a:avLst>
          </a:prstGeom>
          <a:solidFill>
            <a:srgbClr val="8B93A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56"/>
          <p:cNvSpPr/>
          <p:nvPr/>
        </p:nvSpPr>
        <p:spPr>
          <a:xfrm>
            <a:off x="411491" y="3518665"/>
            <a:ext cx="4104150" cy="46000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18000" lIns="45700" spcFirstLastPara="1" rIns="45700" wrap="square" tIns="18000">
            <a:noAutofit/>
          </a:bodyPr>
          <a:lstStyle/>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POSTGRESQL (via Prisma)</a:t>
            </a:r>
            <a:endParaRPr/>
          </a:p>
          <a:p>
            <a:pPr indent="0" lvl="0" marL="0" marR="0" rtl="0" algn="ctr">
              <a:lnSpc>
                <a:spcPct val="100000"/>
              </a:lnSpc>
              <a:spcBef>
                <a:spcPts val="200"/>
              </a:spcBef>
              <a:spcAft>
                <a:spcPts val="0"/>
              </a:spcAft>
              <a:buNone/>
            </a:pPr>
            <a:r>
              <a:rPr b="0" i="0" lang="en" sz="850" u="none" cap="none" strike="noStrike">
                <a:solidFill>
                  <a:srgbClr val="8B93A3"/>
                </a:solidFill>
                <a:latin typeface="Arial"/>
                <a:ea typeface="Arial"/>
                <a:cs typeface="Arial"/>
                <a:sym typeface="Arial"/>
              </a:rPr>
              <a:t>sessions · transcript · chat/translations · insights (Railway)</a:t>
            </a:r>
            <a:endParaRPr/>
          </a:p>
        </p:txBody>
      </p:sp>
      <p:sp>
        <p:nvSpPr>
          <p:cNvPr id="406" name="Google Shape;406;p56"/>
          <p:cNvSpPr/>
          <p:nvPr/>
        </p:nvSpPr>
        <p:spPr>
          <a:xfrm>
            <a:off x="4605641" y="3518665"/>
            <a:ext cx="4104150" cy="460000"/>
          </a:xfrm>
          <a:prstGeom prst="roundRect">
            <a:avLst>
              <a:gd fmla="val 8000" name="adj"/>
            </a:avLst>
          </a:prstGeom>
          <a:solidFill>
            <a:srgbClr val="171D27"/>
          </a:solidFill>
          <a:ln cap="flat" cmpd="sng" w="12700">
            <a:solidFill>
              <a:srgbClr val="8B93A3"/>
            </a:solidFill>
            <a:prstDash val="solid"/>
            <a:round/>
            <a:headEnd len="sm" w="sm" type="none"/>
            <a:tailEnd len="sm" w="sm" type="none"/>
          </a:ln>
        </p:spPr>
        <p:txBody>
          <a:bodyPr anchorCtr="0" anchor="ctr" bIns="18000" lIns="45700" spcFirstLastPara="1" rIns="45700" wrap="square" tIns="18000">
            <a:noAutofit/>
          </a:bodyPr>
          <a:lstStyle/>
          <a:p>
            <a:pPr indent="0" lvl="0" marL="0" marR="0" rtl="0" algn="ctr">
              <a:lnSpc>
                <a:spcPct val="100000"/>
              </a:lnSpc>
              <a:spcBef>
                <a:spcPts val="0"/>
              </a:spcBef>
              <a:spcAft>
                <a:spcPts val="0"/>
              </a:spcAft>
              <a:buNone/>
            </a:pPr>
            <a:r>
              <a:rPr b="1" i="0" lang="en" sz="1100" u="none" cap="none" strike="noStrike">
                <a:solidFill>
                  <a:srgbClr val="E6E9EF"/>
                </a:solidFill>
                <a:latin typeface="Arial"/>
                <a:ea typeface="Arial"/>
                <a:cs typeface="Arial"/>
                <a:sym typeface="Arial"/>
              </a:rPr>
              <a:t>FACILITATOR DASHBOARD</a:t>
            </a:r>
            <a:endParaRPr/>
          </a:p>
          <a:p>
            <a:pPr indent="0" lvl="0" marL="0" marR="0" rtl="0" algn="ctr">
              <a:lnSpc>
                <a:spcPct val="100000"/>
              </a:lnSpc>
              <a:spcBef>
                <a:spcPts val="200"/>
              </a:spcBef>
              <a:spcAft>
                <a:spcPts val="0"/>
              </a:spcAft>
              <a:buNone/>
            </a:pPr>
            <a:r>
              <a:rPr b="0" i="0" lang="en" sz="850" u="none" cap="none" strike="noStrike">
                <a:solidFill>
                  <a:srgbClr val="8B93A3"/>
                </a:solidFill>
                <a:latin typeface="Arial"/>
                <a:ea typeface="Arial"/>
                <a:cs typeface="Arial"/>
                <a:sym typeface="Arial"/>
              </a:rPr>
              <a:t>goal · activity · decisions · blockers, citation-checked</a:t>
            </a:r>
            <a:endParaRPr/>
          </a:p>
        </p:txBody>
      </p:sp>
      <p:sp>
        <p:nvSpPr>
          <p:cNvPr id="407" name="Google Shape;407;p56"/>
          <p:cNvSpPr/>
          <p:nvPr/>
        </p:nvSpPr>
        <p:spPr>
          <a:xfrm>
            <a:off x="411491" y="4028665"/>
            <a:ext cx="4104150" cy="860000"/>
          </a:xfrm>
          <a:prstGeom prst="roundRect">
            <a:avLst>
              <a:gd fmla="val 6000" name="adj"/>
            </a:avLst>
          </a:prstGeom>
          <a:solidFill>
            <a:srgbClr val="10141B"/>
          </a:solidFill>
          <a:ln cap="flat" cmpd="sng" w="15875">
            <a:solidFill>
              <a:srgbClr val="4F7FD1"/>
            </a:solidFill>
            <a:prstDash val="solid"/>
            <a:round/>
            <a:headEnd len="sm" w="sm" type="none"/>
            <a:tailEnd len="sm" w="sm" type="none"/>
          </a:ln>
        </p:spPr>
        <p:txBody>
          <a:bodyPr anchorCtr="0" anchor="ctr" bIns="18000" lIns="45700" spcFirstLastPara="1" rIns="45700" wrap="square" tIns="18000">
            <a:noAutofit/>
          </a:bodyPr>
          <a:lstStyle/>
          <a:p>
            <a:pPr indent="0" lvl="0" marL="0" marR="0" rtl="0" algn="ctr">
              <a:lnSpc>
                <a:spcPct val="100000"/>
              </a:lnSpc>
              <a:spcBef>
                <a:spcPts val="0"/>
              </a:spcBef>
              <a:spcAft>
                <a:spcPts val="0"/>
              </a:spcAft>
              <a:buNone/>
            </a:pPr>
            <a:r>
              <a:rPr b="1" i="0" lang="en" sz="1100" u="none" cap="none" strike="noStrike">
                <a:solidFill>
                  <a:srgbClr val="4F7FD1"/>
                </a:solidFill>
                <a:latin typeface="Arial"/>
                <a:ea typeface="Arial"/>
                <a:cs typeface="Arial"/>
                <a:sym typeface="Arial"/>
              </a:rPr>
              <a:t>web — Railway service</a:t>
            </a:r>
            <a:endParaRPr/>
          </a:p>
          <a:p>
            <a:pPr indent="0" lvl="0" marL="0" marR="0" rtl="0" algn="ctr">
              <a:lnSpc>
                <a:spcPct val="100000"/>
              </a:lnSpc>
              <a:spcBef>
                <a:spcPts val="200"/>
              </a:spcBef>
              <a:spcAft>
                <a:spcPts val="0"/>
              </a:spcAft>
              <a:buNone/>
            </a:pPr>
            <a:r>
              <a:rPr b="0" i="0" lang="en" sz="850" u="none" cap="none" strike="noStrike">
                <a:solidFill>
                  <a:srgbClr val="E6E9EF"/>
                </a:solidFill>
                <a:latin typeface="Arial"/>
                <a:ea typeface="Arial"/>
                <a:cs typeface="Arial"/>
                <a:sym typeface="Arial"/>
              </a:rPr>
              <a:t>Next.js app + in-process LiveKit caption worker (server.ts) · holds the only DATABASE_URL</a:t>
            </a:r>
            <a:endParaRPr/>
          </a:p>
        </p:txBody>
      </p:sp>
      <p:sp>
        <p:nvSpPr>
          <p:cNvPr id="408" name="Google Shape;408;p56"/>
          <p:cNvSpPr/>
          <p:nvPr/>
        </p:nvSpPr>
        <p:spPr>
          <a:xfrm>
            <a:off x="4605641" y="4028665"/>
            <a:ext cx="4104150" cy="860000"/>
          </a:xfrm>
          <a:prstGeom prst="roundRect">
            <a:avLst>
              <a:gd fmla="val 6000" name="adj"/>
            </a:avLst>
          </a:prstGeom>
          <a:solidFill>
            <a:srgbClr val="10141B"/>
          </a:solidFill>
          <a:ln cap="flat" cmpd="sng" w="15875">
            <a:solidFill>
              <a:srgbClr val="4FBF8F"/>
            </a:solidFill>
            <a:prstDash val="solid"/>
            <a:round/>
            <a:headEnd len="sm" w="sm" type="none"/>
            <a:tailEnd len="sm" w="sm" type="none"/>
          </a:ln>
        </p:spPr>
        <p:txBody>
          <a:bodyPr anchorCtr="0" anchor="ctr" bIns="18000" lIns="45700" spcFirstLastPara="1" rIns="45700" wrap="square" tIns="18000">
            <a:noAutofit/>
          </a:bodyPr>
          <a:lstStyle/>
          <a:p>
            <a:pPr indent="0" lvl="0" marL="0" marR="0" rtl="0" algn="ctr">
              <a:lnSpc>
                <a:spcPct val="100000"/>
              </a:lnSpc>
              <a:spcBef>
                <a:spcPts val="0"/>
              </a:spcBef>
              <a:spcAft>
                <a:spcPts val="0"/>
              </a:spcAft>
              <a:buNone/>
            </a:pPr>
            <a:r>
              <a:rPr b="1" i="0" lang="en" sz="1100" u="none" cap="none" strike="noStrike">
                <a:solidFill>
                  <a:srgbClr val="4FBF8F"/>
                </a:solidFill>
                <a:latin typeface="Arial"/>
                <a:ea typeface="Arial"/>
                <a:cs typeface="Arial"/>
                <a:sym typeface="Arial"/>
              </a:rPr>
              <a:t>local-inference — Railway service</a:t>
            </a:r>
            <a:endParaRPr/>
          </a:p>
          <a:p>
            <a:pPr indent="0" lvl="0" marL="0" marR="0" rtl="0" algn="ctr">
              <a:lnSpc>
                <a:spcPct val="100000"/>
              </a:lnSpc>
              <a:spcBef>
                <a:spcPts val="200"/>
              </a:spcBef>
              <a:spcAft>
                <a:spcPts val="0"/>
              </a:spcAft>
              <a:buNone/>
            </a:pPr>
            <a:r>
              <a:rPr b="0" i="0" lang="en" sz="850" u="none" cap="none" strike="noStrike">
                <a:solidFill>
                  <a:srgbClr val="E6E9EF"/>
                </a:solidFill>
                <a:latin typeface="Arial"/>
                <a:ea typeface="Arial"/>
                <a:cs typeface="Arial"/>
                <a:sym typeface="Arial"/>
              </a:rPr>
              <a:t>FastAPI: NLLB + faster-whisper + Piper · no DB access · private network + shared secret</a:t>
            </a:r>
            <a:endParaRPr/>
          </a:p>
        </p:txBody>
      </p:sp>
      <p:sp>
        <p:nvSpPr>
          <p:cNvPr id="409" name="Google Shape;409;p56"/>
          <p:cNvSpPr txBox="1"/>
          <p:nvPr/>
        </p:nvSpPr>
        <p:spPr>
          <a:xfrm>
            <a:off x="411491" y="4918665"/>
            <a:ext cx="8298300" cy="18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en" sz="800" u="none" cap="none" strike="noStrike">
                <a:solidFill>
                  <a:srgbClr val="8B93A3"/>
                </a:solidFill>
                <a:latin typeface="Arial"/>
                <a:ea typeface="Arial"/>
                <a:cs typeface="Arial"/>
                <a:sym typeface="Arial"/>
              </a:rPr>
              <a:t>Docker Compose runs both services + Postgres + a local LiveKit dev server locally with one command.</a:t>
            </a:r>
            <a:endParaRPr/>
          </a:p>
        </p:txBody>
      </p:sp>
      <p:sp>
        <p:nvSpPr>
          <p:cNvPr id="410" name="Google Shape;410;p56"/>
          <p:cNvSpPr txBox="1"/>
          <p:nvPr/>
        </p:nvSpPr>
        <p:spPr>
          <a:xfrm>
            <a:off x="7001075" y="771000"/>
            <a:ext cx="1708800" cy="1800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en" sz="1100" u="none" cap="none" strike="noStrike">
                <a:solidFill>
                  <a:srgbClr val="4F7FD1"/>
                </a:solidFill>
                <a:latin typeface="Arial"/>
                <a:ea typeface="Arial"/>
                <a:cs typeface="Arial"/>
                <a:sym typeface="Arial"/>
              </a:rPr>
              <a:t>managed cloud APIs</a:t>
            </a:r>
            <a:r>
              <a:rPr b="0" i="0" lang="en" sz="1100" u="none" cap="none" strike="noStrike">
                <a:solidFill>
                  <a:srgbClr val="8B93A3"/>
                </a:solidFill>
                <a:latin typeface="Arial"/>
                <a:ea typeface="Arial"/>
                <a:cs typeface="Arial"/>
                <a:sym typeface="Arial"/>
              </a:rPr>
              <a:t> </a:t>
            </a:r>
            <a:endParaRPr/>
          </a:p>
        </p:txBody>
      </p:sp>
    </p:spTree>
  </p:cSld>
  <p:clrMapOvr>
    <a:masterClrMapping/>
  </p:clrMapOvr>
  <p:timing>
    <p:tnLst>
      <p:par>
        <p:cTn id="1" dur="indefinite" restart="never" nodeType="tmRoot">
          <p:childTnLst>
            <p:seq concat="0" nextAc="seek">
              <p:cTn id="2" dur="indefinite" nodeType="mainSeq">
                <p:childTnLst>
                  <p:par>
                    <p:cTn id="3" fill="hold">
                      <p:stCondLst>
                        <p:cond delay="indefinite"/>
                      </p:stCondLst>
                      <p:childTnLst>
                        <p:par>
                          <p:cTn id="4" presetID="1" presetClass="entr" presetSubtype="0" fill="hold" grpId="0" nodeType="clickEffect">
                            <p:stCondLst>
                              <p:cond delay="0"/>
                            </p:stCondLst>
                            <p:childTnLst>
                              <p:set>
                                <p:cBhvr>
                                  <p:cTn id="5" dur="1" fill="hold">
                                    <p:stCondLst>
                                      <p:cond delay="0"/>
                                    </p:stCondLst>
                                  </p:cTn>
                                  <p:tgtEl>
                                    <p:spTgt spid="388"/>
                                  </p:tgtEl>
                                  <p:attrNameLst>
                                    <p:attrName>style.visibility</p:attrName>
                                  </p:attrNameLst>
                                </p:cBhvr>
                                <p:to>
                                  <p:strVal val="visible"/>
                                </p:to>
                              </p:set>
                            </p:childTnLst>
                          </p:cTn>
                        </p:par>
                      </p:childTnLst>
                    </p:cTn>
                  </p:par>
                  <p:par>
                    <p:cTn id="6" fill="hold">
                      <p:stCondLst>
                        <p:cond delay="indefinite"/>
                      </p:stCondLst>
                      <p:childTnLst>
                        <p:par>
                          <p:cTn id="7" presetID="1" presetClass="entr" presetSubtype="0" fill="hold" grpId="1" nodeType="clickEffect">
                            <p:stCondLst>
                              <p:cond delay="0"/>
                            </p:stCondLst>
                            <p:childTnLst>
                              <p:set>
                                <p:cBhvr>
                                  <p:cTn id="8" dur="1" fill="hold">
                                    <p:stCondLst>
                                      <p:cond delay="0"/>
                                    </p:stCondLst>
                                  </p:cTn>
                                  <p:tgtEl>
                                    <p:spTgt spid="389"/>
                                  </p:tgtEl>
                                  <p:attrNameLst>
                                    <p:attrName>style.visibility</p:attrName>
                                  </p:attrNameLst>
                                </p:cBhvr>
                                <p:to>
                                  <p:strVal val="visible"/>
                                </p:to>
                              </p:set>
                            </p:childTnLst>
                          </p:cTn>
                        </p:par>
                        <p:par>
                          <p:cTn id="9" presetID="1" presetClass="entr" presetSubtype="0" fill="hold" grpId="2" nodeType="withEffect">
                            <p:stCondLst>
                              <p:cond delay="0"/>
                            </p:stCondLst>
                            <p:childTnLst>
                              <p:set>
                                <p:cBhvr>
                                  <p:cTn id="10" dur="1" fill="hold">
                                    <p:stCondLst>
                                      <p:cond delay="0"/>
                                    </p:stCondLst>
                                  </p:cTn>
                                  <p:tgtEl>
                                    <p:spTgt spid="390"/>
                                  </p:tgtEl>
                                  <p:attrNameLst>
                                    <p:attrName>style.visibility</p:attrName>
                                  </p:attrNameLst>
                                </p:cBhvr>
                                <p:to>
                                  <p:strVal val="visible"/>
                                </p:to>
                              </p:set>
                            </p:childTnLst>
                          </p:cTn>
                        </p:par>
                        <p:par>
                          <p:cTn id="11" presetID="1" presetClass="entr" presetSubtype="0" fill="hold" grpId="3" nodeType="withEffect">
                            <p:stCondLst>
                              <p:cond delay="0"/>
                            </p:stCondLst>
                            <p:childTnLst>
                              <p:set>
                                <p:cBhvr>
                                  <p:cTn id="12" dur="1" fill="hold">
                                    <p:stCondLst>
                                      <p:cond delay="0"/>
                                    </p:stCondLst>
                                  </p:cTn>
                                  <p:tgtEl>
                                    <p:spTgt spid="391"/>
                                  </p:tgtEl>
                                  <p:attrNameLst>
                                    <p:attrName>style.visibility</p:attrName>
                                  </p:attrNameLst>
                                </p:cBhvr>
                                <p:to>
                                  <p:strVal val="visible"/>
                                </p:to>
                              </p:set>
                            </p:childTnLst>
                          </p:cTn>
                        </p:par>
                      </p:childTnLst>
                    </p:cTn>
                  </p:par>
                  <p:par>
                    <p:cTn id="13" fill="hold">
                      <p:stCondLst>
                        <p:cond delay="indefinite"/>
                      </p:stCondLst>
                      <p:childTnLst>
                        <p:par>
                          <p:cTn id="14" presetID="1" presetClass="entr" presetSubtype="0" fill="hold" grpId="4" nodeType="clickEffect">
                            <p:stCondLst>
                              <p:cond delay="0"/>
                            </p:stCondLst>
                            <p:childTnLst>
                              <p:set>
                                <p:cBhvr>
                                  <p:cTn id="15" dur="1" fill="hold">
                                    <p:stCondLst>
                                      <p:cond delay="0"/>
                                    </p:stCondLst>
                                  </p:cTn>
                                  <p:tgtEl>
                                    <p:spTgt spid="392"/>
                                  </p:tgtEl>
                                  <p:attrNameLst>
                                    <p:attrName>style.visibility</p:attrName>
                                  </p:attrNameLst>
                                </p:cBhvr>
                                <p:to>
                                  <p:strVal val="visible"/>
                                </p:to>
                              </p:set>
                            </p:childTnLst>
                          </p:cTn>
                        </p:par>
                        <p:par>
                          <p:cTn id="16" presetID="1" presetClass="entr" presetSubtype="0" fill="hold" grpId="5" nodeType="withEffect">
                            <p:stCondLst>
                              <p:cond delay="0"/>
                            </p:stCondLst>
                            <p:childTnLst>
                              <p:set>
                                <p:cBhvr>
                                  <p:cTn id="17" dur="1" fill="hold">
                                    <p:stCondLst>
                                      <p:cond delay="0"/>
                                    </p:stCondLst>
                                  </p:cTn>
                                  <p:tgtEl>
                                    <p:spTgt spid="393"/>
                                  </p:tgtEl>
                                  <p:attrNameLst>
                                    <p:attrName>style.visibility</p:attrName>
                                  </p:attrNameLst>
                                </p:cBhvr>
                                <p:to>
                                  <p:strVal val="visible"/>
                                </p:to>
                              </p:set>
                            </p:childTnLst>
                          </p:cTn>
                        </p:par>
                        <p:par>
                          <p:cTn id="18" presetID="1" presetClass="entr" presetSubtype="0" fill="hold" grpId="6" nodeType="withEffect">
                            <p:stCondLst>
                              <p:cond delay="0"/>
                            </p:stCondLst>
                            <p:childTnLst>
                              <p:set>
                                <p:cBhvr>
                                  <p:cTn id="19" dur="1" fill="hold">
                                    <p:stCondLst>
                                      <p:cond delay="0"/>
                                    </p:stCondLst>
                                  </p:cTn>
                                  <p:tgtEl>
                                    <p:spTgt spid="396"/>
                                  </p:tgtEl>
                                  <p:attrNameLst>
                                    <p:attrName>style.visibility</p:attrName>
                                  </p:attrNameLst>
                                </p:cBhvr>
                                <p:to>
                                  <p:strVal val="visible"/>
                                </p:to>
                              </p:set>
                            </p:childTnLst>
                          </p:cTn>
                        </p:par>
                        <p:par>
                          <p:cTn id="20" presetID="1" presetClass="entr" presetSubtype="0" fill="hold" grpId="7" nodeType="withEffect">
                            <p:stCondLst>
                              <p:cond delay="0"/>
                            </p:stCondLst>
                            <p:childTnLst>
                              <p:set>
                                <p:cBhvr>
                                  <p:cTn id="21" dur="1" fill="hold">
                                    <p:stCondLst>
                                      <p:cond delay="0"/>
                                    </p:stCondLst>
                                  </p:cTn>
                                  <p:tgtEl>
                                    <p:spTgt spid="399"/>
                                  </p:tgtEl>
                                  <p:attrNameLst>
                                    <p:attrName>style.visibility</p:attrName>
                                  </p:attrNameLst>
                                </p:cBhvr>
                                <p:to>
                                  <p:strVal val="visible"/>
                                </p:to>
                              </p:set>
                            </p:childTnLst>
                          </p:cTn>
                        </p:par>
                        <p:par>
                          <p:cTn id="22" presetID="1" presetClass="entr" presetSubtype="0" fill="hold" grpId="8" nodeType="withEffect">
                            <p:stCondLst>
                              <p:cond delay="0"/>
                            </p:stCondLst>
                            <p:childTnLst>
                              <p:set>
                                <p:cBhvr>
                                  <p:cTn id="23" dur="1" fill="hold">
                                    <p:stCondLst>
                                      <p:cond delay="0"/>
                                    </p:stCondLst>
                                  </p:cTn>
                                  <p:tgtEl>
                                    <p:spTgt spid="401"/>
                                  </p:tgtEl>
                                  <p:attrNameLst>
                                    <p:attrName>style.visibility</p:attrName>
                                  </p:attrNameLst>
                                </p:cBhvr>
                                <p:to>
                                  <p:strVal val="visible"/>
                                </p:to>
                              </p:set>
                            </p:childTnLst>
                          </p:cTn>
                        </p:par>
                      </p:childTnLst>
                    </p:cTn>
                  </p:par>
                  <p:par>
                    <p:cTn id="24" fill="hold">
                      <p:stCondLst>
                        <p:cond delay="indefinite"/>
                      </p:stCondLst>
                      <p:childTnLst>
                        <p:par>
                          <p:cTn id="25" presetID="1" presetClass="entr" presetSubtype="0" fill="hold" grpId="9" nodeType="clickEffect">
                            <p:stCondLst>
                              <p:cond delay="0"/>
                            </p:stCondLst>
                            <p:childTnLst>
                              <p:set>
                                <p:cBhvr>
                                  <p:cTn id="26" dur="1" fill="hold">
                                    <p:stCondLst>
                                      <p:cond delay="0"/>
                                    </p:stCondLst>
                                  </p:cTn>
                                  <p:tgtEl>
                                    <p:spTgt spid="395"/>
                                  </p:tgtEl>
                                  <p:attrNameLst>
                                    <p:attrName>style.visibility</p:attrName>
                                  </p:attrNameLst>
                                </p:cBhvr>
                                <p:to>
                                  <p:strVal val="visible"/>
                                </p:to>
                              </p:set>
                            </p:childTnLst>
                          </p:cTn>
                        </p:par>
                        <p:par>
                          <p:cTn id="27" presetID="1" presetClass="entr" presetSubtype="0" fill="hold" grpId="10" nodeType="withEffect">
                            <p:stCondLst>
                              <p:cond delay="0"/>
                            </p:stCondLst>
                            <p:childTnLst>
                              <p:set>
                                <p:cBhvr>
                                  <p:cTn id="28" dur="1" fill="hold">
                                    <p:stCondLst>
                                      <p:cond delay="0"/>
                                    </p:stCondLst>
                                  </p:cTn>
                                  <p:tgtEl>
                                    <p:spTgt spid="398"/>
                                  </p:tgtEl>
                                  <p:attrNameLst>
                                    <p:attrName>style.visibility</p:attrName>
                                  </p:attrNameLst>
                                </p:cBhvr>
                                <p:to>
                                  <p:strVal val="visible"/>
                                </p:to>
                              </p:set>
                            </p:childTnLst>
                          </p:cTn>
                        </p:par>
                        <p:par>
                          <p:cTn id="29" presetID="1" presetClass="entr" presetSubtype="0" fill="hold" grpId="11" nodeType="withEffect">
                            <p:stCondLst>
                              <p:cond delay="0"/>
                            </p:stCondLst>
                            <p:childTnLst>
                              <p:set>
                                <p:cBhvr>
                                  <p:cTn id="30" dur="1" fill="hold">
                                    <p:stCondLst>
                                      <p:cond delay="0"/>
                                    </p:stCondLst>
                                  </p:cTn>
                                  <p:tgtEl>
                                    <p:spTgt spid="400"/>
                                  </p:tgtEl>
                                  <p:attrNameLst>
                                    <p:attrName>style.visibility</p:attrName>
                                  </p:attrNameLst>
                                </p:cBhvr>
                                <p:to>
                                  <p:strVal val="visible"/>
                                </p:to>
                              </p:set>
                            </p:childTnLst>
                          </p:cTn>
                        </p:par>
                        <p:par>
                          <p:cTn id="31" presetID="1" presetClass="entr" presetSubtype="0" fill="hold" grpId="12" nodeType="withEffect">
                            <p:stCondLst>
                              <p:cond delay="0"/>
                            </p:stCondLst>
                            <p:childTnLst>
                              <p:set>
                                <p:cBhvr>
                                  <p:cTn id="32" dur="1" fill="hold">
                                    <p:stCondLst>
                                      <p:cond delay="0"/>
                                    </p:stCondLst>
                                  </p:cTn>
                                  <p:tgtEl>
                                    <p:spTgt spid="403"/>
                                  </p:tgtEl>
                                  <p:attrNameLst>
                                    <p:attrName>style.visibility</p:attrName>
                                  </p:attrNameLst>
                                </p:cBhvr>
                                <p:to>
                                  <p:strVal val="visible"/>
                                </p:to>
                              </p:set>
                            </p:childTnLst>
                          </p:cTn>
                        </p:par>
                      </p:childTnLst>
                    </p:cTn>
                  </p:par>
                  <p:par>
                    <p:cTn id="33" fill="hold">
                      <p:stCondLst>
                        <p:cond delay="indefinite"/>
                      </p:stCondLst>
                      <p:childTnLst>
                        <p:par>
                          <p:cTn id="34" presetID="1" presetClass="entr" presetSubtype="0" fill="hold" grpId="13" nodeType="clickEffect">
                            <p:stCondLst>
                              <p:cond delay="0"/>
                            </p:stCondLst>
                            <p:childTnLst>
                              <p:set>
                                <p:cBhvr>
                                  <p:cTn id="35" dur="1" fill="hold">
                                    <p:stCondLst>
                                      <p:cond delay="0"/>
                                    </p:stCondLst>
                                  </p:cTn>
                                  <p:tgtEl>
                                    <p:spTgt spid="394"/>
                                  </p:tgtEl>
                                  <p:attrNameLst>
                                    <p:attrName>style.visibility</p:attrName>
                                  </p:attrNameLst>
                                </p:cBhvr>
                                <p:to>
                                  <p:strVal val="visible"/>
                                </p:to>
                              </p:set>
                            </p:childTnLst>
                          </p:cTn>
                        </p:par>
                        <p:par>
                          <p:cTn id="36" presetID="1" presetClass="entr" presetSubtype="0" fill="hold" grpId="14" nodeType="withEffect">
                            <p:stCondLst>
                              <p:cond delay="0"/>
                            </p:stCondLst>
                            <p:childTnLst>
                              <p:set>
                                <p:cBhvr>
                                  <p:cTn id="37" dur="1" fill="hold">
                                    <p:stCondLst>
                                      <p:cond delay="0"/>
                                    </p:stCondLst>
                                  </p:cTn>
                                  <p:tgtEl>
                                    <p:spTgt spid="397"/>
                                  </p:tgtEl>
                                  <p:attrNameLst>
                                    <p:attrName>style.visibility</p:attrName>
                                  </p:attrNameLst>
                                </p:cBhvr>
                                <p:to>
                                  <p:strVal val="visible"/>
                                </p:to>
                              </p:set>
                            </p:childTnLst>
                          </p:cTn>
                        </p:par>
                        <p:par>
                          <p:cTn id="38" presetID="1" presetClass="entr" presetSubtype="0" fill="hold" grpId="15" nodeType="withEffect">
                            <p:stCondLst>
                              <p:cond delay="0"/>
                            </p:stCondLst>
                            <p:childTnLst>
                              <p:set>
                                <p:cBhvr>
                                  <p:cTn id="39" dur="1" fill="hold">
                                    <p:stCondLst>
                                      <p:cond delay="0"/>
                                    </p:stCondLst>
                                  </p:cTn>
                                  <p:tgtEl>
                                    <p:spTgt spid="402"/>
                                  </p:tgtEl>
                                  <p:attrNameLst>
                                    <p:attrName>style.visibility</p:attrName>
                                  </p:attrNameLst>
                                </p:cBhvr>
                                <p:to>
                                  <p:strVal val="visible"/>
                                </p:to>
                              </p:set>
                            </p:childTnLst>
                          </p:cTn>
                        </p:par>
                      </p:childTnLst>
                    </p:cTn>
                  </p:par>
                  <p:par>
                    <p:cTn id="40" fill="hold">
                      <p:stCondLst>
                        <p:cond delay="indefinite"/>
                      </p:stCondLst>
                      <p:childTnLst>
                        <p:par>
                          <p:cTn id="41" presetID="1" presetClass="entr" presetSubtype="0" fill="hold" grpId="16" nodeType="clickEffect">
                            <p:stCondLst>
                              <p:cond delay="0"/>
                            </p:stCondLst>
                            <p:childTnLst>
                              <p:set>
                                <p:cBhvr>
                                  <p:cTn id="42" dur="1" fill="hold">
                                    <p:stCondLst>
                                      <p:cond delay="0"/>
                                    </p:stCondLst>
                                  </p:cTn>
                                  <p:tgtEl>
                                    <p:spTgt spid="404"/>
                                  </p:tgtEl>
                                  <p:attrNameLst>
                                    <p:attrName>style.visibility</p:attrName>
                                  </p:attrNameLst>
                                </p:cBhvr>
                                <p:to>
                                  <p:strVal val="visible"/>
                                </p:to>
                              </p:set>
                            </p:childTnLst>
                          </p:cTn>
                        </p:par>
                        <p:par>
                          <p:cTn id="43" presetID="1" presetClass="entr" presetSubtype="0" fill="hold" grpId="17" nodeType="withEffect">
                            <p:stCondLst>
                              <p:cond delay="0"/>
                            </p:stCondLst>
                            <p:childTnLst>
                              <p:set>
                                <p:cBhvr>
                                  <p:cTn id="44" dur="1" fill="hold">
                                    <p:stCondLst>
                                      <p:cond delay="0"/>
                                    </p:stCondLst>
                                  </p:cTn>
                                  <p:tgtEl>
                                    <p:spTgt spid="405"/>
                                  </p:tgtEl>
                                  <p:attrNameLst>
                                    <p:attrName>style.visibility</p:attrName>
                                  </p:attrNameLst>
                                </p:cBhvr>
                                <p:to>
                                  <p:strVal val="visible"/>
                                </p:to>
                              </p:set>
                            </p:childTnLst>
                          </p:cTn>
                        </p:par>
                        <p:par>
                          <p:cTn id="45" presetID="1" presetClass="entr" presetSubtype="0" fill="hold" grpId="18" nodeType="withEffect">
                            <p:stCondLst>
                              <p:cond delay="0"/>
                            </p:stCondLst>
                            <p:childTnLst>
                              <p:set>
                                <p:cBhvr>
                                  <p:cTn id="46" dur="1" fill="hold">
                                    <p:stCondLst>
                                      <p:cond delay="0"/>
                                    </p:stCondLst>
                                  </p:cTn>
                                  <p:tgtEl>
                                    <p:spTgt spid="406"/>
                                  </p:tgtEl>
                                  <p:attrNameLst>
                                    <p:attrName>style.visibility</p:attrName>
                                  </p:attrNameLst>
                                </p:cBhvr>
                                <p:to>
                                  <p:strVal val="visible"/>
                                </p:to>
                              </p:set>
                            </p:childTnLst>
                          </p:cTn>
                        </p:par>
                      </p:childTnLst>
                    </p:cTn>
                  </p:par>
                  <p:par>
                    <p:cTn id="47" fill="hold">
                      <p:stCondLst>
                        <p:cond delay="indefinite"/>
                      </p:stCondLst>
                      <p:childTnLst>
                        <p:par>
                          <p:cTn id="48" presetID="1" presetClass="entr" presetSubtype="0" fill="hold" grpId="19" nodeType="clickEffect">
                            <p:stCondLst>
                              <p:cond delay="0"/>
                            </p:stCondLst>
                            <p:childTnLst>
                              <p:set>
                                <p:cBhvr>
                                  <p:cTn id="49" dur="1" fill="hold">
                                    <p:stCondLst>
                                      <p:cond delay="0"/>
                                    </p:stCondLst>
                                  </p:cTn>
                                  <p:tgtEl>
                                    <p:spTgt spid="407"/>
                                  </p:tgtEl>
                                  <p:attrNameLst>
                                    <p:attrName>style.visibility</p:attrName>
                                  </p:attrNameLst>
                                </p:cBhvr>
                                <p:to>
                                  <p:strVal val="visible"/>
                                </p:to>
                              </p:set>
                            </p:childTnLst>
                          </p:cTn>
                        </p:par>
                        <p:par>
                          <p:cTn id="50" presetID="1" presetClass="entr" presetSubtype="0" fill="hold" grpId="20" nodeType="withEffect">
                            <p:stCondLst>
                              <p:cond delay="0"/>
                            </p:stCondLst>
                            <p:childTnLst>
                              <p:set>
                                <p:cBhvr>
                                  <p:cTn id="51" dur="1" fill="hold">
                                    <p:stCondLst>
                                      <p:cond delay="0"/>
                                    </p:stCondLst>
                                  </p:cTn>
                                  <p:tgtEl>
                                    <p:spTgt spid="408"/>
                                  </p:tgtEl>
                                  <p:attrNameLst>
                                    <p:attrName>style.visibility</p:attrName>
                                  </p:attrNameLst>
                                </p:cBhvr>
                                <p:to>
                                  <p:strVal val="visible"/>
                                </p:to>
                              </p:set>
                            </p:childTnLst>
                          </p:cTn>
                        </p:par>
                      </p:childTnLst>
                    </p:cTn>
                  </p:par>
                  <p:par>
                    <p:cTn id="52" fill="hold">
                      <p:stCondLst>
                        <p:cond delay="indefinite"/>
                      </p:stCondLst>
                      <p:childTnLst>
                        <p:par>
                          <p:cTn id="53" presetID="1" presetClass="entr" presetSubtype="0" fill="hold" grpId="21" nodeType="clickEffect">
                            <p:stCondLst>
                              <p:cond delay="0"/>
                            </p:stCondLst>
                            <p:childTnLst>
                              <p:set>
                                <p:cBhvr>
                                  <p:cTn id="54" dur="1" fill="hold">
                                    <p:stCondLst>
                                      <p:cond delay="0"/>
                                    </p:stCondLst>
                                  </p:cTn>
                                  <p:tgtEl>
                                    <p:spTgt spid="409"/>
                                  </p:tgtEl>
                                  <p:attrNameLst>
                                    <p:attrName>style.visibility</p:attrName>
                                  </p:attrNameLst>
                                </p:cBhvr>
                                <p:to>
                                  <p:strVal val="visible"/>
                                </p:to>
                              </p:set>
                            </p:childTnLst>
                          </p:cTn>
                        </p:par>
                      </p:childTnLst>
                    </p:cTn>
                  </p:par>
                </p:childTnLst>
              </p:cTn>
            </p:seq>
          </p:childTnLst>
        </p:cTn>
      </p:par>
    </p:tnLst>
    <p:bldLst>
      <p:bldP spid="388" grpId="0"/>
      <p:bldP spid="389" grpId="1"/>
      <p:bldP spid="390" grpId="2"/>
      <p:bldP spid="391" grpId="3"/>
      <p:bldP spid="392" grpId="4"/>
      <p:bldP spid="393" grpId="5"/>
      <p:bldP spid="396" grpId="6"/>
      <p:bldP spid="399" grpId="7"/>
      <p:bldP spid="401" grpId="8"/>
      <p:bldP spid="395" grpId="9"/>
      <p:bldP spid="398" grpId="10"/>
      <p:bldP spid="400" grpId="11"/>
      <p:bldP spid="403" grpId="12"/>
      <p:bldP spid="394" grpId="13"/>
      <p:bldP spid="397" grpId="14"/>
      <p:bldP spid="402" grpId="15"/>
      <p:bldP spid="404" grpId="16"/>
      <p:bldP spid="405" grpId="17"/>
      <p:bldP spid="406" grpId="18"/>
      <p:bldP spid="407" grpId="19"/>
      <p:bldP spid="408" grpId="20"/>
      <p:bldP spid="409" grpId="21"/>
    </p:bld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57"/>
          <p:cNvSpPr/>
          <p:nvPr/>
        </p:nvSpPr>
        <p:spPr>
          <a:xfrm>
            <a:off x="-102300" y="0"/>
            <a:ext cx="9461400" cy="5143500"/>
          </a:xfrm>
          <a:prstGeom prst="rect">
            <a:avLst/>
          </a:prstGeom>
          <a:solidFill>
            <a:srgbClr val="0D1117"/>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6" name="Google Shape;416;p57"/>
          <p:cNvSpPr txBox="1"/>
          <p:nvPr/>
        </p:nvSpPr>
        <p:spPr>
          <a:xfrm>
            <a:off x="685868" y="2178863"/>
            <a:ext cx="7770300" cy="762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 sz="4500" u="none" cap="none" strike="noStrike">
                <a:solidFill>
                  <a:srgbClr val="00FFFF"/>
                </a:solidFill>
                <a:latin typeface="Arial"/>
                <a:ea typeface="Arial"/>
                <a:cs typeface="Arial"/>
                <a:sym typeface="Arial"/>
              </a:rPr>
              <a:t>Interlinga.</a:t>
            </a:r>
            <a:r>
              <a:rPr b="1" i="0" lang="en" sz="4500" u="none" cap="none" strike="noStrike">
                <a:solidFill>
                  <a:schemeClr val="accent1"/>
                </a:solidFill>
                <a:latin typeface="Arial"/>
                <a:ea typeface="Arial"/>
                <a:cs typeface="Arial"/>
                <a:sym typeface="Arial"/>
              </a:rPr>
              <a:t>ai</a:t>
            </a:r>
            <a:endParaRPr sz="1100">
              <a:solidFill>
                <a:schemeClr val="accent1"/>
              </a:solidFill>
            </a:endParaRPr>
          </a:p>
        </p:txBody>
      </p:sp>
      <p:sp>
        <p:nvSpPr>
          <p:cNvPr id="417" name="Google Shape;417;p57"/>
          <p:cNvSpPr/>
          <p:nvPr/>
        </p:nvSpPr>
        <p:spPr>
          <a:xfrm>
            <a:off x="4022320" y="3148150"/>
            <a:ext cx="1097400" cy="28500"/>
          </a:xfrm>
          <a:prstGeom prst="rect">
            <a:avLst/>
          </a:prstGeom>
          <a:solidFill>
            <a:srgbClr val="4F7FD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8" name="Google Shape;418;p57"/>
          <p:cNvSpPr txBox="1"/>
          <p:nvPr/>
        </p:nvSpPr>
        <p:spPr>
          <a:xfrm>
            <a:off x="1028765" y="3383915"/>
            <a:ext cx="7084500" cy="3000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None/>
            </a:pPr>
            <a:r>
              <a:rPr lang="en" sz="1500">
                <a:solidFill>
                  <a:schemeClr val="lt1"/>
                </a:solidFill>
              </a:rPr>
              <a:t>Thank you.</a:t>
            </a:r>
            <a:endParaRPr sz="1100">
              <a:solidFill>
                <a:schemeClr val="lt1"/>
              </a:solidFill>
            </a:endParaRPr>
          </a:p>
        </p:txBody>
      </p:sp>
      <p:pic>
        <p:nvPicPr>
          <p:cNvPr descr="/home/claude/interlinga-deck/logo_mark.png" id="419" name="Google Shape;419;p57"/>
          <p:cNvPicPr preferRelativeResize="0"/>
          <p:nvPr/>
        </p:nvPicPr>
        <p:blipFill rotWithShape="1">
          <a:blip r:embed="rId3">
            <a:alphaModFix/>
          </a:blip>
          <a:srcRect b="0" l="0" r="0" t="0"/>
          <a:stretch/>
        </p:blipFill>
        <p:spPr>
          <a:xfrm>
            <a:off x="3658737" y="647550"/>
            <a:ext cx="1824600" cy="1337025"/>
          </a:xfrm>
          <a:prstGeom prst="rect">
            <a:avLst/>
          </a:prstGeom>
          <a:noFill/>
          <a:ln>
            <a:noFill/>
          </a:ln>
        </p:spPr>
      </p:pic>
    </p:spTree>
  </p:cSld>
  <p:clrMapOvr>
    <a:masterClrMapping/>
  </p:clrMapOvr>
  <p:timing>
    <p:tnLst>
      <p:par>
        <p:cTn id="1" dur="indefinite" restart="never" nodeType="tmRoot">
          <p:childTnLst>
            <p:seq concat="0" nextAc="seek">
              <p:cTn id="2" dur="indefinite" nodeType="mainSeq">
                <p:childTnLst>
                  <p:par>
                    <p:cTn id="3" fill="hold">
                      <p:stCondLst>
                        <p:cond delay="indefinite"/>
                      </p:stCondLst>
                      <p:childTnLst>
                        <p:par>
                          <p:cTn id="4" presetID="1" presetClass="entr" presetSubtype="0" fill="hold" grpId="0" nodeType="clickEffect">
                            <p:stCondLst>
                              <p:cond delay="0"/>
                            </p:stCondLst>
                            <p:childTnLst>
                              <p:set>
                                <p:cBhvr>
                                  <p:cTn id="5" dur="1" fill="hold">
                                    <p:stCondLst>
                                      <p:cond delay="0"/>
                                    </p:stCondLst>
                                  </p:cTn>
                                  <p:tgtEl>
                                    <p:spTgt spid="416"/>
                                  </p:tgtEl>
                                  <p:attrNameLst>
                                    <p:attrName>style.visibility</p:attrName>
                                  </p:attrNameLst>
                                </p:cBhvr>
                                <p:to>
                                  <p:strVal val="visible"/>
                                </p:to>
                              </p:set>
                            </p:childTnLst>
                          </p:cTn>
                        </p:par>
                        <p:par>
                          <p:cTn id="6" presetID="1" presetClass="entr" presetSubtype="0" fill="hold" grpId="1" nodeType="withEffect">
                            <p:stCondLst>
                              <p:cond delay="0"/>
                            </p:stCondLst>
                            <p:childTnLst>
                              <p:set>
                                <p:cBhvr>
                                  <p:cTn id="7" dur="1" fill="hold">
                                    <p:stCondLst>
                                      <p:cond delay="0"/>
                                    </p:stCondLst>
                                  </p:cTn>
                                  <p:tgtEl>
                                    <p:spTgt spid="419"/>
                                  </p:tgtEl>
                                  <p:attrNameLst>
                                    <p:attrName>style.visibility</p:attrName>
                                  </p:attrNameLst>
                                </p:cBhvr>
                                <p:to>
                                  <p:strVal val="visible"/>
                                </p:to>
                              </p:set>
                            </p:childTnLst>
                          </p:cTn>
                        </p:par>
                      </p:childTnLst>
                    </p:cTn>
                  </p:par>
                  <p:par>
                    <p:cTn id="8" fill="hold">
                      <p:stCondLst>
                        <p:cond delay="indefinite"/>
                      </p:stCondLst>
                      <p:childTnLst>
                        <p:par>
                          <p:cTn id="9" presetID="1" presetClass="entr" presetSubtype="0" fill="hold" grpId="2" nodeType="clickEffect">
                            <p:stCondLst>
                              <p:cond delay="0"/>
                            </p:stCondLst>
                            <p:childTnLst>
                              <p:set>
                                <p:cBhvr>
                                  <p:cTn id="10" dur="1" fill="hold">
                                    <p:stCondLst>
                                      <p:cond delay="0"/>
                                    </p:stCondLst>
                                  </p:cTn>
                                  <p:tgtEl>
                                    <p:spTgt spid="418"/>
                                  </p:tgtEl>
                                  <p:attrNameLst>
                                    <p:attrName>style.visibility</p:attrName>
                                  </p:attrNameLst>
                                </p:cBhvr>
                                <p:to>
                                  <p:strVal val="visible"/>
                                </p:to>
                              </p:set>
                            </p:childTnLst>
                          </p:cTn>
                        </p:par>
                      </p:childTnLst>
                    </p:cTn>
                  </p:par>
                </p:childTnLst>
              </p:cTn>
            </p:seq>
          </p:childTnLst>
        </p:cTn>
      </p:par>
    </p:tnLst>
    <p:bldLst>
      <p:bldP spid="416" grpId="0"/>
      <p:bldP spid="419" grpId="1"/>
      <p:bldP spid="418" grpId="2"/>
    </p:bld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