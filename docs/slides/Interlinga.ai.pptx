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70" r:id="rId5"/>
    <p:sldMasterId id="2147483671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62FB5690-A4E3-496F-A566-A1613EFCE2B5}">
  <a:tblStyle styleId="{62FB5690-A4E3-496F-A566-A1613EFCE2B5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fill>
          <a:solidFill>
            <a:srgbClr val="CFD7E7"/>
          </a:solidFill>
        </a:fill>
      </a:tcStyle>
    </a:band1H>
    <a:band2H>
      <a:tcTxStyle/>
    </a:band2H>
    <a:band1V>
      <a:tcTxStyle/>
      <a:tcStyle>
        <a:fill>
          <a:solidFill>
            <a:srgbClr val="CFD7E7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slideMaster" Target="slideMasters/slideMaster2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f969d8f602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g3f969d8f602_1_0:notes"/>
          <p:cNvSpPr/>
          <p:nvPr>
            <p:ph idx="2" type="sldImg"/>
          </p:nvPr>
        </p:nvSpPr>
        <p:spPr>
          <a:xfrm>
            <a:off x="1143164" y="685800"/>
            <a:ext cx="4572347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3f969d8f602_6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>
                <a:solidFill>
                  <a:schemeClr val="dk1"/>
                </a:solidFill>
              </a:rPr>
              <a:t>Technical problems–think static on a radio, crackling on a telephone, snow on your TV</a:t>
            </a:r>
            <a:br>
              <a:rPr lang="en">
                <a:solidFill>
                  <a:schemeClr val="dk1"/>
                </a:solidFill>
              </a:rPr>
            </a:br>
            <a:r>
              <a:rPr lang="en">
                <a:solidFill>
                  <a:schemeClr val="dk1"/>
                </a:solidFill>
              </a:rPr>
              <a:t>Semantic problems–think language, technical terms, idioms like “break a leg” which means good luck</a:t>
            </a:r>
            <a:br>
              <a:rPr lang="en">
                <a:solidFill>
                  <a:schemeClr val="dk1"/>
                </a:solidFill>
              </a:rPr>
            </a:br>
            <a:r>
              <a:rPr lang="en">
                <a:solidFill>
                  <a:schemeClr val="dk1"/>
                </a:solidFill>
              </a:rPr>
              <a:t>Effectiveness problems–think passive listener, an action item not acted upon</a:t>
            </a:r>
            <a:endParaRPr/>
          </a:p>
        </p:txBody>
      </p:sp>
      <p:sp>
        <p:nvSpPr>
          <p:cNvPr id="136" name="Google Shape;136;g3f969d8f602_6_0:notes"/>
          <p:cNvSpPr/>
          <p:nvPr>
            <p:ph idx="2" type="sldImg"/>
          </p:nvPr>
        </p:nvSpPr>
        <p:spPr>
          <a:xfrm>
            <a:off x="1143164" y="685800"/>
            <a:ext cx="4572347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3f969d8f602_1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g3f969d8f602_11_0:notes"/>
          <p:cNvSpPr/>
          <p:nvPr>
            <p:ph idx="2" type="sldImg"/>
          </p:nvPr>
        </p:nvSpPr>
        <p:spPr>
          <a:xfrm>
            <a:off x="1143164" y="685800"/>
            <a:ext cx="4572347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g3f969d8f602_9_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" name="Google Shape;183;g3f969d8f602_9_75:notes"/>
          <p:cNvSpPr/>
          <p:nvPr>
            <p:ph idx="2" type="sldImg"/>
          </p:nvPr>
        </p:nvSpPr>
        <p:spPr>
          <a:xfrm>
            <a:off x="1143164" y="685800"/>
            <a:ext cx="4572347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g3f969d8f602_1_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9" name="Google Shape;239;g3f969d8f602_1_62:notes"/>
          <p:cNvSpPr/>
          <p:nvPr>
            <p:ph idx="2" type="sldImg"/>
          </p:nvPr>
        </p:nvSpPr>
        <p:spPr>
          <a:xfrm>
            <a:off x="1143164" y="685800"/>
            <a:ext cx="4572347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g3f969d8f602_3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0" name="Google Shape;260;g3f969d8f602_3_22:notes"/>
          <p:cNvSpPr/>
          <p:nvPr>
            <p:ph idx="2" type="sldImg"/>
          </p:nvPr>
        </p:nvSpPr>
        <p:spPr>
          <a:xfrm>
            <a:off x="1143164" y="685800"/>
            <a:ext cx="4572347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g3f969d8f602_1_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9" name="Google Shape;269;g3f969d8f602_1_85:notes"/>
          <p:cNvSpPr/>
          <p:nvPr>
            <p:ph idx="2" type="sldImg"/>
          </p:nvPr>
        </p:nvSpPr>
        <p:spPr>
          <a:xfrm>
            <a:off x="1143164" y="685800"/>
            <a:ext cx="4572347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4"/>
          <p:cNvSpPr txBox="1"/>
          <p:nvPr>
            <p:ph idx="10" type="dt"/>
          </p:nvPr>
        </p:nvSpPr>
        <p:spPr>
          <a:xfrm>
            <a:off x="342909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8" name="Google Shape;58;p14"/>
          <p:cNvSpPr txBox="1"/>
          <p:nvPr>
            <p:ph idx="11" type="ftr"/>
          </p:nvPr>
        </p:nvSpPr>
        <p:spPr>
          <a:xfrm>
            <a:off x="2343212" y="4767263"/>
            <a:ext cx="2171758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9" name="Google Shape;59;p14"/>
          <p:cNvSpPr txBox="1"/>
          <p:nvPr>
            <p:ph idx="12" type="sldNum"/>
          </p:nvPr>
        </p:nvSpPr>
        <p:spPr>
          <a:xfrm>
            <a:off x="4915031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5"/>
          <p:cNvSpPr txBox="1"/>
          <p:nvPr>
            <p:ph type="ctrTitle"/>
          </p:nvPr>
        </p:nvSpPr>
        <p:spPr>
          <a:xfrm>
            <a:off x="514364" y="1597819"/>
            <a:ext cx="5829455" cy="1102519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2" name="Google Shape;62;p15"/>
          <p:cNvSpPr txBox="1"/>
          <p:nvPr>
            <p:ph idx="1" type="subTitle"/>
          </p:nvPr>
        </p:nvSpPr>
        <p:spPr>
          <a:xfrm>
            <a:off x="1028727" y="2914650"/>
            <a:ext cx="4800728" cy="131445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algn="ctr"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1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63" name="Google Shape;63;p15"/>
          <p:cNvSpPr txBox="1"/>
          <p:nvPr>
            <p:ph idx="10" type="dt"/>
          </p:nvPr>
        </p:nvSpPr>
        <p:spPr>
          <a:xfrm>
            <a:off x="342909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4" name="Google Shape;64;p15"/>
          <p:cNvSpPr txBox="1"/>
          <p:nvPr>
            <p:ph idx="11" type="ftr"/>
          </p:nvPr>
        </p:nvSpPr>
        <p:spPr>
          <a:xfrm>
            <a:off x="2343212" y="4767263"/>
            <a:ext cx="2171758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5" name="Google Shape;65;p15"/>
          <p:cNvSpPr txBox="1"/>
          <p:nvPr>
            <p:ph idx="12" type="sldNum"/>
          </p:nvPr>
        </p:nvSpPr>
        <p:spPr>
          <a:xfrm>
            <a:off x="4915031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6"/>
          <p:cNvSpPr txBox="1"/>
          <p:nvPr>
            <p:ph type="title"/>
          </p:nvPr>
        </p:nvSpPr>
        <p:spPr>
          <a:xfrm>
            <a:off x="342909" y="205978"/>
            <a:ext cx="6172365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8" name="Google Shape;68;p16"/>
          <p:cNvSpPr txBox="1"/>
          <p:nvPr>
            <p:ph idx="1" type="body"/>
          </p:nvPr>
        </p:nvSpPr>
        <p:spPr>
          <a:xfrm>
            <a:off x="342909" y="1200150"/>
            <a:ext cx="6172365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2pPr>
            <a:lvl3pPr indent="-317500" lvl="2" marL="1371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4pPr>
            <a:lvl5pPr indent="-317500" lvl="4" marL="22860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»"/>
              <a:defRPr/>
            </a:lvl5pPr>
            <a:lvl6pPr indent="-317500" lvl="5" marL="2743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69" name="Google Shape;69;p16"/>
          <p:cNvSpPr txBox="1"/>
          <p:nvPr>
            <p:ph idx="10" type="dt"/>
          </p:nvPr>
        </p:nvSpPr>
        <p:spPr>
          <a:xfrm>
            <a:off x="342909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0" name="Google Shape;70;p16"/>
          <p:cNvSpPr txBox="1"/>
          <p:nvPr>
            <p:ph idx="11" type="ftr"/>
          </p:nvPr>
        </p:nvSpPr>
        <p:spPr>
          <a:xfrm>
            <a:off x="2343212" y="4767263"/>
            <a:ext cx="2171758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1" name="Google Shape;71;p16"/>
          <p:cNvSpPr txBox="1"/>
          <p:nvPr>
            <p:ph idx="12" type="sldNum"/>
          </p:nvPr>
        </p:nvSpPr>
        <p:spPr>
          <a:xfrm>
            <a:off x="4915031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7"/>
          <p:cNvSpPr txBox="1"/>
          <p:nvPr>
            <p:ph type="title"/>
          </p:nvPr>
        </p:nvSpPr>
        <p:spPr>
          <a:xfrm>
            <a:off x="541749" y="3305175"/>
            <a:ext cx="5829455" cy="1021556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alibri"/>
              <a:buNone/>
              <a:defRPr b="1" sz="3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4" name="Google Shape;74;p17"/>
          <p:cNvSpPr txBox="1"/>
          <p:nvPr>
            <p:ph idx="1" type="body"/>
          </p:nvPr>
        </p:nvSpPr>
        <p:spPr>
          <a:xfrm>
            <a:off x="541749" y="2180035"/>
            <a:ext cx="5829455" cy="112514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 sz="11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 sz="11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 sz="11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 sz="11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 sz="11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 sz="11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75" name="Google Shape;75;p17"/>
          <p:cNvSpPr txBox="1"/>
          <p:nvPr>
            <p:ph idx="10" type="dt"/>
          </p:nvPr>
        </p:nvSpPr>
        <p:spPr>
          <a:xfrm>
            <a:off x="342909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6" name="Google Shape;76;p17"/>
          <p:cNvSpPr txBox="1"/>
          <p:nvPr>
            <p:ph idx="11" type="ftr"/>
          </p:nvPr>
        </p:nvSpPr>
        <p:spPr>
          <a:xfrm>
            <a:off x="2343212" y="4767263"/>
            <a:ext cx="2171758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7" name="Google Shape;77;p17"/>
          <p:cNvSpPr txBox="1"/>
          <p:nvPr>
            <p:ph idx="12" type="sldNum"/>
          </p:nvPr>
        </p:nvSpPr>
        <p:spPr>
          <a:xfrm>
            <a:off x="4915031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8"/>
          <p:cNvSpPr txBox="1"/>
          <p:nvPr>
            <p:ph type="title"/>
          </p:nvPr>
        </p:nvSpPr>
        <p:spPr>
          <a:xfrm>
            <a:off x="342909" y="205978"/>
            <a:ext cx="6172365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0" name="Google Shape;80;p18"/>
          <p:cNvSpPr txBox="1"/>
          <p:nvPr>
            <p:ph idx="1" type="body"/>
          </p:nvPr>
        </p:nvSpPr>
        <p:spPr>
          <a:xfrm>
            <a:off x="342909" y="1200150"/>
            <a:ext cx="3029031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61950" lvl="0" marL="457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1pPr>
            <a:lvl2pPr indent="-3429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2pPr>
            <a:lvl3pPr indent="-323850" lvl="2" marL="1371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3pPr>
            <a:lvl4pPr indent="-317500" lvl="3" marL="1828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 sz="1400"/>
            </a:lvl4pPr>
            <a:lvl5pPr indent="-317500" lvl="4" marL="22860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»"/>
              <a:defRPr sz="1400"/>
            </a:lvl5pPr>
            <a:lvl6pPr indent="-317500" lvl="5" marL="2743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6pPr>
            <a:lvl7pPr indent="-317500" lvl="6" marL="3200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7pPr>
            <a:lvl8pPr indent="-317500" lvl="7" marL="3657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8pPr>
            <a:lvl9pPr indent="-317500" lvl="8" marL="4114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9pPr>
          </a:lstStyle>
          <a:p/>
        </p:txBody>
      </p:sp>
      <p:sp>
        <p:nvSpPr>
          <p:cNvPr id="81" name="Google Shape;81;p18"/>
          <p:cNvSpPr txBox="1"/>
          <p:nvPr>
            <p:ph idx="2" type="body"/>
          </p:nvPr>
        </p:nvSpPr>
        <p:spPr>
          <a:xfrm>
            <a:off x="3486243" y="1200150"/>
            <a:ext cx="3029031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61950" lvl="0" marL="457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1pPr>
            <a:lvl2pPr indent="-3429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2pPr>
            <a:lvl3pPr indent="-323850" lvl="2" marL="1371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3pPr>
            <a:lvl4pPr indent="-317500" lvl="3" marL="1828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 sz="1400"/>
            </a:lvl4pPr>
            <a:lvl5pPr indent="-317500" lvl="4" marL="22860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»"/>
              <a:defRPr sz="1400"/>
            </a:lvl5pPr>
            <a:lvl6pPr indent="-317500" lvl="5" marL="2743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6pPr>
            <a:lvl7pPr indent="-317500" lvl="6" marL="3200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7pPr>
            <a:lvl8pPr indent="-317500" lvl="7" marL="3657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8pPr>
            <a:lvl9pPr indent="-317500" lvl="8" marL="4114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9pPr>
          </a:lstStyle>
          <a:p/>
        </p:txBody>
      </p:sp>
      <p:sp>
        <p:nvSpPr>
          <p:cNvPr id="82" name="Google Shape;82;p18"/>
          <p:cNvSpPr txBox="1"/>
          <p:nvPr>
            <p:ph idx="10" type="dt"/>
          </p:nvPr>
        </p:nvSpPr>
        <p:spPr>
          <a:xfrm>
            <a:off x="342909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3" name="Google Shape;83;p18"/>
          <p:cNvSpPr txBox="1"/>
          <p:nvPr>
            <p:ph idx="11" type="ftr"/>
          </p:nvPr>
        </p:nvSpPr>
        <p:spPr>
          <a:xfrm>
            <a:off x="2343212" y="4767263"/>
            <a:ext cx="2171758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4" name="Google Shape;84;p18"/>
          <p:cNvSpPr txBox="1"/>
          <p:nvPr>
            <p:ph idx="12" type="sldNum"/>
          </p:nvPr>
        </p:nvSpPr>
        <p:spPr>
          <a:xfrm>
            <a:off x="4915031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9"/>
          <p:cNvSpPr txBox="1"/>
          <p:nvPr>
            <p:ph type="title"/>
          </p:nvPr>
        </p:nvSpPr>
        <p:spPr>
          <a:xfrm>
            <a:off x="342909" y="205978"/>
            <a:ext cx="6172365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7" name="Google Shape;87;p19"/>
          <p:cNvSpPr txBox="1"/>
          <p:nvPr>
            <p:ph idx="1" type="body"/>
          </p:nvPr>
        </p:nvSpPr>
        <p:spPr>
          <a:xfrm>
            <a:off x="342909" y="1151335"/>
            <a:ext cx="3030222" cy="479822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88" name="Google Shape;88;p19"/>
          <p:cNvSpPr txBox="1"/>
          <p:nvPr>
            <p:ph idx="2" type="body"/>
          </p:nvPr>
        </p:nvSpPr>
        <p:spPr>
          <a:xfrm>
            <a:off x="342909" y="1631156"/>
            <a:ext cx="3030222" cy="2963466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42900" lvl="0" marL="457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1pPr>
            <a:lvl2pPr indent="-323850" lvl="1" marL="914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–"/>
              <a:defRPr sz="1500"/>
            </a:lvl2pPr>
            <a:lvl3pPr indent="-317500" lvl="2" marL="1371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3pPr>
            <a:lvl4pPr indent="-304800" lvl="3" marL="1828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–"/>
              <a:defRPr sz="1200"/>
            </a:lvl4pPr>
            <a:lvl5pPr indent="-304800" lvl="4" marL="22860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»"/>
              <a:defRPr sz="1200"/>
            </a:lvl5pPr>
            <a:lvl6pPr indent="-304800" lvl="5" marL="2743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6pPr>
            <a:lvl7pPr indent="-304800" lvl="6" marL="3200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7pPr>
            <a:lvl8pPr indent="-304800" lvl="7" marL="3657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8pPr>
            <a:lvl9pPr indent="-304800" lvl="8" marL="411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9pPr>
          </a:lstStyle>
          <a:p/>
        </p:txBody>
      </p:sp>
      <p:sp>
        <p:nvSpPr>
          <p:cNvPr id="89" name="Google Shape;89;p19"/>
          <p:cNvSpPr txBox="1"/>
          <p:nvPr>
            <p:ph idx="3" type="body"/>
          </p:nvPr>
        </p:nvSpPr>
        <p:spPr>
          <a:xfrm>
            <a:off x="3483862" y="1151335"/>
            <a:ext cx="3031412" cy="479822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90" name="Google Shape;90;p19"/>
          <p:cNvSpPr txBox="1"/>
          <p:nvPr>
            <p:ph idx="4" type="body"/>
          </p:nvPr>
        </p:nvSpPr>
        <p:spPr>
          <a:xfrm>
            <a:off x="3483862" y="1631156"/>
            <a:ext cx="3031412" cy="2963466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42900" lvl="0" marL="457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1pPr>
            <a:lvl2pPr indent="-323850" lvl="1" marL="914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–"/>
              <a:defRPr sz="1500"/>
            </a:lvl2pPr>
            <a:lvl3pPr indent="-317500" lvl="2" marL="1371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3pPr>
            <a:lvl4pPr indent="-304800" lvl="3" marL="1828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–"/>
              <a:defRPr sz="1200"/>
            </a:lvl4pPr>
            <a:lvl5pPr indent="-304800" lvl="4" marL="22860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»"/>
              <a:defRPr sz="1200"/>
            </a:lvl5pPr>
            <a:lvl6pPr indent="-304800" lvl="5" marL="2743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6pPr>
            <a:lvl7pPr indent="-304800" lvl="6" marL="3200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7pPr>
            <a:lvl8pPr indent="-304800" lvl="7" marL="3657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8pPr>
            <a:lvl9pPr indent="-304800" lvl="8" marL="411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9pPr>
          </a:lstStyle>
          <a:p/>
        </p:txBody>
      </p:sp>
      <p:sp>
        <p:nvSpPr>
          <p:cNvPr id="91" name="Google Shape;91;p19"/>
          <p:cNvSpPr txBox="1"/>
          <p:nvPr>
            <p:ph idx="10" type="dt"/>
          </p:nvPr>
        </p:nvSpPr>
        <p:spPr>
          <a:xfrm>
            <a:off x="342909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2" name="Google Shape;92;p19"/>
          <p:cNvSpPr txBox="1"/>
          <p:nvPr>
            <p:ph idx="11" type="ftr"/>
          </p:nvPr>
        </p:nvSpPr>
        <p:spPr>
          <a:xfrm>
            <a:off x="2343212" y="4767263"/>
            <a:ext cx="2171758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3" name="Google Shape;93;p19"/>
          <p:cNvSpPr txBox="1"/>
          <p:nvPr>
            <p:ph idx="12" type="sldNum"/>
          </p:nvPr>
        </p:nvSpPr>
        <p:spPr>
          <a:xfrm>
            <a:off x="4915031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0"/>
          <p:cNvSpPr txBox="1"/>
          <p:nvPr>
            <p:ph type="title"/>
          </p:nvPr>
        </p:nvSpPr>
        <p:spPr>
          <a:xfrm>
            <a:off x="342909" y="205978"/>
            <a:ext cx="6172365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6" name="Google Shape;96;p20"/>
          <p:cNvSpPr txBox="1"/>
          <p:nvPr>
            <p:ph idx="10" type="dt"/>
          </p:nvPr>
        </p:nvSpPr>
        <p:spPr>
          <a:xfrm>
            <a:off x="342909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7" name="Google Shape;97;p20"/>
          <p:cNvSpPr txBox="1"/>
          <p:nvPr>
            <p:ph idx="11" type="ftr"/>
          </p:nvPr>
        </p:nvSpPr>
        <p:spPr>
          <a:xfrm>
            <a:off x="2343212" y="4767263"/>
            <a:ext cx="2171758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8" name="Google Shape;98;p20"/>
          <p:cNvSpPr txBox="1"/>
          <p:nvPr>
            <p:ph idx="12" type="sldNum"/>
          </p:nvPr>
        </p:nvSpPr>
        <p:spPr>
          <a:xfrm>
            <a:off x="4915031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1"/>
          <p:cNvSpPr txBox="1"/>
          <p:nvPr>
            <p:ph type="title"/>
          </p:nvPr>
        </p:nvSpPr>
        <p:spPr>
          <a:xfrm>
            <a:off x="342909" y="204788"/>
            <a:ext cx="2256295" cy="871538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None/>
              <a:defRPr b="1" sz="1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1" name="Google Shape;101;p21"/>
          <p:cNvSpPr txBox="1"/>
          <p:nvPr>
            <p:ph idx="1" type="body"/>
          </p:nvPr>
        </p:nvSpPr>
        <p:spPr>
          <a:xfrm>
            <a:off x="2681359" y="204788"/>
            <a:ext cx="3833915" cy="438983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81000" lvl="0" marL="45720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6195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–"/>
              <a:defRPr sz="2100"/>
            </a:lvl2pPr>
            <a:lvl3pPr indent="-3429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23850" lvl="3" marL="1828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–"/>
              <a:defRPr sz="1500"/>
            </a:lvl4pPr>
            <a:lvl5pPr indent="-323850" lvl="4" marL="22860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»"/>
              <a:defRPr sz="1500"/>
            </a:lvl5pPr>
            <a:lvl6pPr indent="-323850" lvl="5" marL="2743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indent="-323850" lvl="6" marL="3200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indent="-323850" lvl="7" marL="3657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indent="-323850" lvl="8" marL="4114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102" name="Google Shape;102;p21"/>
          <p:cNvSpPr txBox="1"/>
          <p:nvPr>
            <p:ph idx="2" type="body"/>
          </p:nvPr>
        </p:nvSpPr>
        <p:spPr>
          <a:xfrm>
            <a:off x="342909" y="1076325"/>
            <a:ext cx="2256295" cy="3518297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1pPr>
            <a:lvl2pPr indent="-228600" lvl="1" marL="914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3pPr>
            <a:lvl4pPr indent="-228600" lvl="3" marL="18288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4pPr>
            <a:lvl5pPr indent="-228600" lvl="4" marL="22860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5pPr>
            <a:lvl6pPr indent="-228600" lvl="5" marL="27432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6pPr>
            <a:lvl7pPr indent="-228600" lvl="6" marL="32004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7pPr>
            <a:lvl8pPr indent="-228600" lvl="7" marL="3657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8pPr>
            <a:lvl9pPr indent="-228600" lvl="8" marL="41148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9pPr>
          </a:lstStyle>
          <a:p/>
        </p:txBody>
      </p:sp>
      <p:sp>
        <p:nvSpPr>
          <p:cNvPr id="103" name="Google Shape;103;p21"/>
          <p:cNvSpPr txBox="1"/>
          <p:nvPr>
            <p:ph idx="10" type="dt"/>
          </p:nvPr>
        </p:nvSpPr>
        <p:spPr>
          <a:xfrm>
            <a:off x="342909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4" name="Google Shape;104;p21"/>
          <p:cNvSpPr txBox="1"/>
          <p:nvPr>
            <p:ph idx="11" type="ftr"/>
          </p:nvPr>
        </p:nvSpPr>
        <p:spPr>
          <a:xfrm>
            <a:off x="2343212" y="4767263"/>
            <a:ext cx="2171758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5" name="Google Shape;105;p21"/>
          <p:cNvSpPr txBox="1"/>
          <p:nvPr>
            <p:ph idx="12" type="sldNum"/>
          </p:nvPr>
        </p:nvSpPr>
        <p:spPr>
          <a:xfrm>
            <a:off x="4915031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2"/>
          <p:cNvSpPr txBox="1"/>
          <p:nvPr>
            <p:ph type="title"/>
          </p:nvPr>
        </p:nvSpPr>
        <p:spPr>
          <a:xfrm>
            <a:off x="1344252" y="3600450"/>
            <a:ext cx="4114910" cy="425054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None/>
              <a:defRPr b="1" sz="1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8" name="Google Shape;108;p22"/>
          <p:cNvSpPr/>
          <p:nvPr>
            <p:ph idx="2" type="pic"/>
          </p:nvPr>
        </p:nvSpPr>
        <p:spPr>
          <a:xfrm>
            <a:off x="1344252" y="459581"/>
            <a:ext cx="4114910" cy="3086100"/>
          </a:xfrm>
          <a:prstGeom prst="rect">
            <a:avLst/>
          </a:prstGeom>
          <a:noFill/>
          <a:ln>
            <a:noFill/>
          </a:ln>
        </p:spPr>
      </p:sp>
      <p:sp>
        <p:nvSpPr>
          <p:cNvPr id="109" name="Google Shape;109;p22"/>
          <p:cNvSpPr txBox="1"/>
          <p:nvPr>
            <p:ph idx="1" type="body"/>
          </p:nvPr>
        </p:nvSpPr>
        <p:spPr>
          <a:xfrm>
            <a:off x="1344252" y="4025503"/>
            <a:ext cx="4114910" cy="603647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1pPr>
            <a:lvl2pPr indent="-228600" lvl="1" marL="914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3pPr>
            <a:lvl4pPr indent="-228600" lvl="3" marL="18288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4pPr>
            <a:lvl5pPr indent="-228600" lvl="4" marL="22860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5pPr>
            <a:lvl6pPr indent="-228600" lvl="5" marL="27432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6pPr>
            <a:lvl7pPr indent="-228600" lvl="6" marL="32004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7pPr>
            <a:lvl8pPr indent="-228600" lvl="7" marL="3657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8pPr>
            <a:lvl9pPr indent="-228600" lvl="8" marL="41148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9pPr>
          </a:lstStyle>
          <a:p/>
        </p:txBody>
      </p:sp>
      <p:sp>
        <p:nvSpPr>
          <p:cNvPr id="110" name="Google Shape;110;p22"/>
          <p:cNvSpPr txBox="1"/>
          <p:nvPr>
            <p:ph idx="10" type="dt"/>
          </p:nvPr>
        </p:nvSpPr>
        <p:spPr>
          <a:xfrm>
            <a:off x="342909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1" name="Google Shape;111;p22"/>
          <p:cNvSpPr txBox="1"/>
          <p:nvPr>
            <p:ph idx="11" type="ftr"/>
          </p:nvPr>
        </p:nvSpPr>
        <p:spPr>
          <a:xfrm>
            <a:off x="2343212" y="4767263"/>
            <a:ext cx="2171758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2" name="Google Shape;112;p22"/>
          <p:cNvSpPr txBox="1"/>
          <p:nvPr>
            <p:ph idx="12" type="sldNum"/>
          </p:nvPr>
        </p:nvSpPr>
        <p:spPr>
          <a:xfrm>
            <a:off x="4915031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3"/>
          <p:cNvSpPr txBox="1"/>
          <p:nvPr>
            <p:ph type="title"/>
          </p:nvPr>
        </p:nvSpPr>
        <p:spPr>
          <a:xfrm>
            <a:off x="342909" y="205978"/>
            <a:ext cx="6172365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5" name="Google Shape;115;p23"/>
          <p:cNvSpPr txBox="1"/>
          <p:nvPr>
            <p:ph idx="1" type="body"/>
          </p:nvPr>
        </p:nvSpPr>
        <p:spPr>
          <a:xfrm rot="5400000">
            <a:off x="1731855" y="-188796"/>
            <a:ext cx="3394472" cy="617236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2pPr>
            <a:lvl3pPr indent="-317500" lvl="2" marL="1371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4pPr>
            <a:lvl5pPr indent="-317500" lvl="4" marL="22860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»"/>
              <a:defRPr/>
            </a:lvl5pPr>
            <a:lvl6pPr indent="-317500" lvl="5" marL="2743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16" name="Google Shape;116;p23"/>
          <p:cNvSpPr txBox="1"/>
          <p:nvPr>
            <p:ph idx="10" type="dt"/>
          </p:nvPr>
        </p:nvSpPr>
        <p:spPr>
          <a:xfrm>
            <a:off x="342909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7" name="Google Shape;117;p23"/>
          <p:cNvSpPr txBox="1"/>
          <p:nvPr>
            <p:ph idx="11" type="ftr"/>
          </p:nvPr>
        </p:nvSpPr>
        <p:spPr>
          <a:xfrm>
            <a:off x="2343212" y="4767263"/>
            <a:ext cx="2171758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8" name="Google Shape;118;p23"/>
          <p:cNvSpPr txBox="1"/>
          <p:nvPr>
            <p:ph idx="12" type="sldNum"/>
          </p:nvPr>
        </p:nvSpPr>
        <p:spPr>
          <a:xfrm>
            <a:off x="4915031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4"/>
          <p:cNvSpPr txBox="1"/>
          <p:nvPr>
            <p:ph type="title"/>
          </p:nvPr>
        </p:nvSpPr>
        <p:spPr>
          <a:xfrm rot="5400000">
            <a:off x="3549406" y="1628755"/>
            <a:ext cx="4388644" cy="1543091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1" name="Google Shape;121;p24"/>
          <p:cNvSpPr txBox="1"/>
          <p:nvPr>
            <p:ph idx="1" type="body"/>
          </p:nvPr>
        </p:nvSpPr>
        <p:spPr>
          <a:xfrm rot="5400000">
            <a:off x="406072" y="142815"/>
            <a:ext cx="4388644" cy="451497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2pPr>
            <a:lvl3pPr indent="-317500" lvl="2" marL="1371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4pPr>
            <a:lvl5pPr indent="-317500" lvl="4" marL="22860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»"/>
              <a:defRPr/>
            </a:lvl5pPr>
            <a:lvl6pPr indent="-317500" lvl="5" marL="2743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22" name="Google Shape;122;p24"/>
          <p:cNvSpPr txBox="1"/>
          <p:nvPr>
            <p:ph idx="10" type="dt"/>
          </p:nvPr>
        </p:nvSpPr>
        <p:spPr>
          <a:xfrm>
            <a:off x="342909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3" name="Google Shape;123;p24"/>
          <p:cNvSpPr txBox="1"/>
          <p:nvPr>
            <p:ph idx="11" type="ftr"/>
          </p:nvPr>
        </p:nvSpPr>
        <p:spPr>
          <a:xfrm>
            <a:off x="2343212" y="4767263"/>
            <a:ext cx="2171758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4" name="Google Shape;124;p24"/>
          <p:cNvSpPr txBox="1"/>
          <p:nvPr>
            <p:ph idx="12" type="sldNum"/>
          </p:nvPr>
        </p:nvSpPr>
        <p:spPr>
          <a:xfrm>
            <a:off x="4915031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2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342909" y="205978"/>
            <a:ext cx="6172365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342909" y="1200150"/>
            <a:ext cx="6172365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81000" lvl="0" marL="457200" marR="0" rtl="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61950" lvl="1" marL="914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3" name="Google Shape;53;p13"/>
          <p:cNvSpPr txBox="1"/>
          <p:nvPr>
            <p:ph idx="10" type="dt"/>
          </p:nvPr>
        </p:nvSpPr>
        <p:spPr>
          <a:xfrm>
            <a:off x="342909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4" name="Google Shape;54;p13"/>
          <p:cNvSpPr txBox="1"/>
          <p:nvPr>
            <p:ph idx="11" type="ftr"/>
          </p:nvPr>
        </p:nvSpPr>
        <p:spPr>
          <a:xfrm>
            <a:off x="2343212" y="4767263"/>
            <a:ext cx="2171758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5" name="Google Shape;55;p13"/>
          <p:cNvSpPr txBox="1"/>
          <p:nvPr>
            <p:ph idx="12" type="sldNum"/>
          </p:nvPr>
        </p:nvSpPr>
        <p:spPr>
          <a:xfrm>
            <a:off x="4915031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4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5.png"/><Relationship Id="rId4" Type="http://schemas.openxmlformats.org/officeDocument/2006/relationships/image" Target="../media/image9.png"/><Relationship Id="rId5" Type="http://schemas.openxmlformats.org/officeDocument/2006/relationships/image" Target="../media/image13.png"/><Relationship Id="rId6" Type="http://schemas.openxmlformats.org/officeDocument/2006/relationships/image" Target="../media/image16.png"/><Relationship Id="rId7" Type="http://schemas.openxmlformats.org/officeDocument/2006/relationships/image" Target="../media/image3.png"/><Relationship Id="rId8" Type="http://schemas.openxmlformats.org/officeDocument/2006/relationships/image" Target="../media/image8.png"/><Relationship Id="rId9" Type="http://schemas.openxmlformats.org/officeDocument/2006/relationships/image" Target="../media/image6.png"/><Relationship Id="rId10" Type="http://schemas.openxmlformats.org/officeDocument/2006/relationships/image" Target="../media/image5.png"/><Relationship Id="rId11" Type="http://schemas.openxmlformats.org/officeDocument/2006/relationships/image" Target="../media/image4.png"/><Relationship Id="rId12" Type="http://schemas.openxmlformats.org/officeDocument/2006/relationships/image" Target="../media/image12.png"/><Relationship Id="rId13" Type="http://schemas.openxmlformats.org/officeDocument/2006/relationships/image" Target="../media/image1.png"/><Relationship Id="rId14" Type="http://schemas.openxmlformats.org/officeDocument/2006/relationships/image" Target="../media/image18.png"/><Relationship Id="rId15" Type="http://schemas.openxmlformats.org/officeDocument/2006/relationships/image" Target="../media/image7.png"/><Relationship Id="rId16" Type="http://schemas.openxmlformats.org/officeDocument/2006/relationships/image" Target="../media/image10.png"/><Relationship Id="rId17" Type="http://schemas.openxmlformats.org/officeDocument/2006/relationships/image" Target="../media/image17.png"/><Relationship Id="rId18" Type="http://schemas.openxmlformats.org/officeDocument/2006/relationships/image" Target="../media/image11.png"/><Relationship Id="rId19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25"/>
          <p:cNvSpPr/>
          <p:nvPr/>
        </p:nvSpPr>
        <p:spPr>
          <a:xfrm>
            <a:off x="-102300" y="0"/>
            <a:ext cx="9461400" cy="51435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25"/>
          <p:cNvSpPr txBox="1"/>
          <p:nvPr/>
        </p:nvSpPr>
        <p:spPr>
          <a:xfrm>
            <a:off x="685868" y="2178863"/>
            <a:ext cx="77703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4500" u="none" cap="none" strike="noStrike">
                <a:solidFill>
                  <a:srgbClr val="00FFFF"/>
                </a:solidFill>
                <a:latin typeface="Arial"/>
                <a:ea typeface="Arial"/>
                <a:cs typeface="Arial"/>
                <a:sym typeface="Arial"/>
              </a:rPr>
              <a:t>Interlinga.</a:t>
            </a:r>
            <a:r>
              <a:rPr b="1" i="0" lang="en" sz="45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ai</a:t>
            </a:r>
            <a:endParaRPr sz="1100">
              <a:solidFill>
                <a:schemeClr val="accent1"/>
              </a:solidFill>
            </a:endParaRPr>
          </a:p>
        </p:txBody>
      </p:sp>
      <p:sp>
        <p:nvSpPr>
          <p:cNvPr id="131" name="Google Shape;131;p25"/>
          <p:cNvSpPr/>
          <p:nvPr/>
        </p:nvSpPr>
        <p:spPr>
          <a:xfrm>
            <a:off x="4022320" y="3148150"/>
            <a:ext cx="1097400" cy="28500"/>
          </a:xfrm>
          <a:prstGeom prst="rect">
            <a:avLst/>
          </a:prstGeom>
          <a:solidFill>
            <a:srgbClr val="4F7FD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25"/>
          <p:cNvSpPr txBox="1"/>
          <p:nvPr/>
        </p:nvSpPr>
        <p:spPr>
          <a:xfrm>
            <a:off x="1028765" y="3383915"/>
            <a:ext cx="70845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" sz="1500" u="none" cap="none" strike="noStrike">
                <a:solidFill>
                  <a:srgbClr val="4F7FD1"/>
                </a:solidFill>
                <a:latin typeface="Arial"/>
                <a:ea typeface="Arial"/>
                <a:cs typeface="Arial"/>
                <a:sym typeface="Arial"/>
              </a:rPr>
              <a:t>A video conferencing app built for workshop facilitation</a:t>
            </a:r>
            <a:endParaRPr b="0" i="1" sz="1500" u="none" cap="none" strike="noStrike">
              <a:solidFill>
                <a:srgbClr val="4F7FD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 sz="1500">
              <a:solidFill>
                <a:srgbClr val="4F7FD1"/>
              </a:solidFill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8B93A3"/>
                </a:solidFill>
              </a:rPr>
              <a:t>To b</a:t>
            </a:r>
            <a:r>
              <a:rPr b="0" i="0" lang="en" sz="1500" u="none" cap="none" strike="noStrike">
                <a:solidFill>
                  <a:srgbClr val="8B93A3"/>
                </a:solidFill>
                <a:latin typeface="Arial"/>
                <a:ea typeface="Arial"/>
                <a:cs typeface="Arial"/>
                <a:sym typeface="Arial"/>
              </a:rPr>
              <a:t>ridge understanding between/among learners and facilitators</a:t>
            </a:r>
            <a:endParaRPr sz="1100"/>
          </a:p>
        </p:txBody>
      </p:sp>
      <p:pic>
        <p:nvPicPr>
          <p:cNvPr descr="/home/claude/interlinga-deck/logo_mark.png" id="133" name="Google Shape;133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658737" y="647550"/>
            <a:ext cx="1824600" cy="1337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26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26"/>
          <p:cNvSpPr txBox="1"/>
          <p:nvPr/>
        </p:nvSpPr>
        <p:spPr>
          <a:xfrm>
            <a:off x="411491" y="240030"/>
            <a:ext cx="8298401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300" u="none" cap="none" strike="noStrike">
                <a:solidFill>
                  <a:srgbClr val="E6E9EF"/>
                </a:solidFill>
                <a:latin typeface="Arial"/>
                <a:ea typeface="Arial"/>
                <a:cs typeface="Arial"/>
                <a:sym typeface="Arial"/>
              </a:rPr>
              <a:t>What are language barriers?</a:t>
            </a:r>
            <a:endParaRPr sz="1100"/>
          </a:p>
        </p:txBody>
      </p:sp>
      <p:sp>
        <p:nvSpPr>
          <p:cNvPr id="140" name="Google Shape;140;p26"/>
          <p:cNvSpPr/>
          <p:nvPr/>
        </p:nvSpPr>
        <p:spPr>
          <a:xfrm>
            <a:off x="411491" y="720090"/>
            <a:ext cx="754400" cy="28575"/>
          </a:xfrm>
          <a:prstGeom prst="rect">
            <a:avLst/>
          </a:prstGeom>
          <a:solidFill>
            <a:srgbClr val="4F7FD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26"/>
          <p:cNvSpPr/>
          <p:nvPr/>
        </p:nvSpPr>
        <p:spPr>
          <a:xfrm>
            <a:off x="411491" y="994410"/>
            <a:ext cx="8319000" cy="788700"/>
          </a:xfrm>
          <a:prstGeom prst="roundRect">
            <a:avLst>
              <a:gd fmla="val 6000" name="adj"/>
            </a:avLst>
          </a:prstGeom>
          <a:solidFill>
            <a:srgbClr val="171D27"/>
          </a:solidFill>
          <a:ln cap="flat" cmpd="sng" w="9525">
            <a:solidFill>
              <a:srgbClr val="2A334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26"/>
          <p:cNvSpPr txBox="1"/>
          <p:nvPr/>
        </p:nvSpPr>
        <p:spPr>
          <a:xfrm>
            <a:off x="466356" y="918972"/>
            <a:ext cx="685818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5300">
                <a:solidFill>
                  <a:srgbClr val="4F7FD1"/>
                </a:solidFill>
                <a:latin typeface="Georgia"/>
                <a:ea typeface="Georgia"/>
                <a:cs typeface="Georgia"/>
                <a:sym typeface="Georgia"/>
              </a:rPr>
              <a:t>“</a:t>
            </a:r>
            <a:endParaRPr sz="1100"/>
          </a:p>
        </p:txBody>
      </p:sp>
      <p:sp>
        <p:nvSpPr>
          <p:cNvPr id="143" name="Google Shape;143;p26"/>
          <p:cNvSpPr txBox="1"/>
          <p:nvPr/>
        </p:nvSpPr>
        <p:spPr>
          <a:xfrm>
            <a:off x="1200182" y="1110996"/>
            <a:ext cx="72696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400">
                <a:solidFill>
                  <a:srgbClr val="E6E9EF"/>
                </a:solidFill>
                <a:latin typeface="Arial"/>
                <a:ea typeface="Arial"/>
                <a:cs typeface="Arial"/>
                <a:sym typeface="Arial"/>
              </a:rPr>
              <a:t>Language is a system of communication [...]</a:t>
            </a:r>
            <a:endParaRPr sz="1100"/>
          </a:p>
        </p:txBody>
      </p:sp>
      <p:sp>
        <p:nvSpPr>
          <p:cNvPr id="144" name="Google Shape;144;p26"/>
          <p:cNvSpPr txBox="1"/>
          <p:nvPr/>
        </p:nvSpPr>
        <p:spPr>
          <a:xfrm>
            <a:off x="1200182" y="1495044"/>
            <a:ext cx="7269600" cy="2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000">
                <a:solidFill>
                  <a:srgbClr val="8B93A3"/>
                </a:solidFill>
                <a:latin typeface="Arial"/>
                <a:ea typeface="Arial"/>
                <a:cs typeface="Arial"/>
                <a:sym typeface="Arial"/>
              </a:rPr>
              <a:t>— Encyclopedia Britannica</a:t>
            </a:r>
            <a:endParaRPr sz="1100"/>
          </a:p>
        </p:txBody>
      </p:sp>
      <p:sp>
        <p:nvSpPr>
          <p:cNvPr id="145" name="Google Shape;145;p26"/>
          <p:cNvSpPr txBox="1"/>
          <p:nvPr/>
        </p:nvSpPr>
        <p:spPr>
          <a:xfrm>
            <a:off x="411491" y="1906524"/>
            <a:ext cx="8318976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100">
                <a:solidFill>
                  <a:srgbClr val="8B93A3"/>
                </a:solidFill>
                <a:latin typeface="Arial"/>
                <a:ea typeface="Arial"/>
                <a:cs typeface="Arial"/>
                <a:sym typeface="Arial"/>
              </a:rPr>
              <a:t>3 fundamental barriers to communication — the Shannon-Weaver model of communication</a:t>
            </a:r>
            <a:endParaRPr sz="1100"/>
          </a:p>
        </p:txBody>
      </p:sp>
      <p:sp>
        <p:nvSpPr>
          <p:cNvPr id="146" name="Google Shape;146;p26"/>
          <p:cNvSpPr/>
          <p:nvPr/>
        </p:nvSpPr>
        <p:spPr>
          <a:xfrm>
            <a:off x="411491" y="2434590"/>
            <a:ext cx="1268764" cy="720090"/>
          </a:xfrm>
          <a:prstGeom prst="roundRect">
            <a:avLst>
              <a:gd fmla="val 8000" name="adj"/>
            </a:avLst>
          </a:prstGeom>
          <a:solidFill>
            <a:srgbClr val="171D27"/>
          </a:solidFill>
          <a:ln cap="flat" cmpd="sng" w="12700">
            <a:solidFill>
              <a:srgbClr val="8B93A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rgbClr val="E6E9EF"/>
                </a:solidFill>
                <a:latin typeface="Arial"/>
                <a:ea typeface="Arial"/>
                <a:cs typeface="Arial"/>
                <a:sym typeface="Arial"/>
              </a:rPr>
              <a:t>INFORMATION</a:t>
            </a:r>
            <a:endParaRPr sz="1100"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rgbClr val="E6E9EF"/>
                </a:solidFill>
                <a:latin typeface="Arial"/>
                <a:ea typeface="Arial"/>
                <a:cs typeface="Arial"/>
                <a:sym typeface="Arial"/>
              </a:rPr>
              <a:t>SOURCE</a:t>
            </a:r>
            <a:endParaRPr sz="1100"/>
          </a:p>
        </p:txBody>
      </p:sp>
      <p:sp>
        <p:nvSpPr>
          <p:cNvPr id="147" name="Google Shape;147;p26"/>
          <p:cNvSpPr/>
          <p:nvPr/>
        </p:nvSpPr>
        <p:spPr>
          <a:xfrm>
            <a:off x="2057455" y="2434590"/>
            <a:ext cx="1268764" cy="720090"/>
          </a:xfrm>
          <a:prstGeom prst="roundRect">
            <a:avLst>
              <a:gd fmla="val 8000" name="adj"/>
            </a:avLst>
          </a:prstGeom>
          <a:solidFill>
            <a:srgbClr val="171D27"/>
          </a:solidFill>
          <a:ln cap="flat" cmpd="sng" w="12700">
            <a:solidFill>
              <a:srgbClr val="8B93A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rgbClr val="E6E9EF"/>
                </a:solidFill>
                <a:latin typeface="Arial"/>
                <a:ea typeface="Arial"/>
                <a:cs typeface="Arial"/>
                <a:sym typeface="Arial"/>
              </a:rPr>
              <a:t>TRANSMITTER</a:t>
            </a:r>
            <a:endParaRPr sz="1100"/>
          </a:p>
        </p:txBody>
      </p:sp>
      <p:sp>
        <p:nvSpPr>
          <p:cNvPr id="148" name="Google Shape;148;p26"/>
          <p:cNvSpPr/>
          <p:nvPr/>
        </p:nvSpPr>
        <p:spPr>
          <a:xfrm>
            <a:off x="3703419" y="2434590"/>
            <a:ext cx="1268764" cy="720090"/>
          </a:xfrm>
          <a:prstGeom prst="roundRect">
            <a:avLst>
              <a:gd fmla="val 8000" name="adj"/>
            </a:avLst>
          </a:prstGeom>
          <a:solidFill>
            <a:srgbClr val="171D27"/>
          </a:solidFill>
          <a:ln cap="flat" cmpd="sng" w="12700">
            <a:solidFill>
              <a:srgbClr val="8B93A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rgbClr val="E6E9EF"/>
                </a:solidFill>
                <a:latin typeface="Arial"/>
                <a:ea typeface="Arial"/>
                <a:cs typeface="Arial"/>
                <a:sym typeface="Arial"/>
              </a:rPr>
              <a:t>CHANNEL</a:t>
            </a:r>
            <a:endParaRPr sz="1100"/>
          </a:p>
        </p:txBody>
      </p:sp>
      <p:sp>
        <p:nvSpPr>
          <p:cNvPr id="149" name="Google Shape;149;p26"/>
          <p:cNvSpPr/>
          <p:nvPr/>
        </p:nvSpPr>
        <p:spPr>
          <a:xfrm>
            <a:off x="5349383" y="2434590"/>
            <a:ext cx="1268764" cy="720090"/>
          </a:xfrm>
          <a:prstGeom prst="roundRect">
            <a:avLst>
              <a:gd fmla="val 8000" name="adj"/>
            </a:avLst>
          </a:prstGeom>
          <a:solidFill>
            <a:srgbClr val="171D27"/>
          </a:solidFill>
          <a:ln cap="flat" cmpd="sng" w="12700">
            <a:solidFill>
              <a:srgbClr val="8B93A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rgbClr val="E6E9EF"/>
                </a:solidFill>
                <a:latin typeface="Arial"/>
                <a:ea typeface="Arial"/>
                <a:cs typeface="Arial"/>
                <a:sym typeface="Arial"/>
              </a:rPr>
              <a:t>RECEIVER</a:t>
            </a:r>
            <a:endParaRPr sz="1100"/>
          </a:p>
        </p:txBody>
      </p:sp>
      <p:sp>
        <p:nvSpPr>
          <p:cNvPr id="150" name="Google Shape;150;p26"/>
          <p:cNvSpPr/>
          <p:nvPr/>
        </p:nvSpPr>
        <p:spPr>
          <a:xfrm>
            <a:off x="6995346" y="2434590"/>
            <a:ext cx="1268764" cy="720090"/>
          </a:xfrm>
          <a:prstGeom prst="roundRect">
            <a:avLst>
              <a:gd fmla="val 8000" name="adj"/>
            </a:avLst>
          </a:prstGeom>
          <a:solidFill>
            <a:srgbClr val="171D27"/>
          </a:solidFill>
          <a:ln cap="flat" cmpd="sng" w="12700">
            <a:solidFill>
              <a:srgbClr val="8B93A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rgbClr val="E6E9EF"/>
                </a:solidFill>
                <a:latin typeface="Arial"/>
                <a:ea typeface="Arial"/>
                <a:cs typeface="Arial"/>
                <a:sym typeface="Arial"/>
              </a:rPr>
              <a:t>DESTINATION</a:t>
            </a:r>
            <a:endParaRPr sz="1100"/>
          </a:p>
        </p:txBody>
      </p:sp>
      <p:sp>
        <p:nvSpPr>
          <p:cNvPr id="151" name="Google Shape;151;p26"/>
          <p:cNvSpPr/>
          <p:nvPr/>
        </p:nvSpPr>
        <p:spPr>
          <a:xfrm>
            <a:off x="1752266" y="2678049"/>
            <a:ext cx="233178" cy="233172"/>
          </a:xfrm>
          <a:prstGeom prst="chevron">
            <a:avLst>
              <a:gd fmla="val 50000" name="adj"/>
            </a:avLst>
          </a:prstGeom>
          <a:solidFill>
            <a:srgbClr val="8B93A3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26"/>
          <p:cNvSpPr/>
          <p:nvPr/>
        </p:nvSpPr>
        <p:spPr>
          <a:xfrm>
            <a:off x="3398230" y="2678049"/>
            <a:ext cx="233178" cy="233172"/>
          </a:xfrm>
          <a:prstGeom prst="chevron">
            <a:avLst>
              <a:gd fmla="val 50000" name="adj"/>
            </a:avLst>
          </a:prstGeom>
          <a:solidFill>
            <a:srgbClr val="4F7FD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26"/>
          <p:cNvSpPr txBox="1"/>
          <p:nvPr/>
        </p:nvSpPr>
        <p:spPr>
          <a:xfrm>
            <a:off x="3000455" y="3151251"/>
            <a:ext cx="10287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rgbClr val="4F7FD1"/>
                </a:solidFill>
                <a:latin typeface="Arial"/>
                <a:ea typeface="Arial"/>
                <a:cs typeface="Arial"/>
                <a:sym typeface="Arial"/>
              </a:rPr>
              <a:t>TECHNICAL</a:t>
            </a:r>
            <a:endParaRPr sz="1100"/>
          </a:p>
        </p:txBody>
      </p:sp>
      <p:sp>
        <p:nvSpPr>
          <p:cNvPr id="154" name="Google Shape;154;p26"/>
          <p:cNvSpPr/>
          <p:nvPr/>
        </p:nvSpPr>
        <p:spPr>
          <a:xfrm>
            <a:off x="5044193" y="2678049"/>
            <a:ext cx="233178" cy="233172"/>
          </a:xfrm>
          <a:prstGeom prst="chevron">
            <a:avLst>
              <a:gd fmla="val 50000" name="adj"/>
            </a:avLst>
          </a:prstGeom>
          <a:solidFill>
            <a:srgbClr val="C47CB8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26"/>
          <p:cNvSpPr txBox="1"/>
          <p:nvPr/>
        </p:nvSpPr>
        <p:spPr>
          <a:xfrm>
            <a:off x="4646419" y="3151251"/>
            <a:ext cx="1028727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rgbClr val="C47CB8"/>
                </a:solidFill>
                <a:latin typeface="Arial"/>
                <a:ea typeface="Arial"/>
                <a:cs typeface="Arial"/>
                <a:sym typeface="Arial"/>
              </a:rPr>
              <a:t>SEMANTIC</a:t>
            </a:r>
            <a:endParaRPr sz="1100"/>
          </a:p>
        </p:txBody>
      </p:sp>
      <p:sp>
        <p:nvSpPr>
          <p:cNvPr id="156" name="Google Shape;156;p26"/>
          <p:cNvSpPr/>
          <p:nvPr/>
        </p:nvSpPr>
        <p:spPr>
          <a:xfrm>
            <a:off x="6690157" y="2678049"/>
            <a:ext cx="233178" cy="233172"/>
          </a:xfrm>
          <a:prstGeom prst="chevron">
            <a:avLst>
              <a:gd fmla="val 50000" name="adj"/>
            </a:avLst>
          </a:prstGeom>
          <a:solidFill>
            <a:srgbClr val="4FBF8F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26"/>
          <p:cNvSpPr txBox="1"/>
          <p:nvPr/>
        </p:nvSpPr>
        <p:spPr>
          <a:xfrm>
            <a:off x="6292383" y="3151251"/>
            <a:ext cx="1028727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rgbClr val="4FBF8F"/>
                </a:solidFill>
                <a:latin typeface="Arial"/>
                <a:ea typeface="Arial"/>
                <a:cs typeface="Arial"/>
                <a:sym typeface="Arial"/>
              </a:rPr>
              <a:t>EFFECTIVENESS</a:t>
            </a:r>
            <a:endParaRPr sz="1100"/>
          </a:p>
        </p:txBody>
      </p:sp>
      <p:sp>
        <p:nvSpPr>
          <p:cNvPr id="158" name="Google Shape;158;p26"/>
          <p:cNvSpPr/>
          <p:nvPr/>
        </p:nvSpPr>
        <p:spPr>
          <a:xfrm>
            <a:off x="4200637" y="3154680"/>
            <a:ext cx="274327" cy="857250"/>
          </a:xfrm>
          <a:prstGeom prst="upArrow">
            <a:avLst>
              <a:gd fmla="val 50000" name="adj1"/>
              <a:gd fmla="val 50000" name="adj2"/>
            </a:avLst>
          </a:prstGeom>
          <a:solidFill>
            <a:srgbClr val="E2687A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26"/>
          <p:cNvSpPr/>
          <p:nvPr/>
        </p:nvSpPr>
        <p:spPr>
          <a:xfrm>
            <a:off x="3651982" y="4011930"/>
            <a:ext cx="1371637" cy="480060"/>
          </a:xfrm>
          <a:prstGeom prst="roundRect">
            <a:avLst>
              <a:gd fmla="val 10000" name="adj"/>
            </a:avLst>
          </a:prstGeom>
          <a:solidFill>
            <a:srgbClr val="10141B"/>
          </a:solidFill>
          <a:ln cap="flat" cmpd="sng" w="15875">
            <a:solidFill>
              <a:srgbClr val="E2687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E2687A"/>
                </a:solidFill>
                <a:latin typeface="Arial"/>
                <a:ea typeface="Arial"/>
                <a:cs typeface="Arial"/>
                <a:sym typeface="Arial"/>
              </a:rPr>
              <a:t>NOISE SOURCE</a:t>
            </a:r>
            <a:endParaRPr sz="11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27"/>
          <p:cNvSpPr/>
          <p:nvPr/>
        </p:nvSpPr>
        <p:spPr>
          <a:xfrm>
            <a:off x="0" y="0"/>
            <a:ext cx="9144015" cy="51435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27"/>
          <p:cNvSpPr txBox="1"/>
          <p:nvPr/>
        </p:nvSpPr>
        <p:spPr>
          <a:xfrm>
            <a:off x="411491" y="240030"/>
            <a:ext cx="8298300" cy="4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300">
                <a:solidFill>
                  <a:srgbClr val="E6E9EF"/>
                </a:solidFill>
              </a:rPr>
              <a:t>3</a:t>
            </a:r>
            <a:r>
              <a:rPr b="1" lang="en" sz="2300">
                <a:solidFill>
                  <a:srgbClr val="E6E9EF"/>
                </a:solidFill>
                <a:latin typeface="Arial"/>
                <a:ea typeface="Arial"/>
                <a:cs typeface="Arial"/>
                <a:sym typeface="Arial"/>
              </a:rPr>
              <a:t> barriers to communication in remote online facilitation</a:t>
            </a:r>
            <a:endParaRPr sz="1100"/>
          </a:p>
        </p:txBody>
      </p:sp>
      <p:sp>
        <p:nvSpPr>
          <p:cNvPr id="166" name="Google Shape;166;p27"/>
          <p:cNvSpPr/>
          <p:nvPr/>
        </p:nvSpPr>
        <p:spPr>
          <a:xfrm>
            <a:off x="411491" y="720090"/>
            <a:ext cx="754400" cy="28575"/>
          </a:xfrm>
          <a:prstGeom prst="rect">
            <a:avLst/>
          </a:prstGeom>
          <a:solidFill>
            <a:srgbClr val="4F7FD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27"/>
          <p:cNvSpPr/>
          <p:nvPr/>
        </p:nvSpPr>
        <p:spPr>
          <a:xfrm>
            <a:off x="411491" y="1611630"/>
            <a:ext cx="1268764" cy="720090"/>
          </a:xfrm>
          <a:prstGeom prst="roundRect">
            <a:avLst>
              <a:gd fmla="val 8000" name="adj"/>
            </a:avLst>
          </a:prstGeom>
          <a:solidFill>
            <a:srgbClr val="171D27"/>
          </a:solidFill>
          <a:ln cap="flat" cmpd="sng" w="12700">
            <a:solidFill>
              <a:srgbClr val="8B93A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rgbClr val="E6E9EF"/>
                </a:solidFill>
                <a:latin typeface="Arial"/>
                <a:ea typeface="Arial"/>
                <a:cs typeface="Arial"/>
                <a:sym typeface="Arial"/>
              </a:rPr>
              <a:t>FACILITATOR</a:t>
            </a:r>
            <a:endParaRPr sz="1100"/>
          </a:p>
        </p:txBody>
      </p:sp>
      <p:sp>
        <p:nvSpPr>
          <p:cNvPr id="168" name="Google Shape;168;p27"/>
          <p:cNvSpPr/>
          <p:nvPr/>
        </p:nvSpPr>
        <p:spPr>
          <a:xfrm>
            <a:off x="2057455" y="1611630"/>
            <a:ext cx="1268764" cy="720090"/>
          </a:xfrm>
          <a:prstGeom prst="roundRect">
            <a:avLst>
              <a:gd fmla="val 8000" name="adj"/>
            </a:avLst>
          </a:prstGeom>
          <a:solidFill>
            <a:srgbClr val="171D27"/>
          </a:solidFill>
          <a:ln cap="flat" cmpd="sng" w="12700">
            <a:solidFill>
              <a:srgbClr val="8B93A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rgbClr val="E6E9EF"/>
                </a:solidFill>
                <a:latin typeface="Arial"/>
                <a:ea typeface="Arial"/>
                <a:cs typeface="Arial"/>
                <a:sym typeface="Arial"/>
              </a:rPr>
              <a:t>MIC &amp;</a:t>
            </a:r>
            <a:endParaRPr sz="1100"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rgbClr val="E6E9EF"/>
                </a:solidFill>
                <a:latin typeface="Arial"/>
                <a:ea typeface="Arial"/>
                <a:cs typeface="Arial"/>
                <a:sym typeface="Arial"/>
              </a:rPr>
              <a:t>CAMERA</a:t>
            </a:r>
            <a:endParaRPr sz="1100"/>
          </a:p>
        </p:txBody>
      </p:sp>
      <p:sp>
        <p:nvSpPr>
          <p:cNvPr id="169" name="Google Shape;169;p27"/>
          <p:cNvSpPr/>
          <p:nvPr/>
        </p:nvSpPr>
        <p:spPr>
          <a:xfrm>
            <a:off x="3703419" y="1611630"/>
            <a:ext cx="1268764" cy="720090"/>
          </a:xfrm>
          <a:prstGeom prst="roundRect">
            <a:avLst>
              <a:gd fmla="val 8000" name="adj"/>
            </a:avLst>
          </a:prstGeom>
          <a:solidFill>
            <a:srgbClr val="171D27"/>
          </a:solidFill>
          <a:ln cap="flat" cmpd="sng" w="12700">
            <a:solidFill>
              <a:srgbClr val="8B93A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rgbClr val="E6E9EF"/>
                </a:solidFill>
                <a:latin typeface="Arial"/>
                <a:ea typeface="Arial"/>
                <a:cs typeface="Arial"/>
                <a:sym typeface="Arial"/>
              </a:rPr>
              <a:t>VIDEO CALL</a:t>
            </a:r>
            <a:endParaRPr sz="1100"/>
          </a:p>
        </p:txBody>
      </p:sp>
      <p:sp>
        <p:nvSpPr>
          <p:cNvPr id="170" name="Google Shape;170;p27"/>
          <p:cNvSpPr/>
          <p:nvPr/>
        </p:nvSpPr>
        <p:spPr>
          <a:xfrm>
            <a:off x="5349383" y="1611630"/>
            <a:ext cx="1268764" cy="720090"/>
          </a:xfrm>
          <a:prstGeom prst="roundRect">
            <a:avLst>
              <a:gd fmla="val 8000" name="adj"/>
            </a:avLst>
          </a:prstGeom>
          <a:solidFill>
            <a:srgbClr val="171D27"/>
          </a:solidFill>
          <a:ln cap="flat" cmpd="sng" w="12700">
            <a:solidFill>
              <a:srgbClr val="8B93A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rgbClr val="E6E9EF"/>
                </a:solidFill>
                <a:latin typeface="Arial"/>
                <a:ea typeface="Arial"/>
                <a:cs typeface="Arial"/>
                <a:sym typeface="Arial"/>
              </a:rPr>
              <a:t>LEARNER'S</a:t>
            </a:r>
            <a:endParaRPr sz="1100"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rgbClr val="E6E9EF"/>
                </a:solidFill>
                <a:latin typeface="Arial"/>
                <a:ea typeface="Arial"/>
                <a:cs typeface="Arial"/>
                <a:sym typeface="Arial"/>
              </a:rPr>
              <a:t>SCREEN</a:t>
            </a:r>
            <a:endParaRPr sz="1100"/>
          </a:p>
        </p:txBody>
      </p:sp>
      <p:sp>
        <p:nvSpPr>
          <p:cNvPr id="171" name="Google Shape;171;p27"/>
          <p:cNvSpPr/>
          <p:nvPr/>
        </p:nvSpPr>
        <p:spPr>
          <a:xfrm>
            <a:off x="6995346" y="1611630"/>
            <a:ext cx="1268764" cy="720090"/>
          </a:xfrm>
          <a:prstGeom prst="roundRect">
            <a:avLst>
              <a:gd fmla="val 8000" name="adj"/>
            </a:avLst>
          </a:prstGeom>
          <a:solidFill>
            <a:srgbClr val="171D27"/>
          </a:solidFill>
          <a:ln cap="flat" cmpd="sng" w="12700">
            <a:solidFill>
              <a:srgbClr val="8B93A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E6E9EF"/>
                </a:solidFill>
                <a:latin typeface="Arial"/>
                <a:ea typeface="Arial"/>
                <a:cs typeface="Arial"/>
                <a:sym typeface="Arial"/>
              </a:rPr>
              <a:t>LEARNER'S</a:t>
            </a:r>
            <a:endParaRPr sz="1000"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E6E9EF"/>
                </a:solidFill>
                <a:latin typeface="Arial"/>
                <a:ea typeface="Arial"/>
                <a:cs typeface="Arial"/>
                <a:sym typeface="Arial"/>
              </a:rPr>
              <a:t>UNDERSTANDING</a:t>
            </a:r>
            <a:endParaRPr sz="1000"/>
          </a:p>
        </p:txBody>
      </p:sp>
      <p:sp>
        <p:nvSpPr>
          <p:cNvPr id="172" name="Google Shape;172;p27"/>
          <p:cNvSpPr/>
          <p:nvPr/>
        </p:nvSpPr>
        <p:spPr>
          <a:xfrm>
            <a:off x="1752266" y="1855089"/>
            <a:ext cx="233178" cy="233172"/>
          </a:xfrm>
          <a:prstGeom prst="chevron">
            <a:avLst>
              <a:gd fmla="val 50000" name="adj"/>
            </a:avLst>
          </a:prstGeom>
          <a:solidFill>
            <a:srgbClr val="8B93A3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27"/>
          <p:cNvSpPr/>
          <p:nvPr/>
        </p:nvSpPr>
        <p:spPr>
          <a:xfrm>
            <a:off x="3398230" y="1855089"/>
            <a:ext cx="233178" cy="233172"/>
          </a:xfrm>
          <a:prstGeom prst="chevron">
            <a:avLst>
              <a:gd fmla="val 50000" name="adj"/>
            </a:avLst>
          </a:prstGeom>
          <a:solidFill>
            <a:srgbClr val="4F7FD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27"/>
          <p:cNvSpPr txBox="1"/>
          <p:nvPr/>
        </p:nvSpPr>
        <p:spPr>
          <a:xfrm>
            <a:off x="2189930" y="2505306"/>
            <a:ext cx="1911000" cy="47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rgbClr val="4F7FD1"/>
                </a:solidFill>
                <a:latin typeface="Arial"/>
                <a:ea typeface="Arial"/>
                <a:cs typeface="Arial"/>
                <a:sym typeface="Arial"/>
              </a:rPr>
              <a:t>TECHNICAL</a:t>
            </a:r>
            <a:endParaRPr sz="1600"/>
          </a:p>
          <a:p>
            <a:pPr indent="0" lvl="0" marL="0" marR="0" rtl="0" algn="ctr">
              <a:spcBef>
                <a:spcPts val="200"/>
              </a:spcBef>
              <a:spcAft>
                <a:spcPts val="0"/>
              </a:spcAft>
              <a:buNone/>
            </a:pPr>
            <a:r>
              <a:rPr b="0" lang="en" sz="1200">
                <a:solidFill>
                  <a:srgbClr val="8B93A3"/>
                </a:solidFill>
                <a:latin typeface="Arial"/>
                <a:ea typeface="Arial"/>
                <a:cs typeface="Arial"/>
                <a:sym typeface="Arial"/>
              </a:rPr>
              <a:t>accurate transmission</a:t>
            </a:r>
            <a:endParaRPr sz="1600"/>
          </a:p>
        </p:txBody>
      </p:sp>
      <p:sp>
        <p:nvSpPr>
          <p:cNvPr id="175" name="Google Shape;175;p27"/>
          <p:cNvSpPr/>
          <p:nvPr/>
        </p:nvSpPr>
        <p:spPr>
          <a:xfrm>
            <a:off x="5044193" y="1855089"/>
            <a:ext cx="233178" cy="233172"/>
          </a:xfrm>
          <a:prstGeom prst="chevron">
            <a:avLst>
              <a:gd fmla="val 50000" name="adj"/>
            </a:avLst>
          </a:prstGeom>
          <a:solidFill>
            <a:srgbClr val="C47CB8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27"/>
          <p:cNvSpPr txBox="1"/>
          <p:nvPr/>
        </p:nvSpPr>
        <p:spPr>
          <a:xfrm>
            <a:off x="4088667" y="2505306"/>
            <a:ext cx="2264400" cy="618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C47CB8"/>
                </a:solidFill>
                <a:latin typeface="Arial"/>
                <a:ea typeface="Arial"/>
                <a:cs typeface="Arial"/>
                <a:sym typeface="Arial"/>
              </a:rPr>
              <a:t>SEMANTIC</a:t>
            </a:r>
            <a:endParaRPr sz="1500"/>
          </a:p>
          <a:p>
            <a:pPr indent="0" lvl="0" marL="0" marR="0" rtl="0" algn="ctr">
              <a:spcBef>
                <a:spcPts val="200"/>
              </a:spcBef>
              <a:spcAft>
                <a:spcPts val="0"/>
              </a:spcAft>
              <a:buNone/>
            </a:pPr>
            <a:r>
              <a:rPr b="0" lang="en" sz="1100">
                <a:solidFill>
                  <a:srgbClr val="8B93A3"/>
                </a:solidFill>
                <a:latin typeface="Arial"/>
                <a:ea typeface="Arial"/>
                <a:cs typeface="Arial"/>
                <a:sym typeface="Arial"/>
              </a:rPr>
              <a:t>shared meaning across languages</a:t>
            </a:r>
            <a:endParaRPr sz="1200"/>
          </a:p>
        </p:txBody>
      </p:sp>
      <p:sp>
        <p:nvSpPr>
          <p:cNvPr id="177" name="Google Shape;177;p27"/>
          <p:cNvSpPr/>
          <p:nvPr/>
        </p:nvSpPr>
        <p:spPr>
          <a:xfrm>
            <a:off x="6690157" y="1855089"/>
            <a:ext cx="233178" cy="233172"/>
          </a:xfrm>
          <a:prstGeom prst="chevron">
            <a:avLst>
              <a:gd fmla="val 50000" name="adj"/>
            </a:avLst>
          </a:prstGeom>
          <a:solidFill>
            <a:srgbClr val="4FBF8F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27"/>
          <p:cNvSpPr txBox="1"/>
          <p:nvPr/>
        </p:nvSpPr>
        <p:spPr>
          <a:xfrm>
            <a:off x="6340804" y="2505306"/>
            <a:ext cx="1710900" cy="618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4FBF8F"/>
                </a:solidFill>
                <a:latin typeface="Arial"/>
                <a:ea typeface="Arial"/>
                <a:cs typeface="Arial"/>
                <a:sym typeface="Arial"/>
              </a:rPr>
              <a:t>EFFECTIVENESS</a:t>
            </a:r>
            <a:endParaRPr sz="1500"/>
          </a:p>
          <a:p>
            <a:pPr indent="0" lvl="0" marL="0" marR="0" rtl="0" algn="ctr">
              <a:spcBef>
                <a:spcPts val="200"/>
              </a:spcBef>
              <a:spcAft>
                <a:spcPts val="0"/>
              </a:spcAft>
              <a:buNone/>
            </a:pPr>
            <a:r>
              <a:rPr b="0" lang="en" sz="1100">
                <a:solidFill>
                  <a:srgbClr val="8B93A3"/>
                </a:solidFill>
                <a:latin typeface="Arial"/>
                <a:ea typeface="Arial"/>
                <a:cs typeface="Arial"/>
                <a:sym typeface="Arial"/>
              </a:rPr>
              <a:t>confirm it changed understanding</a:t>
            </a:r>
            <a:endParaRPr sz="1500"/>
          </a:p>
        </p:txBody>
      </p:sp>
      <p:sp>
        <p:nvSpPr>
          <p:cNvPr id="179" name="Google Shape;179;p27"/>
          <p:cNvSpPr/>
          <p:nvPr/>
        </p:nvSpPr>
        <p:spPr>
          <a:xfrm>
            <a:off x="4200637" y="2331720"/>
            <a:ext cx="274327" cy="1474470"/>
          </a:xfrm>
          <a:prstGeom prst="upArrow">
            <a:avLst>
              <a:gd fmla="val 50000" name="adj1"/>
              <a:gd fmla="val 50000" name="adj2"/>
            </a:avLst>
          </a:prstGeom>
          <a:solidFill>
            <a:srgbClr val="E2687A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27"/>
          <p:cNvSpPr/>
          <p:nvPr/>
        </p:nvSpPr>
        <p:spPr>
          <a:xfrm>
            <a:off x="3651982" y="3806190"/>
            <a:ext cx="1371637" cy="480060"/>
          </a:xfrm>
          <a:prstGeom prst="roundRect">
            <a:avLst>
              <a:gd fmla="val 10000" name="adj"/>
            </a:avLst>
          </a:prstGeom>
          <a:solidFill>
            <a:srgbClr val="10141B"/>
          </a:solidFill>
          <a:ln cap="flat" cmpd="sng" w="15875">
            <a:solidFill>
              <a:srgbClr val="E2687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E2687A"/>
                </a:solidFill>
                <a:latin typeface="Arial"/>
                <a:ea typeface="Arial"/>
                <a:cs typeface="Arial"/>
                <a:sym typeface="Arial"/>
              </a:rPr>
              <a:t>NOISE SOURCE</a:t>
            </a:r>
            <a:endParaRPr sz="11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28"/>
          <p:cNvSpPr/>
          <p:nvPr/>
        </p:nvSpPr>
        <p:spPr>
          <a:xfrm>
            <a:off x="0" y="-24848"/>
            <a:ext cx="9144000" cy="51435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28"/>
          <p:cNvSpPr txBox="1"/>
          <p:nvPr/>
        </p:nvSpPr>
        <p:spPr>
          <a:xfrm>
            <a:off x="411491" y="240030"/>
            <a:ext cx="8298401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300">
                <a:solidFill>
                  <a:srgbClr val="E6E9EF"/>
                </a:solidFill>
                <a:latin typeface="Arial"/>
                <a:ea typeface="Arial"/>
                <a:cs typeface="Arial"/>
                <a:sym typeface="Arial"/>
              </a:rPr>
              <a:t>What options do we have currently?</a:t>
            </a:r>
            <a:endParaRPr sz="1100"/>
          </a:p>
        </p:txBody>
      </p:sp>
      <p:sp>
        <p:nvSpPr>
          <p:cNvPr id="187" name="Google Shape;187;p28"/>
          <p:cNvSpPr/>
          <p:nvPr/>
        </p:nvSpPr>
        <p:spPr>
          <a:xfrm>
            <a:off x="411491" y="720090"/>
            <a:ext cx="754400" cy="28575"/>
          </a:xfrm>
          <a:prstGeom prst="rect">
            <a:avLst/>
          </a:prstGeom>
          <a:solidFill>
            <a:srgbClr val="4F7FD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28"/>
          <p:cNvSpPr txBox="1"/>
          <p:nvPr/>
        </p:nvSpPr>
        <p:spPr>
          <a:xfrm>
            <a:off x="411491" y="925830"/>
            <a:ext cx="8298300" cy="238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100">
                <a:solidFill>
                  <a:srgbClr val="8B93A3"/>
                </a:solidFill>
                <a:latin typeface="Arial"/>
                <a:ea typeface="Arial"/>
                <a:cs typeface="Arial"/>
                <a:sym typeface="Arial"/>
              </a:rPr>
              <a:t>Current options fail to break all 3 language barriers</a:t>
            </a:r>
            <a:r>
              <a:rPr lang="en" sz="1100">
                <a:solidFill>
                  <a:srgbClr val="8B93A3"/>
                </a:solidFill>
              </a:rPr>
              <a:t> → C</a:t>
            </a:r>
            <a:r>
              <a:rPr b="0" lang="en" sz="1100">
                <a:solidFill>
                  <a:srgbClr val="8B93A3"/>
                </a:solidFill>
                <a:latin typeface="Arial"/>
                <a:ea typeface="Arial"/>
                <a:cs typeface="Arial"/>
                <a:sym typeface="Arial"/>
              </a:rPr>
              <a:t>ommunication almost certain to break down</a:t>
            </a:r>
            <a:endParaRPr sz="1100"/>
          </a:p>
        </p:txBody>
      </p:sp>
      <p:grpSp>
        <p:nvGrpSpPr>
          <p:cNvPr id="189" name="Google Shape;189;p28"/>
          <p:cNvGrpSpPr/>
          <p:nvPr/>
        </p:nvGrpSpPr>
        <p:grpSpPr>
          <a:xfrm>
            <a:off x="2667833" y="1298260"/>
            <a:ext cx="3813267" cy="3597145"/>
            <a:chOff x="2667833" y="1298260"/>
            <a:chExt cx="3813267" cy="3597145"/>
          </a:xfrm>
        </p:grpSpPr>
        <p:grpSp>
          <p:nvGrpSpPr>
            <p:cNvPr id="190" name="Google Shape;190;p28"/>
            <p:cNvGrpSpPr/>
            <p:nvPr/>
          </p:nvGrpSpPr>
          <p:grpSpPr>
            <a:xfrm>
              <a:off x="2842260" y="1298260"/>
              <a:ext cx="3439215" cy="3151500"/>
              <a:chOff x="2842260" y="1298260"/>
              <a:chExt cx="3439215" cy="3151500"/>
            </a:xfrm>
          </p:grpSpPr>
          <p:grpSp>
            <p:nvGrpSpPr>
              <p:cNvPr id="191" name="Google Shape;191;p28"/>
              <p:cNvGrpSpPr/>
              <p:nvPr/>
            </p:nvGrpSpPr>
            <p:grpSpPr>
              <a:xfrm>
                <a:off x="2944151" y="1298260"/>
                <a:ext cx="3233100" cy="3151500"/>
                <a:chOff x="2944151" y="1298260"/>
                <a:chExt cx="3233100" cy="3151500"/>
              </a:xfrm>
            </p:grpSpPr>
            <p:sp>
              <p:nvSpPr>
                <p:cNvPr id="192" name="Google Shape;192;p28"/>
                <p:cNvSpPr/>
                <p:nvPr/>
              </p:nvSpPr>
              <p:spPr>
                <a:xfrm>
                  <a:off x="2944151" y="1298260"/>
                  <a:ext cx="3233100" cy="3151500"/>
                </a:xfrm>
                <a:prstGeom prst="ellipse">
                  <a:avLst/>
                </a:prstGeom>
                <a:solidFill>
                  <a:srgbClr val="12959A">
                    <a:alpha val="12940"/>
                  </a:srgbClr>
                </a:solidFill>
                <a:ln cap="flat" cmpd="sng" w="28575">
                  <a:solidFill>
                    <a:srgbClr val="4F7FD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34275" lIns="68575" spcFirstLastPara="1" rIns="68575" wrap="square" tIns="34275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4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93" name="Google Shape;193;p28"/>
                <p:cNvSpPr txBox="1"/>
                <p:nvPr/>
              </p:nvSpPr>
              <p:spPr>
                <a:xfrm>
                  <a:off x="3679415" y="1432235"/>
                  <a:ext cx="1783200" cy="2232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ctr" bIns="34275" lIns="68575" spcFirstLastPara="1" rIns="68575" wrap="square" tIns="34275">
                  <a:sp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b="1" lang="en" sz="1000">
                      <a:solidFill>
                        <a:srgbClr val="4F7FD1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Technical</a:t>
                  </a:r>
                  <a:endParaRPr sz="1100">
                    <a:solidFill>
                      <a:srgbClr val="4F7FD1"/>
                    </a:solidFill>
                  </a:endParaRPr>
                </a:p>
              </p:txBody>
            </p:sp>
          </p:grpSp>
          <p:grpSp>
            <p:nvGrpSpPr>
              <p:cNvPr id="194" name="Google Shape;194;p28"/>
              <p:cNvGrpSpPr/>
              <p:nvPr/>
            </p:nvGrpSpPr>
            <p:grpSpPr>
              <a:xfrm>
                <a:off x="2842260" y="2005737"/>
                <a:ext cx="3439215" cy="411746"/>
                <a:chOff x="2842260" y="2005737"/>
                <a:chExt cx="3439215" cy="411746"/>
              </a:xfrm>
            </p:grpSpPr>
            <p:pic>
              <p:nvPicPr>
                <p:cNvPr descr="/home/claude/logos/trim_teams.png" id="195" name="Google Shape;195;p28"/>
                <p:cNvPicPr preferRelativeResize="0"/>
                <p:nvPr/>
              </p:nvPicPr>
              <p:blipFill rotWithShape="1">
                <a:blip r:embed="rId3">
                  <a:alphaModFix/>
                </a:blip>
                <a:srcRect b="0" l="0" r="0" t="0"/>
                <a:stretch/>
              </p:blipFill>
              <p:spPr>
                <a:xfrm>
                  <a:off x="3328153" y="2005737"/>
                  <a:ext cx="202902" cy="182302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pic>
              <p:nvPicPr>
                <p:cNvPr descr="/home/claude/logos/trim_meet.png" id="196" name="Google Shape;196;p28"/>
                <p:cNvPicPr preferRelativeResize="0"/>
                <p:nvPr/>
              </p:nvPicPr>
              <p:blipFill rotWithShape="1">
                <a:blip r:embed="rId4">
                  <a:alphaModFix/>
                </a:blip>
                <a:srcRect b="0" l="0" r="0" t="0"/>
                <a:stretch/>
              </p:blipFill>
              <p:spPr>
                <a:xfrm>
                  <a:off x="4104355" y="2015503"/>
                  <a:ext cx="200054" cy="162769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pic>
              <p:nvPicPr>
                <p:cNvPr descr="/home/claude/logos/trim_whereby.png" id="197" name="Google Shape;197;p28"/>
                <p:cNvPicPr preferRelativeResize="0"/>
                <p:nvPr/>
              </p:nvPicPr>
              <p:blipFill rotWithShape="1">
                <a:blip r:embed="rId5">
                  <a:alphaModFix/>
                </a:blip>
                <a:srcRect b="0" l="0" r="0" t="0"/>
                <a:stretch/>
              </p:blipFill>
              <p:spPr>
                <a:xfrm>
                  <a:off x="4877709" y="2015503"/>
                  <a:ext cx="184235" cy="162769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pic>
              <p:nvPicPr>
                <p:cNvPr descr="/home/claude/logos/trim_gotomeeting.png" id="198" name="Google Shape;198;p28"/>
                <p:cNvPicPr preferRelativeResize="0"/>
                <p:nvPr/>
              </p:nvPicPr>
              <p:blipFill rotWithShape="1">
                <a:blip r:embed="rId6">
                  <a:alphaModFix/>
                </a:blip>
                <a:srcRect b="0" l="0" r="0" t="0"/>
                <a:stretch/>
              </p:blipFill>
              <p:spPr>
                <a:xfrm>
                  <a:off x="5635245" y="2012248"/>
                  <a:ext cx="157378" cy="169280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sp>
              <p:nvSpPr>
                <p:cNvPr id="199" name="Google Shape;199;p28"/>
                <p:cNvSpPr/>
                <p:nvPr/>
              </p:nvSpPr>
              <p:spPr>
                <a:xfrm>
                  <a:off x="2842260" y="2282333"/>
                  <a:ext cx="1384500" cy="879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Font typeface="Arial"/>
                    <a:buNone/>
                  </a:pPr>
                  <a:r>
                    <a:rPr b="1" lang="en" sz="600">
                      <a:solidFill>
                        <a:srgbClr val="E6E9EF"/>
                      </a:solidFill>
                    </a:rPr>
                    <a:t>Microsoft Teams</a:t>
                  </a:r>
                  <a:endParaRPr b="0" i="0" sz="568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00" name="Google Shape;200;p28"/>
                <p:cNvSpPr/>
                <p:nvPr/>
              </p:nvSpPr>
              <p:spPr>
                <a:xfrm>
                  <a:off x="3790365" y="2282333"/>
                  <a:ext cx="1181100" cy="879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ctr">
                    <a:spcBef>
                      <a:spcPts val="200"/>
                    </a:spcBef>
                    <a:spcAft>
                      <a:spcPts val="0"/>
                    </a:spcAft>
                    <a:buClr>
                      <a:schemeClr val="dk1"/>
                    </a:buClr>
                    <a:buFont typeface="Arial"/>
                    <a:buNone/>
                  </a:pPr>
                  <a:r>
                    <a:rPr b="1" lang="en" sz="600">
                      <a:solidFill>
                        <a:srgbClr val="E6E9EF"/>
                      </a:solidFill>
                    </a:rPr>
                    <a:t>Google Meet</a:t>
                  </a:r>
                  <a:endParaRPr b="0" i="0" sz="568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01" name="Google Shape;201;p28"/>
                <p:cNvSpPr/>
                <p:nvPr/>
              </p:nvSpPr>
              <p:spPr>
                <a:xfrm>
                  <a:off x="4535070" y="2282333"/>
                  <a:ext cx="978600" cy="879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ctr">
                    <a:spcBef>
                      <a:spcPts val="200"/>
                    </a:spcBef>
                    <a:spcAft>
                      <a:spcPts val="0"/>
                    </a:spcAft>
                    <a:buClr>
                      <a:schemeClr val="dk1"/>
                    </a:buClr>
                    <a:buFont typeface="Arial"/>
                    <a:buNone/>
                  </a:pPr>
                  <a:r>
                    <a:rPr b="1" lang="en" sz="600">
                      <a:solidFill>
                        <a:srgbClr val="E6E9EF"/>
                      </a:solidFill>
                    </a:rPr>
                    <a:t>Whereby</a:t>
                  </a:r>
                  <a:endParaRPr b="0" i="0" sz="568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02" name="Google Shape;202;p28"/>
                <p:cNvSpPr/>
                <p:nvPr/>
              </p:nvSpPr>
              <p:spPr>
                <a:xfrm>
                  <a:off x="5077275" y="2235083"/>
                  <a:ext cx="1204200" cy="1824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ctr">
                    <a:spcBef>
                      <a:spcPts val="200"/>
                    </a:spcBef>
                    <a:spcAft>
                      <a:spcPts val="0"/>
                    </a:spcAft>
                    <a:buClr>
                      <a:schemeClr val="dk1"/>
                    </a:buClr>
                    <a:buFont typeface="Arial"/>
                    <a:buNone/>
                  </a:pPr>
                  <a:r>
                    <a:rPr b="1" lang="en" sz="600">
                      <a:solidFill>
                        <a:srgbClr val="E6E9EF"/>
                      </a:solidFill>
                    </a:rPr>
                    <a:t>GoToMeeting</a:t>
                  </a:r>
                  <a:endParaRPr b="1" sz="568">
                    <a:solidFill>
                      <a:srgbClr val="2B3555"/>
                    </a:solidFill>
                  </a:endParaRPr>
                </a:p>
              </p:txBody>
            </p:sp>
          </p:grpSp>
        </p:grpSp>
        <p:grpSp>
          <p:nvGrpSpPr>
            <p:cNvPr id="203" name="Google Shape;203;p28"/>
            <p:cNvGrpSpPr/>
            <p:nvPr/>
          </p:nvGrpSpPr>
          <p:grpSpPr>
            <a:xfrm>
              <a:off x="2667833" y="2563805"/>
              <a:ext cx="2331900" cy="2331600"/>
              <a:chOff x="2667833" y="2563805"/>
              <a:chExt cx="2331900" cy="2331600"/>
            </a:xfrm>
          </p:grpSpPr>
          <p:grpSp>
            <p:nvGrpSpPr>
              <p:cNvPr id="204" name="Google Shape;204;p28"/>
              <p:cNvGrpSpPr/>
              <p:nvPr/>
            </p:nvGrpSpPr>
            <p:grpSpPr>
              <a:xfrm>
                <a:off x="2667833" y="2563805"/>
                <a:ext cx="2331900" cy="2331600"/>
                <a:chOff x="2667833" y="2563805"/>
                <a:chExt cx="2331900" cy="2331600"/>
              </a:xfrm>
            </p:grpSpPr>
            <p:sp>
              <p:nvSpPr>
                <p:cNvPr id="205" name="Google Shape;205;p28"/>
                <p:cNvSpPr/>
                <p:nvPr/>
              </p:nvSpPr>
              <p:spPr>
                <a:xfrm>
                  <a:off x="2667833" y="2563805"/>
                  <a:ext cx="2331900" cy="2331600"/>
                </a:xfrm>
                <a:prstGeom prst="ellipse">
                  <a:avLst/>
                </a:prstGeom>
                <a:solidFill>
                  <a:srgbClr val="C21C6C">
                    <a:alpha val="12940"/>
                  </a:srgbClr>
                </a:solidFill>
                <a:ln cap="flat" cmpd="sng" w="28575">
                  <a:solidFill>
                    <a:srgbClr val="C47CB8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34275" lIns="68575" spcFirstLastPara="1" rIns="68575" wrap="square" tIns="34275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4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06" name="Google Shape;206;p28"/>
                <p:cNvSpPr txBox="1"/>
                <p:nvPr/>
              </p:nvSpPr>
              <p:spPr>
                <a:xfrm>
                  <a:off x="2772709" y="4449755"/>
                  <a:ext cx="1783200" cy="2232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ctr" bIns="34275" lIns="68575" spcFirstLastPara="1" rIns="68575" wrap="square" tIns="34275">
                  <a:sp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b="1" lang="en" sz="1000">
                      <a:solidFill>
                        <a:srgbClr val="C47CB8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Semantic</a:t>
                  </a:r>
                  <a:endParaRPr sz="1100"/>
                </a:p>
              </p:txBody>
            </p:sp>
          </p:grpSp>
          <p:grpSp>
            <p:nvGrpSpPr>
              <p:cNvPr id="207" name="Google Shape;207;p28"/>
              <p:cNvGrpSpPr/>
              <p:nvPr/>
            </p:nvGrpSpPr>
            <p:grpSpPr>
              <a:xfrm>
                <a:off x="3271898" y="2833244"/>
                <a:ext cx="1476949" cy="844362"/>
                <a:chOff x="3271898" y="2833244"/>
                <a:chExt cx="1476949" cy="844362"/>
              </a:xfrm>
            </p:grpSpPr>
            <p:pic>
              <p:nvPicPr>
                <p:cNvPr descr="/home/claude/logos/trim_wordly.png" id="208" name="Google Shape;208;p28"/>
                <p:cNvPicPr preferRelativeResize="0"/>
                <p:nvPr/>
              </p:nvPicPr>
              <p:blipFill rotWithShape="1">
                <a:blip r:embed="rId7">
                  <a:alphaModFix/>
                </a:blip>
                <a:srcRect b="0" l="0" r="0" t="0"/>
                <a:stretch/>
              </p:blipFill>
              <p:spPr>
                <a:xfrm>
                  <a:off x="3271898" y="2950711"/>
                  <a:ext cx="81792" cy="84589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pic>
              <p:nvPicPr>
                <p:cNvPr descr="/home/claude/logos/trim_kudo.png" id="209" name="Google Shape;209;p28"/>
                <p:cNvPicPr preferRelativeResize="0"/>
                <p:nvPr/>
              </p:nvPicPr>
              <p:blipFill rotWithShape="1">
                <a:blip r:embed="rId8">
                  <a:alphaModFix/>
                </a:blip>
                <a:srcRect b="0" l="0" r="0" t="0"/>
                <a:stretch/>
              </p:blipFill>
              <p:spPr>
                <a:xfrm>
                  <a:off x="3271898" y="3064866"/>
                  <a:ext cx="385408" cy="78129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pic>
              <p:nvPicPr>
                <p:cNvPr descr="/home/claude/logos/trim_interprefy.png" id="210" name="Google Shape;210;p28"/>
                <p:cNvPicPr preferRelativeResize="0"/>
                <p:nvPr/>
              </p:nvPicPr>
              <p:blipFill rotWithShape="1">
                <a:blip r:embed="rId9">
                  <a:alphaModFix/>
                </a:blip>
                <a:srcRect b="0" l="0" r="0" t="0"/>
                <a:stretch/>
              </p:blipFill>
              <p:spPr>
                <a:xfrm>
                  <a:off x="3271898" y="3172562"/>
                  <a:ext cx="371114" cy="78129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pic>
              <p:nvPicPr>
                <p:cNvPr descr="/home/claude/logos/trim_palabra.png" id="211" name="Google Shape;211;p28"/>
                <p:cNvPicPr preferRelativeResize="0"/>
                <p:nvPr/>
              </p:nvPicPr>
              <p:blipFill rotWithShape="1">
                <a:blip r:embed="rId10">
                  <a:alphaModFix/>
                </a:blip>
                <a:srcRect b="0" l="0" r="0" t="0"/>
                <a:stretch/>
              </p:blipFill>
              <p:spPr>
                <a:xfrm>
                  <a:off x="3271898" y="3380907"/>
                  <a:ext cx="74874" cy="84640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pic>
              <p:nvPicPr>
                <p:cNvPr descr="/home/claude/logos/trim_jotme.png" id="212" name="Google Shape;212;p28"/>
                <p:cNvPicPr preferRelativeResize="0"/>
                <p:nvPr/>
              </p:nvPicPr>
              <p:blipFill rotWithShape="1">
                <a:blip r:embed="rId11">
                  <a:alphaModFix/>
                </a:blip>
                <a:srcRect b="0" l="0" r="0" t="0"/>
                <a:stretch/>
              </p:blipFill>
              <p:spPr>
                <a:xfrm>
                  <a:off x="3271898" y="3488335"/>
                  <a:ext cx="47000" cy="84589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pic>
              <p:nvPicPr>
                <p:cNvPr descr="/home/claude/logos/trim_meta.png" id="213" name="Google Shape;213;p28"/>
                <p:cNvPicPr preferRelativeResize="0"/>
                <p:nvPr/>
              </p:nvPicPr>
              <p:blipFill rotWithShape="1">
                <a:blip r:embed="rId12">
                  <a:alphaModFix/>
                </a:blip>
                <a:srcRect b="0" l="0" r="0" t="0"/>
                <a:stretch/>
              </p:blipFill>
              <p:spPr>
                <a:xfrm>
                  <a:off x="3271898" y="3598561"/>
                  <a:ext cx="110683" cy="79045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sp>
              <p:nvSpPr>
                <p:cNvPr id="214" name="Google Shape;214;p28"/>
                <p:cNvSpPr/>
                <p:nvPr/>
              </p:nvSpPr>
              <p:spPr>
                <a:xfrm>
                  <a:off x="3479162" y="2954514"/>
                  <a:ext cx="825600" cy="780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243056"/>
                    </a:buClr>
                    <a:buSzPts val="672"/>
                    <a:buFont typeface="Arial"/>
                    <a:buNone/>
                  </a:pPr>
                  <a:r>
                    <a:rPr b="1" i="0" lang="en" sz="672" u="none" cap="none" strike="noStrike">
                      <a:solidFill>
                        <a:schemeClr val="lt1"/>
                      </a:solidFill>
                    </a:rPr>
                    <a:t>Wordly</a:t>
                  </a:r>
                  <a:endParaRPr i="0" sz="672" u="none" cap="none" strike="noStrike">
                    <a:solidFill>
                      <a:schemeClr val="lt1"/>
                    </a:solidFill>
                  </a:endParaRPr>
                </a:p>
              </p:txBody>
            </p:sp>
            <p:sp>
              <p:nvSpPr>
                <p:cNvPr id="215" name="Google Shape;215;p28"/>
                <p:cNvSpPr/>
                <p:nvPr/>
              </p:nvSpPr>
              <p:spPr>
                <a:xfrm>
                  <a:off x="3479162" y="3269747"/>
                  <a:ext cx="1077300" cy="780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243056"/>
                    </a:buClr>
                    <a:buSzPts val="672"/>
                    <a:buFont typeface="Arial"/>
                    <a:buNone/>
                  </a:pPr>
                  <a:r>
                    <a:rPr b="1" i="0" lang="en" sz="672" u="none" cap="none" strike="noStrike">
                      <a:solidFill>
                        <a:schemeClr val="lt1"/>
                      </a:solidFill>
                    </a:rPr>
                    <a:t>DeepL Voice</a:t>
                  </a:r>
                  <a:endParaRPr i="0" sz="672" u="none" cap="none" strike="noStrike">
                    <a:solidFill>
                      <a:schemeClr val="lt1"/>
                    </a:solidFill>
                  </a:endParaRPr>
                </a:p>
              </p:txBody>
            </p:sp>
            <p:sp>
              <p:nvSpPr>
                <p:cNvPr id="216" name="Google Shape;216;p28"/>
                <p:cNvSpPr/>
                <p:nvPr/>
              </p:nvSpPr>
              <p:spPr>
                <a:xfrm>
                  <a:off x="3479162" y="3384163"/>
                  <a:ext cx="972300" cy="780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243056"/>
                    </a:buClr>
                    <a:buSzPts val="672"/>
                    <a:buFont typeface="Arial"/>
                    <a:buNone/>
                  </a:pPr>
                  <a:r>
                    <a:rPr b="1" i="0" lang="en" sz="672" u="none" cap="none" strike="noStrike">
                      <a:solidFill>
                        <a:schemeClr val="lt1"/>
                      </a:solidFill>
                    </a:rPr>
                    <a:t>Palabra.ai</a:t>
                  </a:r>
                  <a:endParaRPr i="0" sz="672" u="none" cap="none" strike="noStrike">
                    <a:solidFill>
                      <a:schemeClr val="lt1"/>
                    </a:solidFill>
                  </a:endParaRPr>
                </a:p>
              </p:txBody>
            </p:sp>
            <p:sp>
              <p:nvSpPr>
                <p:cNvPr id="217" name="Google Shape;217;p28"/>
                <p:cNvSpPr/>
                <p:nvPr/>
              </p:nvSpPr>
              <p:spPr>
                <a:xfrm>
                  <a:off x="3479162" y="3491590"/>
                  <a:ext cx="761700" cy="780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243056"/>
                    </a:buClr>
                    <a:buSzPts val="672"/>
                    <a:buFont typeface="Arial"/>
                    <a:buNone/>
                  </a:pPr>
                  <a:r>
                    <a:rPr b="1" i="0" lang="en" sz="672" u="none" cap="none" strike="noStrike">
                      <a:solidFill>
                        <a:schemeClr val="lt1"/>
                      </a:solidFill>
                    </a:rPr>
                    <a:t>JotMe</a:t>
                  </a:r>
                  <a:endParaRPr i="0" sz="672" u="none" cap="none" strike="noStrike">
                    <a:solidFill>
                      <a:schemeClr val="lt1"/>
                    </a:solidFill>
                  </a:endParaRPr>
                </a:p>
              </p:txBody>
            </p:sp>
            <p:sp>
              <p:nvSpPr>
                <p:cNvPr id="218" name="Google Shape;218;p28"/>
                <p:cNvSpPr/>
                <p:nvPr/>
              </p:nvSpPr>
              <p:spPr>
                <a:xfrm>
                  <a:off x="3479162" y="3599018"/>
                  <a:ext cx="1213200" cy="780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243056"/>
                    </a:buClr>
                    <a:buSzPts val="672"/>
                    <a:buFont typeface="Arial"/>
                    <a:buNone/>
                  </a:pPr>
                  <a:r>
                    <a:rPr b="1" i="0" lang="en" sz="672" u="none" cap="none" strike="noStrike">
                      <a:solidFill>
                        <a:schemeClr val="lt1"/>
                      </a:solidFill>
                    </a:rPr>
                    <a:t>Meta Seamless</a:t>
                  </a:r>
                  <a:endParaRPr i="0" sz="672" u="none" cap="none" strike="noStrike">
                    <a:solidFill>
                      <a:schemeClr val="lt1"/>
                    </a:solidFill>
                  </a:endParaRPr>
                </a:p>
              </p:txBody>
            </p:sp>
            <p:sp>
              <p:nvSpPr>
                <p:cNvPr id="219" name="Google Shape;219;p28"/>
                <p:cNvSpPr/>
                <p:nvPr/>
              </p:nvSpPr>
              <p:spPr>
                <a:xfrm>
                  <a:off x="3669447" y="2847610"/>
                  <a:ext cx="1079400" cy="750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6B7590"/>
                    </a:buClr>
                    <a:buSzPts val="600"/>
                    <a:buFont typeface="Arial"/>
                    <a:buNone/>
                  </a:pPr>
                  <a:r>
                    <a:rPr b="0" i="0" lang="en" sz="600" u="none" cap="none" strike="noStrike">
                      <a:solidFill>
                        <a:schemeClr val="lt1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(AI Companion)</a:t>
                  </a:r>
                  <a:endParaRPr b="0" i="0" sz="600" u="none" cap="none" strike="noStrike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pic>
              <p:nvPicPr>
                <p:cNvPr descr="/home/claude/logos/trim_zoom.png" id="220" name="Google Shape;220;p28"/>
                <p:cNvPicPr preferRelativeResize="0"/>
                <p:nvPr/>
              </p:nvPicPr>
              <p:blipFill rotWithShape="1">
                <a:blip r:embed="rId13">
                  <a:alphaModFix/>
                </a:blip>
                <a:srcRect b="0" l="0" r="0" t="0"/>
                <a:stretch/>
              </p:blipFill>
              <p:spPr>
                <a:xfrm>
                  <a:off x="3271898" y="2833244"/>
                  <a:ext cx="367131" cy="87900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pic>
              <p:nvPicPr>
                <p:cNvPr id="221" name="Google Shape;221;p28"/>
                <p:cNvPicPr preferRelativeResize="0"/>
                <p:nvPr/>
              </p:nvPicPr>
              <p:blipFill>
                <a:blip r:embed="rId14">
                  <a:alphaModFix/>
                </a:blip>
                <a:stretch>
                  <a:fillRect/>
                </a:stretch>
              </p:blipFill>
              <p:spPr>
                <a:xfrm>
                  <a:off x="3271898" y="3268877"/>
                  <a:ext cx="74875" cy="79740"/>
                </a:xfrm>
                <a:prstGeom prst="rect">
                  <a:avLst/>
                </a:prstGeom>
                <a:solidFill>
                  <a:srgbClr val="0D1117"/>
                </a:solidFill>
                <a:ln>
                  <a:noFill/>
                </a:ln>
              </p:spPr>
            </p:pic>
          </p:grpSp>
        </p:grpSp>
        <p:grpSp>
          <p:nvGrpSpPr>
            <p:cNvPr id="222" name="Google Shape;222;p28"/>
            <p:cNvGrpSpPr/>
            <p:nvPr/>
          </p:nvGrpSpPr>
          <p:grpSpPr>
            <a:xfrm>
              <a:off x="4149201" y="2563805"/>
              <a:ext cx="2331900" cy="2331600"/>
              <a:chOff x="4149201" y="2563805"/>
              <a:chExt cx="2331900" cy="2331600"/>
            </a:xfrm>
          </p:grpSpPr>
          <p:grpSp>
            <p:nvGrpSpPr>
              <p:cNvPr id="223" name="Google Shape;223;p28"/>
              <p:cNvGrpSpPr/>
              <p:nvPr/>
            </p:nvGrpSpPr>
            <p:grpSpPr>
              <a:xfrm>
                <a:off x="4149201" y="2563805"/>
                <a:ext cx="2331900" cy="2331600"/>
                <a:chOff x="4149201" y="2563805"/>
                <a:chExt cx="2331900" cy="2331600"/>
              </a:xfrm>
            </p:grpSpPr>
            <p:sp>
              <p:nvSpPr>
                <p:cNvPr id="224" name="Google Shape;224;p28"/>
                <p:cNvSpPr/>
                <p:nvPr/>
              </p:nvSpPr>
              <p:spPr>
                <a:xfrm>
                  <a:off x="4149201" y="2563805"/>
                  <a:ext cx="2331900" cy="2331600"/>
                </a:xfrm>
                <a:prstGeom prst="ellipse">
                  <a:avLst/>
                </a:prstGeom>
                <a:solidFill>
                  <a:srgbClr val="47B484">
                    <a:alpha val="19310"/>
                  </a:srgbClr>
                </a:solidFill>
                <a:ln cap="flat" cmpd="sng" w="28575">
                  <a:solidFill>
                    <a:srgbClr val="47B484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34275" lIns="68575" spcFirstLastPara="1" rIns="68575" wrap="square" tIns="34275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4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25" name="Google Shape;225;p28"/>
                <p:cNvSpPr txBox="1"/>
                <p:nvPr/>
              </p:nvSpPr>
              <p:spPr>
                <a:xfrm>
                  <a:off x="4634195" y="4449755"/>
                  <a:ext cx="1783200" cy="2232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ctr" bIns="34275" lIns="68575" spcFirstLastPara="1" rIns="68575" wrap="square" tIns="34275">
                  <a:sp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b="1" lang="en" sz="1000">
                      <a:solidFill>
                        <a:srgbClr val="4FBF8F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Effectiveness</a:t>
                  </a:r>
                  <a:endParaRPr sz="1100"/>
                </a:p>
              </p:txBody>
            </p:sp>
          </p:grpSp>
          <p:grpSp>
            <p:nvGrpSpPr>
              <p:cNvPr id="226" name="Google Shape;226;p28"/>
              <p:cNvGrpSpPr/>
              <p:nvPr/>
            </p:nvGrpSpPr>
            <p:grpSpPr>
              <a:xfrm>
                <a:off x="5061953" y="2891925"/>
                <a:ext cx="1395403" cy="577200"/>
                <a:chOff x="5061953" y="2891925"/>
                <a:chExt cx="1395403" cy="577200"/>
              </a:xfrm>
            </p:grpSpPr>
            <p:sp>
              <p:nvSpPr>
                <p:cNvPr id="227" name="Google Shape;227;p28"/>
                <p:cNvSpPr txBox="1"/>
                <p:nvPr/>
              </p:nvSpPr>
              <p:spPr>
                <a:xfrm>
                  <a:off x="5154156" y="2891925"/>
                  <a:ext cx="1303200" cy="5772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ctr" bIns="34275" lIns="68575" spcFirstLastPara="1" rIns="68575" wrap="square" tIns="34275">
                  <a:sp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b="1" lang="en" sz="700">
                      <a:solidFill>
                        <a:srgbClr val="E6E9EF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Fireflies.ai</a:t>
                  </a:r>
                  <a:endParaRPr sz="1100"/>
                </a:p>
                <a:p>
                  <a:pPr indent="0" lvl="0" marL="0" marR="0" rtl="0" algn="l">
                    <a:spcBef>
                      <a:spcPts val="200"/>
                    </a:spcBef>
                    <a:spcAft>
                      <a:spcPts val="0"/>
                    </a:spcAft>
                    <a:buNone/>
                  </a:pPr>
                  <a:r>
                    <a:rPr b="1" lang="en" sz="700">
                      <a:solidFill>
                        <a:srgbClr val="E6E9EF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Fellow</a:t>
                  </a:r>
                  <a:endParaRPr b="1" sz="700">
                    <a:solidFill>
                      <a:srgbClr val="E6E9EF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  <a:p>
                  <a:pPr indent="0" lvl="0" marL="0" marR="0" rtl="0" algn="l">
                    <a:spcBef>
                      <a:spcPts val="200"/>
                    </a:spcBef>
                    <a:spcAft>
                      <a:spcPts val="0"/>
                    </a:spcAft>
                    <a:buNone/>
                  </a:pPr>
                  <a:r>
                    <a:rPr b="1" lang="en" sz="700">
                      <a:solidFill>
                        <a:srgbClr val="E6E9EF"/>
                      </a:solidFill>
                    </a:rPr>
                    <a:t>Read.ai</a:t>
                  </a:r>
                  <a:endParaRPr b="1" sz="700">
                    <a:solidFill>
                      <a:srgbClr val="E6E9EF"/>
                    </a:solidFill>
                  </a:endParaRPr>
                </a:p>
                <a:p>
                  <a:pPr indent="0" lvl="0" marL="0" marR="0" rtl="0" algn="l">
                    <a:spcBef>
                      <a:spcPts val="200"/>
                    </a:spcBef>
                    <a:spcAft>
                      <a:spcPts val="0"/>
                    </a:spcAft>
                    <a:buNone/>
                  </a:pPr>
                  <a:r>
                    <a:rPr b="1" lang="en" sz="700">
                      <a:solidFill>
                        <a:srgbClr val="E6E9EF"/>
                      </a:solidFill>
                    </a:rPr>
                    <a:t>MS latecomer patent</a:t>
                  </a:r>
                  <a:endParaRPr b="1" sz="700">
                    <a:solidFill>
                      <a:srgbClr val="E6E9EF"/>
                    </a:solidFill>
                  </a:endParaRPr>
                </a:p>
              </p:txBody>
            </p:sp>
            <p:pic>
              <p:nvPicPr>
                <p:cNvPr descr="/home/claude/logos/trim_fireflies.png" id="228" name="Google Shape;228;p28"/>
                <p:cNvPicPr preferRelativeResize="0"/>
                <p:nvPr/>
              </p:nvPicPr>
              <p:blipFill rotWithShape="1">
                <a:blip r:embed="rId15">
                  <a:alphaModFix/>
                </a:blip>
                <a:srcRect b="0" l="0" r="0" t="0"/>
                <a:stretch/>
              </p:blipFill>
              <p:spPr>
                <a:xfrm>
                  <a:off x="5067570" y="2925052"/>
                  <a:ext cx="74366" cy="84589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pic>
              <p:nvPicPr>
                <p:cNvPr descr="/home/claude/logos/trim_readai.png" id="229" name="Google Shape;229;p28"/>
                <p:cNvPicPr preferRelativeResize="0"/>
                <p:nvPr/>
              </p:nvPicPr>
              <p:blipFill rotWithShape="1">
                <a:blip r:embed="rId16">
                  <a:alphaModFix/>
                </a:blip>
                <a:srcRect b="0" l="0" r="0" t="0"/>
                <a:stretch/>
              </p:blipFill>
              <p:spPr>
                <a:xfrm>
                  <a:off x="5065096" y="3200401"/>
                  <a:ext cx="78791" cy="84589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pic>
              <p:nvPicPr>
                <p:cNvPr descr="/home/claude/logos/trim_microsoft.png" id="230" name="Google Shape;230;p28"/>
                <p:cNvPicPr preferRelativeResize="0"/>
                <p:nvPr/>
              </p:nvPicPr>
              <p:blipFill rotWithShape="1">
                <a:blip r:embed="rId17">
                  <a:alphaModFix/>
                </a:blip>
                <a:srcRect b="0" l="0" r="0" t="0"/>
                <a:stretch/>
              </p:blipFill>
              <p:spPr>
                <a:xfrm>
                  <a:off x="5061953" y="3338050"/>
                  <a:ext cx="82148" cy="84589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pic>
              <p:nvPicPr>
                <p:cNvPr descr="/home/claude/logos/trim_fellow.png" id="231" name="Google Shape;231;p28"/>
                <p:cNvPicPr preferRelativeResize="0"/>
                <p:nvPr/>
              </p:nvPicPr>
              <p:blipFill rotWithShape="1">
                <a:blip r:embed="rId18">
                  <a:alphaModFix/>
                </a:blip>
                <a:srcRect b="0" l="0" r="0" t="0"/>
                <a:stretch/>
              </p:blipFill>
              <p:spPr>
                <a:xfrm>
                  <a:off x="5067570" y="3062701"/>
                  <a:ext cx="76705" cy="84640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</p:grpSp>
        </p:grpSp>
      </p:grpSp>
      <p:grpSp>
        <p:nvGrpSpPr>
          <p:cNvPr id="232" name="Google Shape;232;p28"/>
          <p:cNvGrpSpPr/>
          <p:nvPr/>
        </p:nvGrpSpPr>
        <p:grpSpPr>
          <a:xfrm>
            <a:off x="4185100" y="3308388"/>
            <a:ext cx="841800" cy="512413"/>
            <a:chOff x="4185100" y="3308388"/>
            <a:chExt cx="841800" cy="512413"/>
          </a:xfrm>
        </p:grpSpPr>
        <p:sp>
          <p:nvSpPr>
            <p:cNvPr id="233" name="Google Shape;233;p28"/>
            <p:cNvSpPr/>
            <p:nvPr/>
          </p:nvSpPr>
          <p:spPr>
            <a:xfrm>
              <a:off x="4376989" y="3308388"/>
              <a:ext cx="390000" cy="118800"/>
            </a:xfrm>
            <a:prstGeom prst="roundRect">
              <a:avLst>
                <a:gd fmla="val 27907" name="adj"/>
              </a:avLst>
            </a:prstGeom>
            <a:solidFill>
              <a:srgbClr val="FFFFFF">
                <a:alpha val="72160"/>
              </a:srgbClr>
            </a:solidFill>
            <a:ln cap="flat" cmpd="sng" w="13425">
              <a:solidFill>
                <a:srgbClr val="0D1117"/>
              </a:solidFill>
              <a:prstDash val="dash"/>
              <a:round/>
              <a:headEnd len="sm" w="sm" type="none"/>
              <a:tailEnd len="sm" w="sm" type="none"/>
            </a:ln>
          </p:spPr>
          <p:txBody>
            <a:bodyPr anchorCtr="0" anchor="ctr" bIns="21525" lIns="21525" spcFirstLastPara="1" rIns="21525" wrap="square" tIns="2152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rgbClr val="132043"/>
                </a:buClr>
                <a:buSzPts val="732"/>
                <a:buFont typeface="Arial"/>
                <a:buNone/>
              </a:pPr>
              <a:r>
                <a:rPr b="1" i="0" lang="en" sz="700" u="none" cap="none" strike="noStrike">
                  <a:solidFill>
                    <a:srgbClr val="132043"/>
                  </a:solidFill>
                </a:rPr>
                <a:t>LINC</a:t>
              </a:r>
              <a:endParaRPr i="0" sz="700" u="none" cap="none" strike="noStrike">
                <a:solidFill>
                  <a:schemeClr val="dk1"/>
                </a:solidFill>
              </a:endParaRPr>
            </a:p>
          </p:txBody>
        </p:sp>
        <p:pic>
          <p:nvPicPr>
            <p:cNvPr id="234" name="Google Shape;234;p28"/>
            <p:cNvPicPr preferRelativeResize="0"/>
            <p:nvPr/>
          </p:nvPicPr>
          <p:blipFill>
            <a:blip r:embed="rId19">
              <a:alphaModFix/>
            </a:blip>
            <a:stretch>
              <a:fillRect/>
            </a:stretch>
          </p:blipFill>
          <p:spPr>
            <a:xfrm>
              <a:off x="4185100" y="3688615"/>
              <a:ext cx="157375" cy="105057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35" name="Google Shape;235;p28"/>
            <p:cNvSpPr/>
            <p:nvPr/>
          </p:nvSpPr>
          <p:spPr>
            <a:xfrm>
              <a:off x="4377001" y="3638400"/>
              <a:ext cx="625800" cy="182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243056"/>
                </a:buClr>
                <a:buSzPts val="672"/>
                <a:buFont typeface="Arial"/>
                <a:buNone/>
              </a:pPr>
              <a:r>
                <a:rPr b="1" lang="en" sz="472">
                  <a:solidFill>
                    <a:schemeClr val="lt1"/>
                  </a:solidFill>
                </a:rPr>
                <a:t>Live Meeting </a:t>
              </a:r>
              <a:r>
                <a:rPr b="1" lang="en" sz="472">
                  <a:solidFill>
                    <a:schemeClr val="lt1"/>
                  </a:solidFill>
                </a:rPr>
                <a:t>Assistant</a:t>
              </a:r>
              <a:r>
                <a:rPr b="1" lang="en" sz="472">
                  <a:solidFill>
                    <a:schemeClr val="lt1"/>
                  </a:solidFill>
                </a:rPr>
                <a:t> (generic)</a:t>
              </a:r>
              <a:endParaRPr i="0" sz="472" u="none" cap="none" strike="noStrike">
                <a:solidFill>
                  <a:schemeClr val="lt1"/>
                </a:solidFill>
              </a:endParaRPr>
            </a:p>
          </p:txBody>
        </p:sp>
        <p:sp>
          <p:nvSpPr>
            <p:cNvPr id="236" name="Google Shape;236;p28"/>
            <p:cNvSpPr/>
            <p:nvPr/>
          </p:nvSpPr>
          <p:spPr>
            <a:xfrm>
              <a:off x="4401100" y="3397750"/>
              <a:ext cx="625800" cy="162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243056"/>
                </a:buClr>
                <a:buSzPts val="672"/>
                <a:buFont typeface="Arial"/>
                <a:buNone/>
              </a:pPr>
              <a:r>
                <a:rPr b="1" lang="en" sz="472">
                  <a:solidFill>
                    <a:schemeClr val="lt1"/>
                  </a:solidFill>
                </a:rPr>
                <a:t>(Research only)</a:t>
              </a:r>
              <a:endParaRPr i="0" sz="472" u="none" cap="none" strike="noStrike">
                <a:solidFill>
                  <a:schemeClr val="lt1"/>
                </a:solidFill>
              </a:endParaRP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29"/>
          <p:cNvSpPr/>
          <p:nvPr/>
        </p:nvSpPr>
        <p:spPr>
          <a:xfrm>
            <a:off x="0" y="0"/>
            <a:ext cx="9144015" cy="51435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29"/>
          <p:cNvSpPr txBox="1"/>
          <p:nvPr/>
        </p:nvSpPr>
        <p:spPr>
          <a:xfrm>
            <a:off x="411491" y="240030"/>
            <a:ext cx="8298300" cy="4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300">
                <a:solidFill>
                  <a:srgbClr val="E6E9EF"/>
                </a:solidFill>
                <a:latin typeface="Arial"/>
                <a:ea typeface="Arial"/>
                <a:cs typeface="Arial"/>
                <a:sym typeface="Arial"/>
              </a:rPr>
              <a:t>Interlinga.ai </a:t>
            </a:r>
            <a:r>
              <a:rPr b="1" lang="en" sz="2300">
                <a:solidFill>
                  <a:srgbClr val="E6E9EF"/>
                </a:solidFill>
              </a:rPr>
              <a:t>breaks all 3 language barriers</a:t>
            </a:r>
            <a:endParaRPr sz="1100"/>
          </a:p>
        </p:txBody>
      </p:sp>
      <p:sp>
        <p:nvSpPr>
          <p:cNvPr id="243" name="Google Shape;243;p29"/>
          <p:cNvSpPr/>
          <p:nvPr/>
        </p:nvSpPr>
        <p:spPr>
          <a:xfrm>
            <a:off x="411491" y="720090"/>
            <a:ext cx="754400" cy="28575"/>
          </a:xfrm>
          <a:prstGeom prst="rect">
            <a:avLst/>
          </a:prstGeom>
          <a:solidFill>
            <a:srgbClr val="4F7FD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44" name="Google Shape;244;p29"/>
          <p:cNvGrpSpPr/>
          <p:nvPr/>
        </p:nvGrpSpPr>
        <p:grpSpPr>
          <a:xfrm>
            <a:off x="411500" y="2648421"/>
            <a:ext cx="8325834" cy="2289378"/>
            <a:chOff x="411491" y="1337310"/>
            <a:chExt cx="8325834" cy="3531900"/>
          </a:xfrm>
        </p:grpSpPr>
        <p:sp>
          <p:nvSpPr>
            <p:cNvPr id="245" name="Google Shape;245;p29"/>
            <p:cNvSpPr/>
            <p:nvPr/>
          </p:nvSpPr>
          <p:spPr>
            <a:xfrm>
              <a:off x="3237062" y="1337310"/>
              <a:ext cx="2674800" cy="3531900"/>
            </a:xfrm>
            <a:prstGeom prst="roundRect">
              <a:avLst>
                <a:gd fmla="val 6000" name="adj"/>
              </a:avLst>
            </a:prstGeom>
            <a:solidFill>
              <a:srgbClr val="171D27"/>
            </a:solidFill>
            <a:ln cap="flat" cmpd="sng" w="9525">
              <a:solidFill>
                <a:srgbClr val="2A334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6" name="Google Shape;246;p29"/>
            <p:cNvSpPr/>
            <p:nvPr/>
          </p:nvSpPr>
          <p:spPr>
            <a:xfrm>
              <a:off x="6062634" y="1337310"/>
              <a:ext cx="2674691" cy="3531870"/>
            </a:xfrm>
            <a:prstGeom prst="roundRect">
              <a:avLst>
                <a:gd fmla="val 6000" name="adj"/>
              </a:avLst>
            </a:prstGeom>
            <a:solidFill>
              <a:srgbClr val="171D27"/>
            </a:solidFill>
            <a:ln cap="flat" cmpd="sng" w="9525">
              <a:solidFill>
                <a:srgbClr val="2A334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7" name="Google Shape;247;p29"/>
            <p:cNvSpPr/>
            <p:nvPr/>
          </p:nvSpPr>
          <p:spPr>
            <a:xfrm>
              <a:off x="3237062" y="1337310"/>
              <a:ext cx="2674691" cy="38100"/>
            </a:xfrm>
            <a:prstGeom prst="roundRect">
              <a:avLst>
                <a:gd fmla="val 16667" name="adj"/>
              </a:avLst>
            </a:prstGeom>
            <a:solidFill>
              <a:srgbClr val="C47CB8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8" name="Google Shape;248;p29"/>
            <p:cNvSpPr/>
            <p:nvPr/>
          </p:nvSpPr>
          <p:spPr>
            <a:xfrm>
              <a:off x="6062634" y="1337310"/>
              <a:ext cx="2674691" cy="38100"/>
            </a:xfrm>
            <a:prstGeom prst="roundRect">
              <a:avLst>
                <a:gd fmla="val 16667" name="adj"/>
              </a:avLst>
            </a:prstGeom>
            <a:solidFill>
              <a:srgbClr val="4FBF8F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9" name="Google Shape;249;p29"/>
            <p:cNvSpPr/>
            <p:nvPr/>
          </p:nvSpPr>
          <p:spPr>
            <a:xfrm>
              <a:off x="411491" y="1337310"/>
              <a:ext cx="2674691" cy="3531870"/>
            </a:xfrm>
            <a:prstGeom prst="roundRect">
              <a:avLst>
                <a:gd fmla="val 6000" name="adj"/>
              </a:avLst>
            </a:prstGeom>
            <a:solidFill>
              <a:srgbClr val="171D27"/>
            </a:solidFill>
            <a:ln cap="flat" cmpd="sng" w="9525">
              <a:solidFill>
                <a:srgbClr val="2A334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0" name="Google Shape;250;p29"/>
            <p:cNvSpPr/>
            <p:nvPr/>
          </p:nvSpPr>
          <p:spPr>
            <a:xfrm>
              <a:off x="411491" y="1337310"/>
              <a:ext cx="2674800" cy="38100"/>
            </a:xfrm>
            <a:prstGeom prst="roundRect">
              <a:avLst>
                <a:gd fmla="val 16667" name="adj"/>
              </a:avLst>
            </a:prstGeom>
            <a:solidFill>
              <a:srgbClr val="4F7FD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1" name="Google Shape;251;p29"/>
            <p:cNvSpPr txBox="1"/>
            <p:nvPr/>
          </p:nvSpPr>
          <p:spPr>
            <a:xfrm>
              <a:off x="582946" y="1543050"/>
              <a:ext cx="2331900" cy="3039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34275" lIns="68575" spcFirstLastPara="1" rIns="68575" wrap="square" tIns="34275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300">
                  <a:solidFill>
                    <a:srgbClr val="4F7FD1"/>
                  </a:solidFill>
                  <a:latin typeface="Arial"/>
                  <a:ea typeface="Arial"/>
                  <a:cs typeface="Arial"/>
                  <a:sym typeface="Arial"/>
                </a:rPr>
                <a:t>Accurate transmission</a:t>
              </a:r>
              <a:endParaRPr b="1" sz="1300">
                <a:solidFill>
                  <a:srgbClr val="4F7FD1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sz="1300">
                <a:solidFill>
                  <a:srgbClr val="4F7FD1"/>
                </a:solidFill>
              </a:endParaRPr>
            </a:p>
            <a:p>
              <a:pPr indent="-292100" lvl="0" marL="457200" marR="0" rtl="0" algn="l">
                <a:spcBef>
                  <a:spcPts val="900"/>
                </a:spcBef>
                <a:spcAft>
                  <a:spcPts val="0"/>
                </a:spcAft>
                <a:buClr>
                  <a:srgbClr val="E6E9EF"/>
                </a:buClr>
                <a:buSzPts val="1000"/>
                <a:buFont typeface="Arial"/>
                <a:buChar char="●"/>
              </a:pPr>
              <a:r>
                <a:rPr b="0" lang="en" sz="1000">
                  <a:solidFill>
                    <a:srgbClr val="E6E9EF"/>
                  </a:solidFill>
                  <a:latin typeface="Arial"/>
                  <a:ea typeface="Arial"/>
                  <a:cs typeface="Arial"/>
                  <a:sym typeface="Arial"/>
                </a:rPr>
                <a:t>LiveKit real-time audio transport</a:t>
              </a:r>
              <a:endParaRPr sz="1000">
                <a:solidFill>
                  <a:srgbClr val="E6E9EF"/>
                </a:solidFill>
              </a:endParaRPr>
            </a:p>
            <a:p>
              <a:pPr indent="-292100" lvl="0" marL="457200" marR="0" rtl="0" algn="l">
                <a:spcBef>
                  <a:spcPts val="0"/>
                </a:spcBef>
                <a:spcAft>
                  <a:spcPts val="0"/>
                </a:spcAft>
                <a:buClr>
                  <a:srgbClr val="E6E9EF"/>
                </a:buClr>
                <a:buSzPts val="1000"/>
                <a:buFont typeface="Arial"/>
                <a:buChar char="●"/>
              </a:pPr>
              <a:r>
                <a:rPr b="0" lang="en" sz="1000">
                  <a:solidFill>
                    <a:srgbClr val="E6E9EF"/>
                  </a:solidFill>
                  <a:latin typeface="Arial"/>
                  <a:ea typeface="Arial"/>
                  <a:cs typeface="Arial"/>
                  <a:sym typeface="Arial"/>
                </a:rPr>
                <a:t>Deepgram Nova-3</a:t>
              </a:r>
              <a:r>
                <a:rPr lang="en" sz="1000">
                  <a:solidFill>
                    <a:srgbClr val="E6E9EF"/>
                  </a:solidFill>
                </a:rPr>
                <a:t> (cloud) </a:t>
              </a:r>
              <a:r>
                <a:rPr b="0" lang="en" sz="1000">
                  <a:solidFill>
                    <a:srgbClr val="E6E9EF"/>
                  </a:solidFill>
                  <a:latin typeface="Arial"/>
                  <a:ea typeface="Arial"/>
                  <a:cs typeface="Arial"/>
                  <a:sym typeface="Arial"/>
                </a:rPr>
                <a:t>/ </a:t>
              </a:r>
              <a:r>
                <a:rPr lang="en" sz="1000">
                  <a:solidFill>
                    <a:srgbClr val="E6E9EF"/>
                  </a:solidFill>
                </a:rPr>
                <a:t>W</a:t>
              </a:r>
              <a:r>
                <a:rPr b="0" lang="en" sz="1000">
                  <a:solidFill>
                    <a:srgbClr val="E6E9EF"/>
                  </a:solidFill>
                  <a:latin typeface="Arial"/>
                  <a:ea typeface="Arial"/>
                  <a:cs typeface="Arial"/>
                  <a:sym typeface="Arial"/>
                </a:rPr>
                <a:t>hisper (local) speech-to-text</a:t>
              </a:r>
              <a:endParaRPr sz="1000">
                <a:solidFill>
                  <a:srgbClr val="E6E9EF"/>
                </a:solidFill>
              </a:endParaRPr>
            </a:p>
            <a:p>
              <a:pPr indent="-292100" lvl="0" marL="457200" marR="0" rtl="0" algn="l">
                <a:spcBef>
                  <a:spcPts val="0"/>
                </a:spcBef>
                <a:spcAft>
                  <a:spcPts val="0"/>
                </a:spcAft>
                <a:buClr>
                  <a:srgbClr val="E6E9EF"/>
                </a:buClr>
                <a:buSzPts val="1000"/>
                <a:buFont typeface="Arial"/>
                <a:buChar char="●"/>
              </a:pPr>
              <a:r>
                <a:rPr lang="en" sz="1000">
                  <a:solidFill>
                    <a:srgbClr val="E6E9EF"/>
                  </a:solidFill>
                </a:rPr>
                <a:t>E</a:t>
              </a:r>
              <a:r>
                <a:rPr b="0" lang="en" sz="1000">
                  <a:solidFill>
                    <a:srgbClr val="E6E9EF"/>
                  </a:solidFill>
                  <a:latin typeface="Arial"/>
                  <a:ea typeface="Arial"/>
                  <a:cs typeface="Arial"/>
                  <a:sym typeface="Arial"/>
                </a:rPr>
                <a:t>very </a:t>
              </a:r>
              <a:r>
                <a:rPr lang="en" sz="1000">
                  <a:solidFill>
                    <a:srgbClr val="E6E9EF"/>
                  </a:solidFill>
                </a:rPr>
                <a:t>caption</a:t>
              </a:r>
              <a:r>
                <a:rPr b="0" lang="en" sz="1000">
                  <a:solidFill>
                    <a:srgbClr val="E6E9EF"/>
                  </a:solidFill>
                  <a:latin typeface="Arial"/>
                  <a:ea typeface="Arial"/>
                  <a:cs typeface="Arial"/>
                  <a:sym typeface="Arial"/>
                </a:rPr>
                <a:t> carries a </a:t>
              </a:r>
              <a:r>
                <a:rPr lang="en" sz="1000">
                  <a:solidFill>
                    <a:srgbClr val="E6E9EF"/>
                  </a:solidFill>
                </a:rPr>
                <a:t>Confidence rating: “high” | “medium” | “low” t</a:t>
              </a:r>
              <a:r>
                <a:rPr b="0" lang="en" sz="1000">
                  <a:solidFill>
                    <a:srgbClr val="E6E9EF"/>
                  </a:solidFill>
                  <a:latin typeface="Arial"/>
                  <a:ea typeface="Arial"/>
                  <a:cs typeface="Arial"/>
                  <a:sym typeface="Arial"/>
                </a:rPr>
                <a:t>o expose exactly where the signal was shaky</a:t>
              </a:r>
              <a:endParaRPr sz="1100"/>
            </a:p>
          </p:txBody>
        </p:sp>
        <p:sp>
          <p:nvSpPr>
            <p:cNvPr id="252" name="Google Shape;252;p29"/>
            <p:cNvSpPr txBox="1"/>
            <p:nvPr/>
          </p:nvSpPr>
          <p:spPr>
            <a:xfrm>
              <a:off x="3408517" y="1543050"/>
              <a:ext cx="2331900" cy="3276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34275" lIns="68575" spcFirstLastPara="1" rIns="68575" wrap="square" tIns="34275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300">
                  <a:solidFill>
                    <a:srgbClr val="C47CB8"/>
                  </a:solidFill>
                  <a:latin typeface="Arial"/>
                  <a:ea typeface="Arial"/>
                  <a:cs typeface="Arial"/>
                  <a:sym typeface="Arial"/>
                </a:rPr>
                <a:t>Shared meaning across languages</a:t>
              </a:r>
              <a:endParaRPr sz="1100"/>
            </a:p>
            <a:p>
              <a:pPr indent="-292100" lvl="0" marL="457200" marR="0" rtl="0" algn="l">
                <a:spcBef>
                  <a:spcPts val="900"/>
                </a:spcBef>
                <a:spcAft>
                  <a:spcPts val="0"/>
                </a:spcAft>
                <a:buClr>
                  <a:srgbClr val="E6E9EF"/>
                </a:buClr>
                <a:buSzPts val="1000"/>
                <a:buChar char="●"/>
              </a:pPr>
              <a:r>
                <a:rPr b="0" lang="en" sz="1000">
                  <a:solidFill>
                    <a:srgbClr val="E6E9EF"/>
                  </a:solidFill>
                  <a:latin typeface="Arial"/>
                  <a:ea typeface="Arial"/>
                  <a:cs typeface="Arial"/>
                  <a:sym typeface="Arial"/>
                </a:rPr>
                <a:t>Live two-way translation with large language model</a:t>
              </a:r>
              <a:r>
                <a:rPr lang="en" sz="1000">
                  <a:solidFill>
                    <a:srgbClr val="E6E9EF"/>
                  </a:solidFill>
                </a:rPr>
                <a:t> (Text-to-text, speech-to-text, text-to-speech)</a:t>
              </a:r>
              <a:endParaRPr sz="1000">
                <a:solidFill>
                  <a:srgbClr val="E6E9EF"/>
                </a:solidFill>
              </a:endParaRPr>
            </a:p>
            <a:p>
              <a:pPr indent="-292100" lvl="0" marL="457200" marR="0" rtl="0" algn="l">
                <a:spcBef>
                  <a:spcPts val="0"/>
                </a:spcBef>
                <a:spcAft>
                  <a:spcPts val="0"/>
                </a:spcAft>
                <a:buClr>
                  <a:srgbClr val="E6E9EF"/>
                </a:buClr>
                <a:buSzPts val="1000"/>
                <a:buChar char="●"/>
              </a:pPr>
              <a:r>
                <a:rPr lang="en" sz="1000">
                  <a:solidFill>
                    <a:srgbClr val="E6E9EF"/>
                  </a:solidFill>
                </a:rPr>
                <a:t>Translation c</a:t>
              </a:r>
              <a:r>
                <a:rPr b="0" lang="en" sz="1000">
                  <a:solidFill>
                    <a:srgbClr val="E6E9EF"/>
                  </a:solidFill>
                  <a:latin typeface="Arial"/>
                  <a:ea typeface="Arial"/>
                  <a:cs typeface="Arial"/>
                  <a:sym typeface="Arial"/>
                </a:rPr>
                <a:t>onfidence score</a:t>
              </a:r>
              <a:r>
                <a:rPr lang="en" sz="1000">
                  <a:solidFill>
                    <a:srgbClr val="E6E9EF"/>
                  </a:solidFill>
                </a:rPr>
                <a:t>s </a:t>
              </a:r>
              <a:endParaRPr sz="1000">
                <a:solidFill>
                  <a:srgbClr val="E6E9EF"/>
                </a:solidFill>
              </a:endParaRPr>
            </a:p>
            <a:p>
              <a:pPr indent="-292100" lvl="0" marL="457200" marR="0" rtl="0" algn="l">
                <a:spcBef>
                  <a:spcPts val="0"/>
                </a:spcBef>
                <a:spcAft>
                  <a:spcPts val="0"/>
                </a:spcAft>
                <a:buClr>
                  <a:srgbClr val="E6E9EF"/>
                </a:buClr>
                <a:buSzPts val="1000"/>
                <a:buChar char="●"/>
              </a:pPr>
              <a:r>
                <a:rPr lang="en" sz="1000">
                  <a:solidFill>
                    <a:srgbClr val="E6E9EF"/>
                  </a:solidFill>
                </a:rPr>
                <a:t>Cross-modality translation with c</a:t>
              </a:r>
              <a:r>
                <a:rPr b="0" lang="en" sz="1000">
                  <a:solidFill>
                    <a:srgbClr val="E6E9EF"/>
                  </a:solidFill>
                  <a:latin typeface="Arial"/>
                  <a:ea typeface="Arial"/>
                  <a:cs typeface="Arial"/>
                  <a:sym typeface="Arial"/>
                </a:rPr>
                <a:t>ollaborative whiteboard</a:t>
              </a:r>
              <a:endParaRPr sz="1000">
                <a:solidFill>
                  <a:srgbClr val="E6E9EF"/>
                </a:solidFill>
              </a:endParaRPr>
            </a:p>
            <a:p>
              <a:pPr indent="-292100" lvl="0" marL="457200" marR="0" rtl="0" algn="l">
                <a:spcBef>
                  <a:spcPts val="0"/>
                </a:spcBef>
                <a:spcAft>
                  <a:spcPts val="0"/>
                </a:spcAft>
                <a:buClr>
                  <a:srgbClr val="E6E9EF"/>
                </a:buClr>
                <a:buSzPts val="1000"/>
                <a:buChar char="●"/>
              </a:pPr>
              <a:r>
                <a:rPr lang="en" sz="1000">
                  <a:solidFill>
                    <a:srgbClr val="E6E9EF"/>
                  </a:solidFill>
                </a:rPr>
                <a:t>F</a:t>
              </a:r>
              <a:r>
                <a:rPr b="0" lang="en" sz="1000">
                  <a:solidFill>
                    <a:srgbClr val="E6E9EF"/>
                  </a:solidFill>
                  <a:latin typeface="Arial"/>
                  <a:ea typeface="Arial"/>
                  <a:cs typeface="Arial"/>
                  <a:sym typeface="Arial"/>
                </a:rPr>
                <a:t>eedback loops with “explain simply” and “give an example” buttons </a:t>
              </a:r>
              <a:r>
                <a:rPr lang="en" sz="1000">
                  <a:solidFill>
                    <a:srgbClr val="E6E9EF"/>
                  </a:solidFill>
                </a:rPr>
                <a:t>on every caption</a:t>
              </a:r>
              <a:endParaRPr sz="1100"/>
            </a:p>
          </p:txBody>
        </p:sp>
        <p:sp>
          <p:nvSpPr>
            <p:cNvPr id="253" name="Google Shape;253;p29"/>
            <p:cNvSpPr txBox="1"/>
            <p:nvPr/>
          </p:nvSpPr>
          <p:spPr>
            <a:xfrm>
              <a:off x="6234091" y="1543047"/>
              <a:ext cx="2415900" cy="2802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34275" lIns="68575" spcFirstLastPara="1" rIns="68575" wrap="square" tIns="34275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300">
                  <a:solidFill>
                    <a:srgbClr val="4FBF8F"/>
                  </a:solidFill>
                  <a:latin typeface="Arial"/>
                  <a:ea typeface="Arial"/>
                  <a:cs typeface="Arial"/>
                  <a:sym typeface="Arial"/>
                </a:rPr>
                <a:t>Confirm it changed understanding</a:t>
              </a:r>
              <a:endParaRPr sz="1100"/>
            </a:p>
            <a:p>
              <a:pPr indent="-292100" lvl="0" marL="457200" marR="0" rtl="0" algn="l">
                <a:spcBef>
                  <a:spcPts val="900"/>
                </a:spcBef>
                <a:spcAft>
                  <a:spcPts val="0"/>
                </a:spcAft>
                <a:buClr>
                  <a:srgbClr val="E6E9EF"/>
                </a:buClr>
                <a:buSzPts val="1000"/>
                <a:buFont typeface="Arial"/>
                <a:buChar char="●"/>
              </a:pPr>
              <a:r>
                <a:rPr lang="en" sz="1000">
                  <a:solidFill>
                    <a:srgbClr val="E6E9EF"/>
                  </a:solidFill>
                </a:rPr>
                <a:t>Identifies</a:t>
              </a:r>
              <a:r>
                <a:rPr b="0" lang="en" sz="1000">
                  <a:solidFill>
                    <a:srgbClr val="E6E9EF"/>
                  </a:solidFill>
                  <a:latin typeface="Arial"/>
                  <a:ea typeface="Arial"/>
                  <a:cs typeface="Arial"/>
                  <a:sym typeface="Arial"/>
                </a:rPr>
                <a:t> current-activity, decisions, blockers </a:t>
              </a:r>
              <a:r>
                <a:rPr lang="en" sz="1000">
                  <a:solidFill>
                    <a:srgbClr val="E6E9EF"/>
                  </a:solidFill>
                </a:rPr>
                <a:t>with</a:t>
              </a:r>
              <a:r>
                <a:rPr b="0" lang="en" sz="1000">
                  <a:solidFill>
                    <a:srgbClr val="E6E9EF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r>
                <a:rPr b="0" lang="en" sz="1000" u="sng">
                  <a:solidFill>
                    <a:srgbClr val="E6E9EF"/>
                  </a:solidFill>
                  <a:latin typeface="Arial"/>
                  <a:ea typeface="Arial"/>
                  <a:cs typeface="Arial"/>
                  <a:sym typeface="Arial"/>
                </a:rPr>
                <a:t>traceable quotes</a:t>
              </a:r>
              <a:endParaRPr sz="1000" u="sng">
                <a:solidFill>
                  <a:srgbClr val="E6E9EF"/>
                </a:solidFill>
              </a:endParaRPr>
            </a:p>
            <a:p>
              <a:pPr indent="-292100" lvl="0" marL="457200" marR="0" rtl="0" algn="l">
                <a:spcBef>
                  <a:spcPts val="0"/>
                </a:spcBef>
                <a:spcAft>
                  <a:spcPts val="0"/>
                </a:spcAft>
                <a:buClr>
                  <a:srgbClr val="E6E9EF"/>
                </a:buClr>
                <a:buSzPts val="1000"/>
                <a:buFont typeface="Arial"/>
                <a:buChar char="●"/>
              </a:pPr>
              <a:r>
                <a:rPr lang="en" sz="1000">
                  <a:solidFill>
                    <a:srgbClr val="E6E9EF"/>
                  </a:solidFill>
                </a:rPr>
                <a:t>Gauges g</a:t>
              </a:r>
              <a:r>
                <a:rPr b="0" lang="en" sz="1000">
                  <a:solidFill>
                    <a:srgbClr val="E6E9EF"/>
                  </a:solidFill>
                  <a:latin typeface="Arial"/>
                  <a:ea typeface="Arial"/>
                  <a:cs typeface="Arial"/>
                  <a:sym typeface="Arial"/>
                </a:rPr>
                <a:t>roup confusion</a:t>
              </a:r>
              <a:r>
                <a:rPr b="0" lang="en" sz="1000">
                  <a:solidFill>
                    <a:srgbClr val="E6E9EF"/>
                  </a:solidFill>
                  <a:latin typeface="Arial"/>
                  <a:ea typeface="Arial"/>
                  <a:cs typeface="Arial"/>
                  <a:sym typeface="Arial"/>
                </a:rPr>
                <a:t>-level </a:t>
              </a:r>
              <a:endParaRPr sz="1000">
                <a:solidFill>
                  <a:srgbClr val="E6E9EF"/>
                </a:solidFill>
              </a:endParaRPr>
            </a:p>
            <a:p>
              <a:pPr indent="-292100" lvl="0" marL="457200" marR="0" rtl="0" algn="l">
                <a:spcBef>
                  <a:spcPts val="0"/>
                </a:spcBef>
                <a:spcAft>
                  <a:spcPts val="0"/>
                </a:spcAft>
                <a:buClr>
                  <a:srgbClr val="E6E9EF"/>
                </a:buClr>
                <a:buSzPts val="1000"/>
                <a:buFont typeface="Arial"/>
                <a:buChar char="●"/>
              </a:pPr>
              <a:r>
                <a:rPr lang="en" sz="1000">
                  <a:solidFill>
                    <a:srgbClr val="E6E9EF"/>
                  </a:solidFill>
                </a:rPr>
                <a:t>Detects </a:t>
              </a:r>
              <a:r>
                <a:rPr lang="en" sz="1000" u="sng">
                  <a:solidFill>
                    <a:srgbClr val="E6E9EF"/>
                  </a:solidFill>
                </a:rPr>
                <a:t>p</a:t>
              </a:r>
              <a:r>
                <a:rPr b="0" lang="en" sz="1000" u="sng">
                  <a:solidFill>
                    <a:srgbClr val="E6E9EF"/>
                  </a:solidFill>
                  <a:latin typeface="Arial"/>
                  <a:ea typeface="Arial"/>
                  <a:cs typeface="Arial"/>
                  <a:sym typeface="Arial"/>
                </a:rPr>
                <a:t>er-learner </a:t>
              </a:r>
              <a:r>
                <a:rPr b="0" lang="en" sz="1000">
                  <a:solidFill>
                    <a:srgbClr val="E6E9EF"/>
                  </a:solidFill>
                  <a:latin typeface="Arial"/>
                  <a:ea typeface="Arial"/>
                  <a:cs typeface="Arial"/>
                  <a:sym typeface="Arial"/>
                </a:rPr>
                <a:t>confusion </a:t>
              </a:r>
              <a:endParaRPr sz="1000">
                <a:solidFill>
                  <a:srgbClr val="E6E9EF"/>
                </a:solidFill>
              </a:endParaRPr>
            </a:p>
            <a:p>
              <a:pPr indent="-292100" lvl="0" marL="457200" marR="0" rtl="0" algn="l">
                <a:spcBef>
                  <a:spcPts val="0"/>
                </a:spcBef>
                <a:spcAft>
                  <a:spcPts val="0"/>
                </a:spcAft>
                <a:buClr>
                  <a:srgbClr val="E6E9EF"/>
                </a:buClr>
                <a:buSzPts val="1000"/>
                <a:buFont typeface="Arial"/>
                <a:buChar char="●"/>
              </a:pPr>
              <a:r>
                <a:rPr lang="en" sz="1000">
                  <a:solidFill>
                    <a:srgbClr val="E6E9EF"/>
                  </a:solidFill>
                </a:rPr>
                <a:t>Measures bl</a:t>
              </a:r>
              <a:r>
                <a:rPr b="0" lang="en" sz="1000">
                  <a:solidFill>
                    <a:srgbClr val="E6E9EF"/>
                  </a:solidFill>
                  <a:latin typeface="Arial"/>
                  <a:ea typeface="Arial"/>
                  <a:cs typeface="Arial"/>
                  <a:sym typeface="Arial"/>
                </a:rPr>
                <a:t>ocker resolution time</a:t>
              </a:r>
              <a:endParaRPr sz="1000">
                <a:solidFill>
                  <a:srgbClr val="E6E9EF"/>
                </a:solidFill>
              </a:endParaRPr>
            </a:p>
            <a:p>
              <a:pPr indent="-292100" lvl="0" marL="457200" marR="0" rtl="0" algn="l">
                <a:spcBef>
                  <a:spcPts val="0"/>
                </a:spcBef>
                <a:spcAft>
                  <a:spcPts val="0"/>
                </a:spcAft>
                <a:buClr>
                  <a:srgbClr val="E6E9EF"/>
                </a:buClr>
                <a:buSzPts val="1000"/>
                <a:buFont typeface="Arial"/>
                <a:buChar char="●"/>
              </a:pPr>
              <a:r>
                <a:rPr lang="en" sz="1000">
                  <a:solidFill>
                    <a:srgbClr val="E6E9EF"/>
                  </a:solidFill>
                </a:rPr>
                <a:t>Analyzes c</a:t>
              </a:r>
              <a:r>
                <a:rPr b="0" lang="en" sz="1000">
                  <a:solidFill>
                    <a:srgbClr val="E6E9EF"/>
                  </a:solidFill>
                  <a:latin typeface="Arial"/>
                  <a:ea typeface="Arial"/>
                  <a:cs typeface="Arial"/>
                  <a:sym typeface="Arial"/>
                </a:rPr>
                <a:t>onfidence trends</a:t>
              </a:r>
              <a:endParaRPr sz="1100"/>
            </a:p>
          </p:txBody>
        </p:sp>
      </p:grpSp>
      <p:sp>
        <p:nvSpPr>
          <p:cNvPr id="254" name="Google Shape;254;p29"/>
          <p:cNvSpPr txBox="1"/>
          <p:nvPr/>
        </p:nvSpPr>
        <p:spPr>
          <a:xfrm>
            <a:off x="1806402" y="2012270"/>
            <a:ext cx="5421000" cy="531600"/>
          </a:xfrm>
          <a:prstGeom prst="rect">
            <a:avLst/>
          </a:prstGeom>
          <a:noFill/>
          <a:ln>
            <a:noFill/>
          </a:ln>
        </p:spPr>
        <p:txBody>
          <a:bodyPr anchorCtr="0" anchor="t" bIns="23900" lIns="47850" spcFirstLastPara="1" rIns="47850" wrap="square" tIns="239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3139" u="none" cap="none" strike="noStrike">
                <a:solidFill>
                  <a:srgbClr val="00FFFF"/>
                </a:solidFill>
                <a:latin typeface="Arial"/>
                <a:ea typeface="Arial"/>
                <a:cs typeface="Arial"/>
                <a:sym typeface="Arial"/>
              </a:rPr>
              <a:t>Interlinga.</a:t>
            </a:r>
            <a:r>
              <a:rPr b="1" i="0" lang="en" sz="3139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ai</a:t>
            </a:r>
            <a:endParaRPr sz="767">
              <a:solidFill>
                <a:schemeClr val="accent1"/>
              </a:solidFill>
            </a:endParaRPr>
          </a:p>
        </p:txBody>
      </p:sp>
      <p:pic>
        <p:nvPicPr>
          <p:cNvPr descr="/home/claude/interlinga-deck/logo_mark.png" id="255" name="Google Shape;255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880453" y="943937"/>
            <a:ext cx="1272948" cy="932787"/>
          </a:xfrm>
          <a:prstGeom prst="rect">
            <a:avLst/>
          </a:prstGeom>
          <a:noFill/>
          <a:ln>
            <a:noFill/>
          </a:ln>
        </p:spPr>
      </p:pic>
      <p:sp>
        <p:nvSpPr>
          <p:cNvPr id="256" name="Google Shape;256;p29"/>
          <p:cNvSpPr/>
          <p:nvPr/>
        </p:nvSpPr>
        <p:spPr>
          <a:xfrm>
            <a:off x="3059936" y="3698387"/>
            <a:ext cx="205800" cy="205800"/>
          </a:xfrm>
          <a:prstGeom prst="chevron">
            <a:avLst>
              <a:gd fmla="val 50000" name="adj"/>
            </a:avLst>
          </a:prstGeom>
          <a:solidFill>
            <a:srgbClr val="8B93A3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29"/>
          <p:cNvSpPr/>
          <p:nvPr/>
        </p:nvSpPr>
        <p:spPr>
          <a:xfrm>
            <a:off x="5872780" y="3698412"/>
            <a:ext cx="205800" cy="205800"/>
          </a:xfrm>
          <a:prstGeom prst="chevron">
            <a:avLst>
              <a:gd fmla="val 50000" name="adj"/>
            </a:avLst>
          </a:prstGeom>
          <a:solidFill>
            <a:srgbClr val="8B93A3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30"/>
          <p:cNvSpPr/>
          <p:nvPr/>
        </p:nvSpPr>
        <p:spPr>
          <a:xfrm>
            <a:off x="-12" y="0"/>
            <a:ext cx="9144000" cy="51435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30"/>
          <p:cNvSpPr txBox="1"/>
          <p:nvPr/>
        </p:nvSpPr>
        <p:spPr>
          <a:xfrm>
            <a:off x="411491" y="240030"/>
            <a:ext cx="8298300" cy="4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300">
                <a:solidFill>
                  <a:srgbClr val="E6E9EF"/>
                </a:solidFill>
                <a:latin typeface="Arial"/>
                <a:ea typeface="Arial"/>
                <a:cs typeface="Arial"/>
                <a:sym typeface="Arial"/>
              </a:rPr>
              <a:t>Interlinga.ai is </a:t>
            </a:r>
            <a:r>
              <a:rPr b="1" lang="en" sz="2300">
                <a:solidFill>
                  <a:srgbClr val="E6E9EF"/>
                </a:solidFill>
              </a:rPr>
              <a:t>accessible</a:t>
            </a:r>
            <a:endParaRPr sz="1100"/>
          </a:p>
        </p:txBody>
      </p:sp>
      <p:sp>
        <p:nvSpPr>
          <p:cNvPr id="264" name="Google Shape;264;p30"/>
          <p:cNvSpPr/>
          <p:nvPr/>
        </p:nvSpPr>
        <p:spPr>
          <a:xfrm>
            <a:off x="411491" y="720090"/>
            <a:ext cx="754400" cy="28575"/>
          </a:xfrm>
          <a:prstGeom prst="rect">
            <a:avLst/>
          </a:prstGeom>
          <a:solidFill>
            <a:srgbClr val="4F7FD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p30"/>
          <p:cNvSpPr txBox="1"/>
          <p:nvPr/>
        </p:nvSpPr>
        <p:spPr>
          <a:xfrm>
            <a:off x="411491" y="891540"/>
            <a:ext cx="8298300" cy="238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100">
                <a:solidFill>
                  <a:srgbClr val="8B93A3"/>
                </a:solidFill>
                <a:latin typeface="Arial"/>
                <a:ea typeface="Arial"/>
                <a:cs typeface="Arial"/>
                <a:sym typeface="Arial"/>
              </a:rPr>
              <a:t>Substantially WCAG 2.1 AA.</a:t>
            </a:r>
            <a:endParaRPr sz="1100"/>
          </a:p>
        </p:txBody>
      </p:sp>
      <p:graphicFrame>
        <p:nvGraphicFramePr>
          <p:cNvPr id="266" name="Google Shape;266;p30"/>
          <p:cNvGraphicFramePr/>
          <p:nvPr/>
        </p:nvGraphicFramePr>
        <p:xfrm>
          <a:off x="342909" y="1152144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{62FB5690-A4E3-496F-A566-A1613EFCE2B5}</a:tableStyleId>
              </a:tblPr>
              <a:tblGrid>
                <a:gridCol w="925850"/>
                <a:gridCol w="1337325"/>
                <a:gridCol w="720100"/>
                <a:gridCol w="5472800"/>
              </a:tblGrid>
              <a:tr h="2880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 u="none" cap="none" strike="noStrike">
                          <a:solidFill>
                            <a:srgbClr val="4F7FD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SC</a:t>
                      </a:r>
                      <a:endParaRPr sz="1100"/>
                    </a:p>
                  </a:txBody>
                  <a:tcPr marT="13725" marB="13725" marR="54875" marL="54875" anchor="ctr">
                    <a:solidFill>
                      <a:srgbClr val="171D2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rgbClr val="4F7FD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Criterion</a:t>
                      </a:r>
                      <a:endParaRPr sz="1100"/>
                    </a:p>
                  </a:txBody>
                  <a:tcPr marT="13725" marB="13725" marR="54875" marL="54875" anchor="ctr">
                    <a:solidFill>
                      <a:srgbClr val="171D2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rgbClr val="4F7FD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Verdict</a:t>
                      </a:r>
                      <a:endParaRPr sz="1100"/>
                    </a:p>
                  </a:txBody>
                  <a:tcPr marT="13725" marB="13725" marR="54875" marL="54875" anchor="ctr">
                    <a:solidFill>
                      <a:srgbClr val="171D2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rgbClr val="4F7FD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Evidence</a:t>
                      </a:r>
                      <a:endParaRPr sz="1100"/>
                    </a:p>
                  </a:txBody>
                  <a:tcPr marT="13725" marB="13725" marR="54875" marL="54875" anchor="ctr">
                    <a:solidFill>
                      <a:srgbClr val="171D27"/>
                    </a:solidFill>
                  </a:tcPr>
                </a:tc>
              </a:tr>
              <a:tr h="3518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00">
                          <a:solidFill>
                            <a:srgbClr val="8B93A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1.2.4 · AA</a:t>
                      </a:r>
                      <a:endParaRPr sz="1100"/>
                    </a:p>
                  </a:txBody>
                  <a:tcPr marT="13725" marB="13725" marR="54875" marL="54875" anchor="ctr">
                    <a:solidFill>
                      <a:srgbClr val="10141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rgbClr val="E6E9E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Live captions</a:t>
                      </a:r>
                      <a:endParaRPr sz="1100"/>
                    </a:p>
                  </a:txBody>
                  <a:tcPr marT="13725" marB="13725" marR="54875" marL="54875" anchor="ctr">
                    <a:solidFill>
                      <a:srgbClr val="10141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rgbClr val="4FBF8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Pass</a:t>
                      </a:r>
                      <a:endParaRPr sz="1100"/>
                    </a:p>
                  </a:txBody>
                  <a:tcPr marT="13725" marB="13725" marR="54875" marL="54875" anchor="ctr">
                    <a:solidFill>
                      <a:srgbClr val="10141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00">
                          <a:solidFill>
                            <a:srgbClr val="E6E9E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Live, translated, confidence-scored captions shipped and running.</a:t>
                      </a:r>
                      <a:endParaRPr sz="1100"/>
                    </a:p>
                  </a:txBody>
                  <a:tcPr marT="13725" marB="13725" marR="54875" marL="54875" anchor="ctr">
                    <a:solidFill>
                      <a:srgbClr val="10141B"/>
                    </a:solidFill>
                  </a:tcPr>
                </a:tc>
              </a:tr>
              <a:tr h="3518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00">
                          <a:solidFill>
                            <a:srgbClr val="8B93A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2.4.1 · A</a:t>
                      </a:r>
                      <a:endParaRPr sz="1100"/>
                    </a:p>
                  </a:txBody>
                  <a:tcPr marT="13725" marB="13725" marR="54875" marL="54875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rgbClr val="E6E9E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Bypass blocks</a:t>
                      </a:r>
                      <a:endParaRPr sz="1100"/>
                    </a:p>
                  </a:txBody>
                  <a:tcPr marT="13725" marB="13725" marR="54875" marL="54875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rgbClr val="4FBF8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Pass</a:t>
                      </a:r>
                      <a:endParaRPr sz="1100"/>
                    </a:p>
                  </a:txBody>
                  <a:tcPr marT="13725" marB="13725" marR="54875" marL="54875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00">
                          <a:solidFill>
                            <a:srgbClr val="E6E9E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Real skip-to-main-content link (sr-only → focus:not-sr-only). AppShell.tsx</a:t>
                      </a:r>
                      <a:endParaRPr sz="1100"/>
                    </a:p>
                  </a:txBody>
                  <a:tcPr marT="13725" marB="13725" marR="54875" marL="54875" anchor="ctr">
                    <a:solidFill>
                      <a:srgbClr val="0D1117"/>
                    </a:solidFill>
                  </a:tcPr>
                </a:tc>
              </a:tr>
              <a:tr h="3518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00">
                          <a:solidFill>
                            <a:srgbClr val="8B93A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4.1.2 · A</a:t>
                      </a:r>
                      <a:endParaRPr sz="1100"/>
                    </a:p>
                  </a:txBody>
                  <a:tcPr marT="13725" marB="13725" marR="54875" marL="54875" anchor="ctr">
                    <a:solidFill>
                      <a:srgbClr val="10141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rgbClr val="E6E9E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Name, role, value</a:t>
                      </a:r>
                      <a:endParaRPr sz="1100"/>
                    </a:p>
                  </a:txBody>
                  <a:tcPr marT="13725" marB="13725" marR="54875" marL="54875" anchor="ctr">
                    <a:solidFill>
                      <a:srgbClr val="10141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rgbClr val="4FBF8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Pass</a:t>
                      </a:r>
                      <a:endParaRPr sz="1100"/>
                    </a:p>
                  </a:txBody>
                  <a:tcPr marT="13725" marB="13725" marR="54875" marL="54875" anchor="ctr">
                    <a:solidFill>
                      <a:srgbClr val="10141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00">
                          <a:solidFill>
                            <a:srgbClr val="E6E9E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Every media control has an explicit, localized aria-label — mic, camera, screen-share, settings, leave — via a shared button component. MeetingToolbar.tsx</a:t>
                      </a:r>
                      <a:endParaRPr sz="1100"/>
                    </a:p>
                  </a:txBody>
                  <a:tcPr marT="13725" marB="13725" marR="54875" marL="54875" anchor="ctr">
                    <a:solidFill>
                      <a:srgbClr val="10141B"/>
                    </a:solidFill>
                  </a:tcPr>
                </a:tc>
              </a:tr>
              <a:tr h="3518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00">
                          <a:solidFill>
                            <a:srgbClr val="8B93A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4.1.3 · AA</a:t>
                      </a:r>
                      <a:endParaRPr sz="1100"/>
                    </a:p>
                  </a:txBody>
                  <a:tcPr marT="13725" marB="13725" marR="54875" marL="54875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rgbClr val="E6E9E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Status messages</a:t>
                      </a:r>
                      <a:endParaRPr sz="1100"/>
                    </a:p>
                  </a:txBody>
                  <a:tcPr marT="13725" marB="13725" marR="54875" marL="54875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rgbClr val="4FBF8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Pass</a:t>
                      </a:r>
                      <a:endParaRPr sz="1100"/>
                    </a:p>
                  </a:txBody>
                  <a:tcPr marT="13725" marB="13725" marR="54875" marL="54875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00">
                          <a:solidFill>
                            <a:srgbClr val="E6E9E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aria-live="polite" on transcript feed &amp; chat — deliberately not "assertive," by comment.</a:t>
                      </a:r>
                      <a:endParaRPr sz="1100"/>
                    </a:p>
                  </a:txBody>
                  <a:tcPr marT="13725" marB="13725" marR="54875" marL="54875" anchor="ctr">
                    <a:solidFill>
                      <a:srgbClr val="0D1117"/>
                    </a:solidFill>
                  </a:tcPr>
                </a:tc>
              </a:tr>
              <a:tr h="3518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00">
                          <a:solidFill>
                            <a:srgbClr val="8B93A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3.1.1 · A</a:t>
                      </a:r>
                      <a:endParaRPr sz="1100"/>
                    </a:p>
                  </a:txBody>
                  <a:tcPr marT="13725" marB="13725" marR="54875" marL="54875" anchor="ctr">
                    <a:solidFill>
                      <a:srgbClr val="10141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rgbClr val="E6E9E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Language of page</a:t>
                      </a:r>
                      <a:endParaRPr sz="1100"/>
                    </a:p>
                  </a:txBody>
                  <a:tcPr marT="13725" marB="13725" marR="54875" marL="54875" anchor="ctr">
                    <a:solidFill>
                      <a:srgbClr val="10141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rgbClr val="4FBF8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Pass</a:t>
                      </a:r>
                      <a:endParaRPr sz="1100"/>
                    </a:p>
                  </a:txBody>
                  <a:tcPr marT="13725" marB="13725" marR="54875" marL="54875" anchor="ctr">
                    <a:solidFill>
                      <a:srgbClr val="10141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00">
                          <a:solidFill>
                            <a:srgbClr val="E6E9E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&lt;html lang&gt; set dynamically per session language.</a:t>
                      </a:r>
                      <a:endParaRPr sz="1100"/>
                    </a:p>
                  </a:txBody>
                  <a:tcPr marT="13725" marB="13725" marR="54875" marL="54875" anchor="ctr">
                    <a:solidFill>
                      <a:srgbClr val="10141B"/>
                    </a:solidFill>
                  </a:tcPr>
                </a:tc>
              </a:tr>
              <a:tr h="3518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00">
                          <a:solidFill>
                            <a:srgbClr val="8B93A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2.4.7 · AA</a:t>
                      </a:r>
                      <a:endParaRPr sz="1100"/>
                    </a:p>
                  </a:txBody>
                  <a:tcPr marT="13725" marB="13725" marR="54875" marL="54875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rgbClr val="E6E9E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Focus visible</a:t>
                      </a:r>
                      <a:endParaRPr sz="1100"/>
                    </a:p>
                  </a:txBody>
                  <a:tcPr marT="13725" marB="13725" marR="54875" marL="54875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rgbClr val="4FBF8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Pass</a:t>
                      </a:r>
                      <a:endParaRPr sz="1100"/>
                    </a:p>
                  </a:txBody>
                  <a:tcPr marT="13725" marB="13725" marR="54875" marL="54875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00">
                          <a:solidFill>
                            <a:srgbClr val="E6E9E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Consistent focus:ring pattern app-wide, plus a UAT pass (#125) that found &amp; fixed real keyboard-focus loss after confirm dialogs.</a:t>
                      </a:r>
                      <a:endParaRPr sz="1100"/>
                    </a:p>
                  </a:txBody>
                  <a:tcPr marT="13725" marB="13725" marR="54875" marL="54875" anchor="ctr">
                    <a:solidFill>
                      <a:srgbClr val="0D1117"/>
                    </a:solidFill>
                  </a:tcPr>
                </a:tc>
              </a:tr>
              <a:tr h="3518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00">
                          <a:solidFill>
                            <a:srgbClr val="8B93A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1.4.4 · AA</a:t>
                      </a:r>
                      <a:endParaRPr sz="1100"/>
                    </a:p>
                  </a:txBody>
                  <a:tcPr marT="13725" marB="13725" marR="54875" marL="54875" anchor="ctr">
                    <a:solidFill>
                      <a:srgbClr val="10141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rgbClr val="E6E9E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Resize text</a:t>
                      </a:r>
                      <a:endParaRPr sz="1100"/>
                    </a:p>
                  </a:txBody>
                  <a:tcPr marT="13725" marB="13725" marR="54875" marL="54875" anchor="ctr">
                    <a:solidFill>
                      <a:srgbClr val="10141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rgbClr val="4FBF8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Pass</a:t>
                      </a:r>
                      <a:endParaRPr sz="1100"/>
                    </a:p>
                  </a:txBody>
                  <a:tcPr marT="13725" marB="13725" marR="54875" marL="54875" anchor="ctr">
                    <a:solidFill>
                      <a:srgbClr val="10141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00">
                          <a:solidFill>
                            <a:srgbClr val="E6E9E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App-wide font-size control, not scoped to one panel. AccessibilityPanel.tsx</a:t>
                      </a:r>
                      <a:endParaRPr sz="1100"/>
                    </a:p>
                  </a:txBody>
                  <a:tcPr marT="13725" marB="13725" marR="54875" marL="54875" anchor="ctr">
                    <a:solidFill>
                      <a:srgbClr val="10141B"/>
                    </a:solidFill>
                  </a:tcPr>
                </a:tc>
              </a:tr>
              <a:tr h="3518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00">
                          <a:solidFill>
                            <a:srgbClr val="8B93A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1.4.3 / 1.4.11 · AA</a:t>
                      </a:r>
                      <a:endParaRPr sz="1100"/>
                    </a:p>
                  </a:txBody>
                  <a:tcPr marT="13725" marB="13725" marR="54875" marL="54875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rgbClr val="E6E9E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Contrast (text &amp; non-text)</a:t>
                      </a:r>
                      <a:endParaRPr sz="1100"/>
                    </a:p>
                  </a:txBody>
                  <a:tcPr marT="13725" marB="13725" marR="54875" marL="54875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rgbClr val="4FBF8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Pass</a:t>
                      </a:r>
                      <a:endParaRPr sz="1100"/>
                    </a:p>
                  </a:txBody>
                  <a:tcPr marT="13725" marB="13725" marR="54875" marL="54875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00">
                          <a:solidFill>
                            <a:srgbClr val="E6E9E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 3.73:1 button fill (below the 4.5:1 minimum) was caught and fixed with a dedicated --accent-fill token, verified across all four themes.</a:t>
                      </a:r>
                      <a:endParaRPr sz="1100"/>
                    </a:p>
                  </a:txBody>
                  <a:tcPr marT="13725" marB="13725" marR="54875" marL="54875" anchor="ctr">
                    <a:solidFill>
                      <a:srgbClr val="0D1117"/>
                    </a:solidFill>
                  </a:tcPr>
                </a:tc>
              </a:tr>
              <a:tr h="3518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00">
                          <a:solidFill>
                            <a:srgbClr val="8B93A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2.1.1 · A</a:t>
                      </a:r>
                      <a:endParaRPr sz="1100"/>
                    </a:p>
                  </a:txBody>
                  <a:tcPr marT="13725" marB="13725" marR="54875" marL="54875" anchor="ctr">
                    <a:solidFill>
                      <a:srgbClr val="10141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rgbClr val="E6E9E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Keyboard</a:t>
                      </a:r>
                      <a:endParaRPr sz="1100"/>
                    </a:p>
                  </a:txBody>
                  <a:tcPr marT="13725" marB="13725" marR="54875" marL="54875" anchor="ctr">
                    <a:solidFill>
                      <a:srgbClr val="10141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rgbClr val="D9A94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Partial</a:t>
                      </a:r>
                      <a:endParaRPr sz="1100"/>
                    </a:p>
                  </a:txBody>
                  <a:tcPr marT="13725" marB="13725" marR="54875" marL="54875" anchor="ctr">
                    <a:solidFill>
                      <a:srgbClr val="10141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00">
                          <a:solidFill>
                            <a:srgbClr val="E6E9E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Core call controls fully keyboard-operable. The whiteboard (merged, PR #129) inherits Excalidraw's own partial keyboard support — freeform canvas navigation is limited, same as Miro/FigJam industry-wide.</a:t>
                      </a:r>
                      <a:endParaRPr sz="1100"/>
                    </a:p>
                  </a:txBody>
                  <a:tcPr marT="13725" marB="13725" marR="54875" marL="54875" anchor="ctr">
                    <a:solidFill>
                      <a:srgbClr val="10141B"/>
                    </a:solidFill>
                  </a:tcPr>
                </a:tc>
              </a:tr>
              <a:tr h="3518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00">
                          <a:solidFill>
                            <a:srgbClr val="8B93A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2.3.3 · AAA</a:t>
                      </a:r>
                      <a:endParaRPr sz="1100"/>
                    </a:p>
                  </a:txBody>
                  <a:tcPr marT="13725" marB="13725" marR="54875" marL="54875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rgbClr val="E6E9E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Animation from interactions</a:t>
                      </a:r>
                      <a:endParaRPr sz="1100"/>
                    </a:p>
                  </a:txBody>
                  <a:tcPr marT="13725" marB="13725" marR="54875" marL="54875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rgbClr val="E2687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Gap</a:t>
                      </a:r>
                      <a:endParaRPr sz="1100"/>
                    </a:p>
                  </a:txBody>
                  <a:tcPr marT="13725" marB="13725" marR="54875" marL="54875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00">
                          <a:solidFill>
                            <a:srgbClr val="E6E9E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No prefers-reduced-motion handling found. AAA, not required for an AA claim.</a:t>
                      </a:r>
                      <a:endParaRPr sz="1100"/>
                    </a:p>
                  </a:txBody>
                  <a:tcPr marT="13725" marB="13725" marR="54875" marL="54875" anchor="ctr">
                    <a:solidFill>
                      <a:srgbClr val="0D111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31"/>
          <p:cNvSpPr/>
          <p:nvPr/>
        </p:nvSpPr>
        <p:spPr>
          <a:xfrm>
            <a:off x="0" y="0"/>
            <a:ext cx="9144015" cy="51435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31"/>
          <p:cNvSpPr txBox="1"/>
          <p:nvPr/>
        </p:nvSpPr>
        <p:spPr>
          <a:xfrm>
            <a:off x="411491" y="240030"/>
            <a:ext cx="8298300" cy="4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300">
                <a:solidFill>
                  <a:srgbClr val="E6E9EF"/>
                </a:solidFill>
                <a:latin typeface="Arial"/>
                <a:ea typeface="Arial"/>
                <a:cs typeface="Arial"/>
                <a:sym typeface="Arial"/>
              </a:rPr>
              <a:t>Interlinga.ai respects </a:t>
            </a:r>
            <a:r>
              <a:rPr b="1" lang="en" sz="2300">
                <a:solidFill>
                  <a:srgbClr val="E6E9EF"/>
                </a:solidFill>
              </a:rPr>
              <a:t>privacy</a:t>
            </a:r>
            <a:endParaRPr sz="1100"/>
          </a:p>
        </p:txBody>
      </p:sp>
      <p:sp>
        <p:nvSpPr>
          <p:cNvPr id="273" name="Google Shape;273;p31"/>
          <p:cNvSpPr/>
          <p:nvPr/>
        </p:nvSpPr>
        <p:spPr>
          <a:xfrm>
            <a:off x="411491" y="720090"/>
            <a:ext cx="754400" cy="28575"/>
          </a:xfrm>
          <a:prstGeom prst="rect">
            <a:avLst/>
          </a:prstGeom>
          <a:solidFill>
            <a:srgbClr val="4F7FD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TextBox 273"/>
          <p:cNvSpPr txBox="1"/>
          <p:nvPr/>
        </p:nvSpPr>
        <p:spPr>
          <a:xfrm>
            <a:off x="411491" y="891540"/>
            <a:ext cx="8298300" cy="2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8B93A3"/>
                </a:solidFill>
                <a:latin typeface="Arial"/>
              </a:rPr>
              <a:t>Privacy is decided at session creation, before a single word is spoken — enforced in code, not promised in a policy.</a:t>
            </a:r>
          </a:p>
        </p:txBody>
      </p:sp>
      <p:sp>
        <p:nvSpPr>
          <p:cNvPr id="275" name="Rounded Rectangle 274"/>
          <p:cNvSpPr/>
          <p:nvPr/>
        </p:nvSpPr>
        <p:spPr>
          <a:xfrm>
            <a:off x="411491" y="1400000"/>
            <a:ext cx="1268764" cy="720090"/>
          </a:xfrm>
          <a:prstGeom prst="roundRect">
            <a:avLst>
              <a:gd name="adj" fmla="val 8000"/>
            </a:avLst>
          </a:prstGeom>
          <a:solidFill>
            <a:srgbClr val="171D27"/>
          </a:solidFill>
          <a:ln w="12700">
            <a:solidFill>
              <a:srgbClr val="8B93A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 i="0">
                <a:solidFill>
                  <a:srgbClr val="E6E9EF"/>
                </a:solidFill>
                <a:latin typeface="Arial"/>
              </a:rPr>
              <a:t>AUDIO</a:t>
            </a:r>
          </a:p>
          <a:p>
            <a:pPr algn="ctr"/>
            <a:r>
              <a:rPr sz="1100" b="1" i="0">
                <a:solidFill>
                  <a:srgbClr val="E6E9EF"/>
                </a:solidFill>
                <a:latin typeface="Arial"/>
              </a:rPr>
              <a:t>IN</a:t>
            </a:r>
          </a:p>
        </p:txBody>
      </p:sp>
      <p:sp>
        <p:nvSpPr>
          <p:cNvPr id="276" name="Rounded Rectangle 275"/>
          <p:cNvSpPr/>
          <p:nvPr/>
        </p:nvSpPr>
        <p:spPr>
          <a:xfrm>
            <a:off x="2754669" y="1400000"/>
            <a:ext cx="1268764" cy="720090"/>
          </a:xfrm>
          <a:prstGeom prst="roundRect">
            <a:avLst>
              <a:gd name="adj" fmla="val 8000"/>
            </a:avLst>
          </a:prstGeom>
          <a:solidFill>
            <a:srgbClr val="171D27"/>
          </a:solidFill>
          <a:ln w="12700">
            <a:solidFill>
              <a:srgbClr val="8B93A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 i="0">
                <a:solidFill>
                  <a:srgbClr val="E6E9EF"/>
                </a:solidFill>
                <a:latin typeface="Arial"/>
              </a:rPr>
              <a:t>STT +</a:t>
            </a:r>
          </a:p>
          <a:p>
            <a:pPr algn="ctr"/>
            <a:r>
              <a:rPr sz="1100" b="1" i="0">
                <a:solidFill>
                  <a:srgbClr val="E6E9EF"/>
                </a:solidFill>
                <a:latin typeface="Arial"/>
              </a:rPr>
              <a:t>TRANSLATE</a:t>
            </a:r>
          </a:p>
        </p:txBody>
      </p:sp>
      <p:sp>
        <p:nvSpPr>
          <p:cNvPr id="277" name="Rounded Rectangle 276"/>
          <p:cNvSpPr/>
          <p:nvPr/>
        </p:nvSpPr>
        <p:spPr>
          <a:xfrm>
            <a:off x="5097847" y="1400000"/>
            <a:ext cx="1268764" cy="720090"/>
          </a:xfrm>
          <a:prstGeom prst="roundRect">
            <a:avLst>
              <a:gd name="adj" fmla="val 8000"/>
            </a:avLst>
          </a:prstGeom>
          <a:solidFill>
            <a:srgbClr val="171D27"/>
          </a:solidFill>
          <a:ln w="12700">
            <a:solidFill>
              <a:srgbClr val="8B93A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 i="0">
                <a:solidFill>
                  <a:srgbClr val="E6E9EF"/>
                </a:solidFill>
                <a:latin typeface="Arial"/>
              </a:rPr>
              <a:t>INSIGHT</a:t>
            </a:r>
          </a:p>
          <a:p>
            <a:pPr algn="ctr"/>
            <a:r>
              <a:rPr sz="1100" b="1" i="0">
                <a:solidFill>
                  <a:srgbClr val="E6E9EF"/>
                </a:solidFill>
                <a:latin typeface="Arial"/>
              </a:rPr>
              <a:t>LAYER</a:t>
            </a:r>
          </a:p>
        </p:txBody>
      </p:sp>
      <p:sp>
        <p:nvSpPr>
          <p:cNvPr id="278" name="Rounded Rectangle 277"/>
          <p:cNvSpPr/>
          <p:nvPr/>
        </p:nvSpPr>
        <p:spPr>
          <a:xfrm>
            <a:off x="7441025" y="1400000"/>
            <a:ext cx="1268764" cy="720090"/>
          </a:xfrm>
          <a:prstGeom prst="roundRect">
            <a:avLst>
              <a:gd name="adj" fmla="val 8000"/>
            </a:avLst>
          </a:prstGeom>
          <a:solidFill>
            <a:srgbClr val="171D27"/>
          </a:solidFill>
          <a:ln w="12700">
            <a:solidFill>
              <a:srgbClr val="8B93A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 i="0">
                <a:solidFill>
                  <a:srgbClr val="E6E9EF"/>
                </a:solidFill>
                <a:latin typeface="Arial"/>
              </a:rPr>
              <a:t>LEARNER'S</a:t>
            </a:r>
          </a:p>
          <a:p>
            <a:pPr algn="ctr"/>
            <a:r>
              <a:rPr sz="1100" b="1" i="0">
                <a:solidFill>
                  <a:srgbClr val="E6E9EF"/>
                </a:solidFill>
                <a:latin typeface="Arial"/>
              </a:rPr>
              <a:t>SCREEN</a:t>
            </a:r>
          </a:p>
        </p:txBody>
      </p:sp>
      <p:sp>
        <p:nvSpPr>
          <p:cNvPr id="279" name="Chevron 278"/>
          <p:cNvSpPr/>
          <p:nvPr/>
        </p:nvSpPr>
        <p:spPr>
          <a:xfrm>
            <a:off x="2100873" y="1643456"/>
            <a:ext cx="233178" cy="233178"/>
          </a:xfrm>
          <a:prstGeom prst="chevron">
            <a:avLst/>
          </a:prstGeom>
          <a:solidFill>
            <a:srgbClr val="4F7F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0" name="Chevron 279"/>
          <p:cNvSpPr/>
          <p:nvPr/>
        </p:nvSpPr>
        <p:spPr>
          <a:xfrm>
            <a:off x="4444051" y="1643456"/>
            <a:ext cx="233178" cy="233178"/>
          </a:xfrm>
          <a:prstGeom prst="chevron">
            <a:avLst/>
          </a:prstGeom>
          <a:solidFill>
            <a:srgbClr val="8B9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1" name="Chevron 280"/>
          <p:cNvSpPr/>
          <p:nvPr/>
        </p:nvSpPr>
        <p:spPr>
          <a:xfrm>
            <a:off x="6787229" y="1643456"/>
            <a:ext cx="233178" cy="233178"/>
          </a:xfrm>
          <a:prstGeom prst="chevron">
            <a:avLst/>
          </a:prstGeom>
          <a:solidFill>
            <a:srgbClr val="C47C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2" name="TextBox 281"/>
          <p:cNvSpPr txBox="1"/>
          <p:nvPr/>
        </p:nvSpPr>
        <p:spPr>
          <a:xfrm>
            <a:off x="1217462" y="2146090"/>
            <a:ext cx="2000000" cy="34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00" b="1" i="0">
                <a:solidFill>
                  <a:srgbClr val="4F7FD1"/>
                </a:solidFill>
                <a:latin typeface="Arial"/>
              </a:rPr>
              <a:t>NOT RECORDED</a:t>
            </a:r>
          </a:p>
          <a:p>
            <a:pPr algn="ctr">
              <a:spcBef>
                <a:spcPts val="200"/>
              </a:spcBef>
            </a:pPr>
            <a:r>
              <a:rPr sz="800" b="0" i="0">
                <a:solidFill>
                  <a:srgbClr val="8B93A3"/>
                </a:solidFill>
                <a:latin typeface="Arial"/>
              </a:rPr>
              <a:t>audio stored only if a facilitator opts in</a:t>
            </a:r>
          </a:p>
        </p:txBody>
      </p:sp>
      <p:sp>
        <p:nvSpPr>
          <p:cNvPr id="283" name="TextBox 282"/>
          <p:cNvSpPr txBox="1"/>
          <p:nvPr/>
        </p:nvSpPr>
        <p:spPr>
          <a:xfrm>
            <a:off x="5903818" y="2146090"/>
            <a:ext cx="2000000" cy="34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00" b="1" i="0">
                <a:solidFill>
                  <a:srgbClr val="C47CB8"/>
                </a:solidFill>
                <a:latin typeface="Arial"/>
              </a:rPr>
              <a:t>REDACTED SERVER-SIDE</a:t>
            </a:r>
          </a:p>
          <a:p>
            <a:pPr algn="ctr">
              <a:spcBef>
                <a:spcPts val="200"/>
              </a:spcBef>
            </a:pPr>
            <a:r>
              <a:rPr sz="800" b="0" i="0">
                <a:solidFill>
                  <a:srgbClr val="8B93A3"/>
                </a:solidFill>
                <a:latin typeface="Arial"/>
              </a:rPr>
              <a:t>names stripped before the page ever renders</a:t>
            </a:r>
          </a:p>
        </p:txBody>
      </p:sp>
      <p:sp>
        <p:nvSpPr>
          <p:cNvPr id="284" name="Up Arrow 283"/>
          <p:cNvSpPr/>
          <p:nvPr/>
        </p:nvSpPr>
        <p:spPr>
          <a:xfrm>
            <a:off x="3289051" y="2420090"/>
            <a:ext cx="200000" cy="260000"/>
          </a:xfrm>
          <a:prstGeom prst="upArrow">
            <a:avLst/>
          </a:prstGeom>
          <a:solidFill>
            <a:srgbClr val="4FBF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5" name="Up Arrow 284"/>
          <p:cNvSpPr/>
          <p:nvPr/>
        </p:nvSpPr>
        <p:spPr>
          <a:xfrm>
            <a:off x="5632229" y="2420090"/>
            <a:ext cx="200000" cy="260000"/>
          </a:xfrm>
          <a:prstGeom prst="upArrow">
            <a:avLst/>
          </a:prstGeom>
          <a:solidFill>
            <a:srgbClr val="4FBF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6" name="Rounded Rectangle 285"/>
          <p:cNvSpPr/>
          <p:nvPr/>
        </p:nvSpPr>
        <p:spPr>
          <a:xfrm>
            <a:off x="2754669" y="2700090"/>
            <a:ext cx="3611942" cy="620000"/>
          </a:xfrm>
          <a:prstGeom prst="roundRect">
            <a:avLst>
              <a:gd name="adj" fmla="val 6000"/>
            </a:avLst>
          </a:prstGeom>
          <a:solidFill>
            <a:srgbClr val="10141B"/>
          </a:solidFill>
          <a:ln w="15875">
            <a:solidFill>
              <a:srgbClr val="4FBF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0000" rIns="140000"/>
          <a:lstStyle/>
          <a:p>
            <a:pPr algn="ctr"/>
            <a:r>
              <a:rPr sz="1100" b="1" i="0">
                <a:solidFill>
                  <a:srgbClr val="4FBF8F"/>
                </a:solidFill>
                <a:latin typeface="Arial"/>
              </a:rPr>
              <a:t>LOCAL_ONLY MODE</a:t>
            </a:r>
          </a:p>
          <a:p>
            <a:pPr algn="ctr">
              <a:spcBef>
                <a:spcPts val="300"/>
              </a:spcBef>
            </a:pPr>
            <a:r>
              <a:rPr sz="1050" b="0" i="0">
                <a:solidFill>
                  <a:srgbClr val="E6E9EF"/>
                </a:solidFill>
                <a:latin typeface="Arial"/>
              </a:rPr>
              <a:t>STT and translation stay on self-hosted infrastructure; the Claude insight layer simply doesn’t run.</a:t>
            </a:r>
          </a:p>
        </p:txBody>
      </p:sp>
      <p:sp>
        <p:nvSpPr>
          <p:cNvPr id="287" name="Rounded Rectangle 286"/>
          <p:cNvSpPr/>
          <p:nvPr/>
        </p:nvSpPr>
        <p:spPr>
          <a:xfrm>
            <a:off x="411491" y="3510090"/>
            <a:ext cx="4049150" cy="900000"/>
          </a:xfrm>
          <a:prstGeom prst="roundRect">
            <a:avLst>
              <a:gd name="adj" fmla="val 6000"/>
            </a:avLst>
          </a:prstGeom>
          <a:solidFill>
            <a:srgbClr val="171D27"/>
          </a:solidFill>
          <a:ln w="12700">
            <a:solidFill>
              <a:srgbClr val="4F7F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0000" rIns="160000" tIns="60000" bIns="60000"/>
          <a:lstStyle/>
          <a:p>
            <a:pPr algn="ctr"/>
            <a:r>
              <a:rPr sz="1050" b="1" i="0">
                <a:solidFill>
                  <a:srgbClr val="4F7FD1"/>
                </a:solidFill>
                <a:latin typeface="Arial"/>
              </a:rPr>
              <a:t>RETENTION SET UP FRONT</a:t>
            </a:r>
          </a:p>
          <a:p>
            <a:pPr>
              <a:spcBef>
                <a:spcPts val="300"/>
              </a:spcBef>
            </a:pPr>
            <a:r>
              <a:rPr sz="950" b="0" i="0">
                <a:solidFill>
                  <a:srgbClr val="E6E9EF"/>
                </a:solidFill>
                <a:latin typeface="Arial"/>
              </a:rPr>
              <a:t>1 / 7 / 30 days, chosen at session creation — an hourly job deletes every cascading row (transcript, chat, insights) past deadline.</a:t>
            </a:r>
          </a:p>
        </p:txBody>
      </p:sp>
      <p:sp>
        <p:nvSpPr>
          <p:cNvPr id="288" name="Rounded Rectangle 287"/>
          <p:cNvSpPr/>
          <p:nvPr/>
        </p:nvSpPr>
        <p:spPr>
          <a:xfrm>
            <a:off x="4660641" y="3510090"/>
            <a:ext cx="4049150" cy="900000"/>
          </a:xfrm>
          <a:prstGeom prst="roundRect">
            <a:avLst>
              <a:gd name="adj" fmla="val 6000"/>
            </a:avLst>
          </a:prstGeom>
          <a:solidFill>
            <a:srgbClr val="171D27"/>
          </a:solidFill>
          <a:ln w="12700">
            <a:solidFill>
              <a:srgbClr val="C47C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0000" rIns="160000" tIns="60000" bIns="60000"/>
          <a:lstStyle/>
          <a:p>
            <a:pPr algn="ctr"/>
            <a:r>
              <a:rPr sz="1050" b="1" i="0">
                <a:solidFill>
                  <a:srgbClr val="C47CB8"/>
                </a:solidFill>
                <a:latin typeface="Arial"/>
              </a:rPr>
              <a:t>SENSITIVE SIGNALS STAY SCOPED</a:t>
            </a:r>
          </a:p>
          <a:p>
            <a:pPr>
              <a:spcBef>
                <a:spcPts val="300"/>
              </a:spcBef>
            </a:pPr>
            <a:r>
              <a:rPr sz="950" b="0" i="0">
                <a:solidFill>
                  <a:srgbClr val="E6E9EF"/>
                </a:solidFill>
                <a:latin typeface="Arial"/>
              </a:rPr>
              <a:t>Per-learner confusion levels and analytics are gated to facilitators; private messages are filtered out of the query itself.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