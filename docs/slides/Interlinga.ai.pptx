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3" r:id="rId15"/>
    <p:sldId id="261" r:id="rId13"/>
    <p:sldId id="262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FB5690-A4E3-496F-A566-A1613EFCE2B5}">
  <a:tblStyle styleId="{62FB5690-A4E3-496F-A566-A1613EFCE2B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969d8f60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f969d8f602_1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f969d8f602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chemeClr val="dk1"/>
                </a:solidFill>
              </a:rPr>
              <a:t>Technical problems–think static on a radio, crackling on a telephone, snow on your TV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Semantic problems–think language, technical terms, idioms like “break a leg” which means good luck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Effectiveness problems–think passive listener, an action item not acted upon</a:t>
            </a:r>
            <a:endParaRPr/>
          </a:p>
        </p:txBody>
      </p:sp>
      <p:sp>
        <p:nvSpPr>
          <p:cNvPr id="136" name="Google Shape;136;g3f969d8f602_6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969d8f602_1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g3f969d8f602_11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969d8f602_9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g3f969d8f602_9_7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f969d8f602_1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f969d8f602_1_6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969d8f602_3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f969d8f602_3_2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969d8f602_1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f969d8f602_1_8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364" y="1597819"/>
            <a:ext cx="5829455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727" y="2914650"/>
            <a:ext cx="4800728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49" y="3305175"/>
            <a:ext cx="5829455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49" y="2180035"/>
            <a:ext cx="5829455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9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243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9" y="1151335"/>
            <a:ext cx="303022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9" y="1631156"/>
            <a:ext cx="303022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862" y="1151335"/>
            <a:ext cx="303141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862" y="1631156"/>
            <a:ext cx="303141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9" y="204788"/>
            <a:ext cx="225629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359" y="204788"/>
            <a:ext cx="3833915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9" y="1076325"/>
            <a:ext cx="225629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52" y="3600450"/>
            <a:ext cx="411491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52" y="459581"/>
            <a:ext cx="411491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52" y="4025503"/>
            <a:ext cx="411491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855" y="-188796"/>
            <a:ext cx="3394472" cy="617236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406" y="1628755"/>
            <a:ext cx="4388644" cy="154309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72" y="142815"/>
            <a:ext cx="4388644" cy="451497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6.png"/><Relationship Id="rId7" Type="http://schemas.openxmlformats.org/officeDocument/2006/relationships/image" Target="../media/image3.png"/><Relationship Id="rId8" Type="http://schemas.openxmlformats.org/officeDocument/2006/relationships/image" Target="../media/image8.png"/><Relationship Id="rId9" Type="http://schemas.openxmlformats.org/officeDocument/2006/relationships/image" Target="../media/image6.png"/><Relationship Id="rId10" Type="http://schemas.openxmlformats.org/officeDocument/2006/relationships/image" Target="../media/image5.png"/><Relationship Id="rId11" Type="http://schemas.openxmlformats.org/officeDocument/2006/relationships/image" Target="../media/image4.png"/><Relationship Id="rId12" Type="http://schemas.openxmlformats.org/officeDocument/2006/relationships/image" Target="../media/image12.png"/><Relationship Id="rId13" Type="http://schemas.openxmlformats.org/officeDocument/2006/relationships/image" Target="../media/image1.png"/><Relationship Id="rId14" Type="http://schemas.openxmlformats.org/officeDocument/2006/relationships/image" Target="../media/image18.png"/><Relationship Id="rId15" Type="http://schemas.openxmlformats.org/officeDocument/2006/relationships/image" Target="../media/image7.png"/><Relationship Id="rId16" Type="http://schemas.openxmlformats.org/officeDocument/2006/relationships/image" Target="../media/image10.png"/><Relationship Id="rId17" Type="http://schemas.openxmlformats.org/officeDocument/2006/relationships/image" Target="../media/image17.png"/><Relationship Id="rId18" Type="http://schemas.openxmlformats.org/officeDocument/2006/relationships/image" Target="../media/image11.png"/><Relationship Id="rId19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-102300" y="0"/>
            <a:ext cx="94614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685868" y="2178863"/>
            <a:ext cx="77703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500" u="none" cap="none" strike="noStrike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Interlinga.</a:t>
            </a:r>
            <a:r>
              <a:rPr b="1" i="0" lang="en" sz="45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sz="1100">
              <a:solidFill>
                <a:schemeClr val="accent1"/>
              </a:solidFill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4022320" y="3148150"/>
            <a:ext cx="1097400" cy="28500"/>
          </a:xfrm>
          <a:prstGeom prst="rect">
            <a:avLst/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1028765" y="3383915"/>
            <a:ext cx="7084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500" u="none" cap="none" strike="noStrike">
                <a:solidFill>
                  <a:srgbClr val="4F7FD1"/>
                </a:solidFill>
                <a:latin typeface="Arial"/>
                <a:ea typeface="Arial"/>
                <a:cs typeface="Arial"/>
                <a:sym typeface="Arial"/>
              </a:rPr>
              <a:t>A video conferencing app built for workshop facilitation</a:t>
            </a:r>
            <a:endParaRPr b="0" i="1" sz="1500" u="none" cap="none" strike="noStrike">
              <a:solidFill>
                <a:srgbClr val="4F7FD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>
              <a:solidFill>
                <a:srgbClr val="4F7FD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8B93A3"/>
                </a:solidFill>
              </a:rPr>
              <a:t>To b</a:t>
            </a:r>
            <a:r>
              <a:rPr b="0" i="0" lang="en" sz="1500" u="none" cap="none" strike="noStrike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ridge understanding between/among learners and facilitators</a:t>
            </a:r>
            <a:endParaRPr sz="1100"/>
          </a:p>
        </p:txBody>
      </p:sp>
      <p:pic>
        <p:nvPicPr>
          <p:cNvPr descr="/home/claude/interlinga-deck/logo_mark.png" id="133" name="Google Shape;13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8737" y="647550"/>
            <a:ext cx="1824600" cy="1337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411491" y="240030"/>
            <a:ext cx="8298401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300" u="none" cap="none" strike="noStrike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What are language barriers?</a:t>
            </a:r>
            <a:endParaRPr sz="1100"/>
          </a:p>
        </p:txBody>
      </p:sp>
      <p:sp>
        <p:nvSpPr>
          <p:cNvPr id="140" name="Google Shape;140;p26"/>
          <p:cNvSpPr/>
          <p:nvPr/>
        </p:nvSpPr>
        <p:spPr>
          <a:xfrm>
            <a:off x="411491" y="720090"/>
            <a:ext cx="754400" cy="28575"/>
          </a:xfrm>
          <a:prstGeom prst="rect">
            <a:avLst/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6"/>
          <p:cNvSpPr/>
          <p:nvPr/>
        </p:nvSpPr>
        <p:spPr>
          <a:xfrm>
            <a:off x="411491" y="994410"/>
            <a:ext cx="8319000" cy="788700"/>
          </a:xfrm>
          <a:prstGeom prst="roundRect">
            <a:avLst>
              <a:gd fmla="val 6000" name="adj"/>
            </a:avLst>
          </a:prstGeom>
          <a:solidFill>
            <a:srgbClr val="171D27"/>
          </a:solidFill>
          <a:ln cap="flat" cmpd="sng" w="9525">
            <a:solidFill>
              <a:srgbClr val="2A33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6"/>
          <p:cNvSpPr txBox="1"/>
          <p:nvPr/>
        </p:nvSpPr>
        <p:spPr>
          <a:xfrm>
            <a:off x="466356" y="918972"/>
            <a:ext cx="6858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300">
                <a:solidFill>
                  <a:srgbClr val="4F7FD1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sz="1100"/>
          </a:p>
        </p:txBody>
      </p:sp>
      <p:sp>
        <p:nvSpPr>
          <p:cNvPr id="143" name="Google Shape;143;p26"/>
          <p:cNvSpPr txBox="1"/>
          <p:nvPr/>
        </p:nvSpPr>
        <p:spPr>
          <a:xfrm>
            <a:off x="1200182" y="1110996"/>
            <a:ext cx="726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Language is a system of communication [...]</a:t>
            </a:r>
            <a:endParaRPr sz="1100"/>
          </a:p>
        </p:txBody>
      </p:sp>
      <p:sp>
        <p:nvSpPr>
          <p:cNvPr id="144" name="Google Shape;144;p26"/>
          <p:cNvSpPr txBox="1"/>
          <p:nvPr/>
        </p:nvSpPr>
        <p:spPr>
          <a:xfrm>
            <a:off x="1200182" y="1495044"/>
            <a:ext cx="7269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— Encyclopedia Britannica</a:t>
            </a:r>
            <a:endParaRPr sz="1100"/>
          </a:p>
        </p:txBody>
      </p:sp>
      <p:sp>
        <p:nvSpPr>
          <p:cNvPr id="145" name="Google Shape;145;p26"/>
          <p:cNvSpPr txBox="1"/>
          <p:nvPr/>
        </p:nvSpPr>
        <p:spPr>
          <a:xfrm>
            <a:off x="411491" y="1906524"/>
            <a:ext cx="8318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3 fundamental barriers to communication — the Shannon-Weaver model of communication</a:t>
            </a:r>
            <a:endParaRPr sz="1100"/>
          </a:p>
        </p:txBody>
      </p:sp>
      <p:sp>
        <p:nvSpPr>
          <p:cNvPr id="146" name="Google Shape;146;p26"/>
          <p:cNvSpPr/>
          <p:nvPr/>
        </p:nvSpPr>
        <p:spPr>
          <a:xfrm>
            <a:off x="411491" y="243459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INFORMATION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SOURCE</a:t>
            </a:r>
            <a:endParaRPr sz="1100"/>
          </a:p>
        </p:txBody>
      </p:sp>
      <p:sp>
        <p:nvSpPr>
          <p:cNvPr id="147" name="Google Shape;147;p26"/>
          <p:cNvSpPr/>
          <p:nvPr/>
        </p:nvSpPr>
        <p:spPr>
          <a:xfrm>
            <a:off x="2057455" y="243459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TRANSMITTER</a:t>
            </a:r>
            <a:endParaRPr sz="1100"/>
          </a:p>
        </p:txBody>
      </p:sp>
      <p:sp>
        <p:nvSpPr>
          <p:cNvPr id="148" name="Google Shape;148;p26"/>
          <p:cNvSpPr/>
          <p:nvPr/>
        </p:nvSpPr>
        <p:spPr>
          <a:xfrm>
            <a:off x="3703419" y="243459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CHANNEL</a:t>
            </a:r>
            <a:endParaRPr sz="1100"/>
          </a:p>
        </p:txBody>
      </p:sp>
      <p:sp>
        <p:nvSpPr>
          <p:cNvPr id="149" name="Google Shape;149;p26"/>
          <p:cNvSpPr/>
          <p:nvPr/>
        </p:nvSpPr>
        <p:spPr>
          <a:xfrm>
            <a:off x="5349383" y="243459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RECEIVER</a:t>
            </a:r>
            <a:endParaRPr sz="1100"/>
          </a:p>
        </p:txBody>
      </p:sp>
      <p:sp>
        <p:nvSpPr>
          <p:cNvPr id="150" name="Google Shape;150;p26"/>
          <p:cNvSpPr/>
          <p:nvPr/>
        </p:nvSpPr>
        <p:spPr>
          <a:xfrm>
            <a:off x="6995346" y="243459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DESTINATION</a:t>
            </a:r>
            <a:endParaRPr sz="1100"/>
          </a:p>
        </p:txBody>
      </p:sp>
      <p:sp>
        <p:nvSpPr>
          <p:cNvPr id="151" name="Google Shape;151;p26"/>
          <p:cNvSpPr/>
          <p:nvPr/>
        </p:nvSpPr>
        <p:spPr>
          <a:xfrm>
            <a:off x="1752266" y="2678049"/>
            <a:ext cx="233178" cy="233172"/>
          </a:xfrm>
          <a:prstGeom prst="chevron">
            <a:avLst>
              <a:gd fmla="val 50000" name="adj"/>
            </a:avLst>
          </a:prstGeom>
          <a:solidFill>
            <a:srgbClr val="8B93A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6"/>
          <p:cNvSpPr/>
          <p:nvPr/>
        </p:nvSpPr>
        <p:spPr>
          <a:xfrm>
            <a:off x="3398230" y="2678049"/>
            <a:ext cx="233178" cy="233172"/>
          </a:xfrm>
          <a:prstGeom prst="chevron">
            <a:avLst>
              <a:gd fmla="val 50000" name="adj"/>
            </a:avLst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6"/>
          <p:cNvSpPr txBox="1"/>
          <p:nvPr/>
        </p:nvSpPr>
        <p:spPr>
          <a:xfrm>
            <a:off x="3000455" y="3151251"/>
            <a:ext cx="1028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4F7FD1"/>
                </a:solidFill>
                <a:latin typeface="Arial"/>
                <a:ea typeface="Arial"/>
                <a:cs typeface="Arial"/>
                <a:sym typeface="Arial"/>
              </a:rPr>
              <a:t>TECHNICAL</a:t>
            </a:r>
            <a:endParaRPr sz="1100"/>
          </a:p>
        </p:txBody>
      </p:sp>
      <p:sp>
        <p:nvSpPr>
          <p:cNvPr id="154" name="Google Shape;154;p26"/>
          <p:cNvSpPr/>
          <p:nvPr/>
        </p:nvSpPr>
        <p:spPr>
          <a:xfrm>
            <a:off x="5044193" y="2678049"/>
            <a:ext cx="233178" cy="233172"/>
          </a:xfrm>
          <a:prstGeom prst="chevron">
            <a:avLst>
              <a:gd fmla="val 50000" name="adj"/>
            </a:avLst>
          </a:prstGeom>
          <a:solidFill>
            <a:srgbClr val="C47CB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6"/>
          <p:cNvSpPr txBox="1"/>
          <p:nvPr/>
        </p:nvSpPr>
        <p:spPr>
          <a:xfrm>
            <a:off x="4646419" y="3151251"/>
            <a:ext cx="102872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C47CB8"/>
                </a:solidFill>
                <a:latin typeface="Arial"/>
                <a:ea typeface="Arial"/>
                <a:cs typeface="Arial"/>
                <a:sym typeface="Arial"/>
              </a:rPr>
              <a:t>SEMANTIC</a:t>
            </a:r>
            <a:endParaRPr sz="1100"/>
          </a:p>
        </p:txBody>
      </p:sp>
      <p:sp>
        <p:nvSpPr>
          <p:cNvPr id="156" name="Google Shape;156;p26"/>
          <p:cNvSpPr/>
          <p:nvPr/>
        </p:nvSpPr>
        <p:spPr>
          <a:xfrm>
            <a:off x="6690157" y="2678049"/>
            <a:ext cx="233178" cy="233172"/>
          </a:xfrm>
          <a:prstGeom prst="chevron">
            <a:avLst>
              <a:gd fmla="val 50000" name="adj"/>
            </a:avLst>
          </a:prstGeom>
          <a:solidFill>
            <a:srgbClr val="4FBF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6"/>
          <p:cNvSpPr txBox="1"/>
          <p:nvPr/>
        </p:nvSpPr>
        <p:spPr>
          <a:xfrm>
            <a:off x="6292383" y="3151251"/>
            <a:ext cx="102872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4FBF8F"/>
                </a:solidFill>
                <a:latin typeface="Arial"/>
                <a:ea typeface="Arial"/>
                <a:cs typeface="Arial"/>
                <a:sym typeface="Arial"/>
              </a:rPr>
              <a:t>EFFECTIVENESS</a:t>
            </a:r>
            <a:endParaRPr sz="1100"/>
          </a:p>
        </p:txBody>
      </p:sp>
      <p:sp>
        <p:nvSpPr>
          <p:cNvPr id="158" name="Google Shape;158;p26"/>
          <p:cNvSpPr/>
          <p:nvPr/>
        </p:nvSpPr>
        <p:spPr>
          <a:xfrm>
            <a:off x="4200637" y="3154680"/>
            <a:ext cx="274327" cy="85725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E2687A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6"/>
          <p:cNvSpPr/>
          <p:nvPr/>
        </p:nvSpPr>
        <p:spPr>
          <a:xfrm>
            <a:off x="3651982" y="4011930"/>
            <a:ext cx="1371637" cy="480060"/>
          </a:xfrm>
          <a:prstGeom prst="roundRect">
            <a:avLst>
              <a:gd fmla="val 10000" name="adj"/>
            </a:avLst>
          </a:prstGeom>
          <a:solidFill>
            <a:srgbClr val="10141B"/>
          </a:solidFill>
          <a:ln cap="flat" cmpd="sng" w="15875">
            <a:solidFill>
              <a:srgbClr val="E268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E2687A"/>
                </a:solidFill>
                <a:latin typeface="Arial"/>
                <a:ea typeface="Arial"/>
                <a:cs typeface="Arial"/>
                <a:sym typeface="Arial"/>
              </a:rPr>
              <a:t>NOISE SOURCE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7"/>
          <p:cNvSpPr txBox="1"/>
          <p:nvPr/>
        </p:nvSpPr>
        <p:spPr>
          <a:xfrm>
            <a:off x="411491" y="240030"/>
            <a:ext cx="82983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rgbClr val="E6E9EF"/>
                </a:solidFill>
              </a:rPr>
              <a:t>3</a:t>
            </a:r>
            <a:r>
              <a:rPr b="1" lang="en" sz="23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 barriers to communication in remote online facilitation</a:t>
            </a:r>
            <a:endParaRPr sz="1100"/>
          </a:p>
        </p:txBody>
      </p:sp>
      <p:sp>
        <p:nvSpPr>
          <p:cNvPr id="166" name="Google Shape;166;p27"/>
          <p:cNvSpPr/>
          <p:nvPr/>
        </p:nvSpPr>
        <p:spPr>
          <a:xfrm>
            <a:off x="411491" y="720090"/>
            <a:ext cx="754400" cy="28575"/>
          </a:xfrm>
          <a:prstGeom prst="rect">
            <a:avLst/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7"/>
          <p:cNvSpPr/>
          <p:nvPr/>
        </p:nvSpPr>
        <p:spPr>
          <a:xfrm>
            <a:off x="411491" y="161163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FACILITATOR</a:t>
            </a:r>
            <a:endParaRPr sz="1100"/>
          </a:p>
        </p:txBody>
      </p:sp>
      <p:sp>
        <p:nvSpPr>
          <p:cNvPr id="168" name="Google Shape;168;p27"/>
          <p:cNvSpPr/>
          <p:nvPr/>
        </p:nvSpPr>
        <p:spPr>
          <a:xfrm>
            <a:off x="2057455" y="161163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MIC &amp;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CAMERA</a:t>
            </a:r>
            <a:endParaRPr sz="1100"/>
          </a:p>
        </p:txBody>
      </p:sp>
      <p:sp>
        <p:nvSpPr>
          <p:cNvPr id="169" name="Google Shape;169;p27"/>
          <p:cNvSpPr/>
          <p:nvPr/>
        </p:nvSpPr>
        <p:spPr>
          <a:xfrm>
            <a:off x="3703419" y="161163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VIDEO CALL</a:t>
            </a:r>
            <a:endParaRPr sz="1100"/>
          </a:p>
        </p:txBody>
      </p:sp>
      <p:sp>
        <p:nvSpPr>
          <p:cNvPr id="170" name="Google Shape;170;p27"/>
          <p:cNvSpPr/>
          <p:nvPr/>
        </p:nvSpPr>
        <p:spPr>
          <a:xfrm>
            <a:off x="5349383" y="161163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LEARNER'S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SCREEN</a:t>
            </a:r>
            <a:endParaRPr sz="1100"/>
          </a:p>
        </p:txBody>
      </p:sp>
      <p:sp>
        <p:nvSpPr>
          <p:cNvPr id="171" name="Google Shape;171;p27"/>
          <p:cNvSpPr/>
          <p:nvPr/>
        </p:nvSpPr>
        <p:spPr>
          <a:xfrm>
            <a:off x="6995346" y="1611630"/>
            <a:ext cx="1268764" cy="720090"/>
          </a:xfrm>
          <a:prstGeom prst="roundRect">
            <a:avLst>
              <a:gd fmla="val 8000" name="adj"/>
            </a:avLst>
          </a:prstGeom>
          <a:solidFill>
            <a:srgbClr val="171D27"/>
          </a:solidFill>
          <a:ln cap="flat" cmpd="sng" w="12700">
            <a:solidFill>
              <a:srgbClr val="8B93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LEARNER'S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UNDERSTANDING</a:t>
            </a:r>
            <a:endParaRPr sz="1000"/>
          </a:p>
        </p:txBody>
      </p:sp>
      <p:sp>
        <p:nvSpPr>
          <p:cNvPr id="172" name="Google Shape;172;p27"/>
          <p:cNvSpPr/>
          <p:nvPr/>
        </p:nvSpPr>
        <p:spPr>
          <a:xfrm>
            <a:off x="1752266" y="1855089"/>
            <a:ext cx="233178" cy="233172"/>
          </a:xfrm>
          <a:prstGeom prst="chevron">
            <a:avLst>
              <a:gd fmla="val 50000" name="adj"/>
            </a:avLst>
          </a:prstGeom>
          <a:solidFill>
            <a:srgbClr val="8B93A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7"/>
          <p:cNvSpPr/>
          <p:nvPr/>
        </p:nvSpPr>
        <p:spPr>
          <a:xfrm>
            <a:off x="3398230" y="1855089"/>
            <a:ext cx="233178" cy="233172"/>
          </a:xfrm>
          <a:prstGeom prst="chevron">
            <a:avLst>
              <a:gd fmla="val 50000" name="adj"/>
            </a:avLst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2189930" y="2505306"/>
            <a:ext cx="1911000" cy="47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4F7FD1"/>
                </a:solidFill>
                <a:latin typeface="Arial"/>
                <a:ea typeface="Arial"/>
                <a:cs typeface="Arial"/>
                <a:sym typeface="Arial"/>
              </a:rPr>
              <a:t>TECHNICAL</a:t>
            </a:r>
            <a:endParaRPr sz="1600"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accurate transmission</a:t>
            </a:r>
            <a:endParaRPr sz="1600"/>
          </a:p>
        </p:txBody>
      </p:sp>
      <p:sp>
        <p:nvSpPr>
          <p:cNvPr id="175" name="Google Shape;175;p27"/>
          <p:cNvSpPr/>
          <p:nvPr/>
        </p:nvSpPr>
        <p:spPr>
          <a:xfrm>
            <a:off x="5044193" y="1855089"/>
            <a:ext cx="233178" cy="233172"/>
          </a:xfrm>
          <a:prstGeom prst="chevron">
            <a:avLst>
              <a:gd fmla="val 50000" name="adj"/>
            </a:avLst>
          </a:prstGeom>
          <a:solidFill>
            <a:srgbClr val="C47CB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7"/>
          <p:cNvSpPr txBox="1"/>
          <p:nvPr/>
        </p:nvSpPr>
        <p:spPr>
          <a:xfrm>
            <a:off x="4088667" y="2505306"/>
            <a:ext cx="2264400" cy="61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C47CB8"/>
                </a:solidFill>
                <a:latin typeface="Arial"/>
                <a:ea typeface="Arial"/>
                <a:cs typeface="Arial"/>
                <a:sym typeface="Arial"/>
              </a:rPr>
              <a:t>SEMANTIC</a:t>
            </a:r>
            <a:endParaRPr sz="1500"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shared meaning across languages</a:t>
            </a:r>
            <a:endParaRPr sz="1200"/>
          </a:p>
        </p:txBody>
      </p:sp>
      <p:sp>
        <p:nvSpPr>
          <p:cNvPr id="177" name="Google Shape;177;p27"/>
          <p:cNvSpPr/>
          <p:nvPr/>
        </p:nvSpPr>
        <p:spPr>
          <a:xfrm>
            <a:off x="6690157" y="1855089"/>
            <a:ext cx="233178" cy="233172"/>
          </a:xfrm>
          <a:prstGeom prst="chevron">
            <a:avLst>
              <a:gd fmla="val 50000" name="adj"/>
            </a:avLst>
          </a:prstGeom>
          <a:solidFill>
            <a:srgbClr val="4FBF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7"/>
          <p:cNvSpPr txBox="1"/>
          <p:nvPr/>
        </p:nvSpPr>
        <p:spPr>
          <a:xfrm>
            <a:off x="6340804" y="2505306"/>
            <a:ext cx="1710900" cy="61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4FBF8F"/>
                </a:solidFill>
                <a:latin typeface="Arial"/>
                <a:ea typeface="Arial"/>
                <a:cs typeface="Arial"/>
                <a:sym typeface="Arial"/>
              </a:rPr>
              <a:t>EFFECTIVENESS</a:t>
            </a:r>
            <a:endParaRPr sz="1500"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confirm it changed understanding</a:t>
            </a:r>
            <a:endParaRPr sz="1500"/>
          </a:p>
        </p:txBody>
      </p:sp>
      <p:sp>
        <p:nvSpPr>
          <p:cNvPr id="179" name="Google Shape;179;p27"/>
          <p:cNvSpPr/>
          <p:nvPr/>
        </p:nvSpPr>
        <p:spPr>
          <a:xfrm>
            <a:off x="4200637" y="2331720"/>
            <a:ext cx="274327" cy="147447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E2687A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7"/>
          <p:cNvSpPr/>
          <p:nvPr/>
        </p:nvSpPr>
        <p:spPr>
          <a:xfrm>
            <a:off x="3651982" y="3806190"/>
            <a:ext cx="1371637" cy="480060"/>
          </a:xfrm>
          <a:prstGeom prst="roundRect">
            <a:avLst>
              <a:gd fmla="val 10000" name="adj"/>
            </a:avLst>
          </a:prstGeom>
          <a:solidFill>
            <a:srgbClr val="10141B"/>
          </a:solidFill>
          <a:ln cap="flat" cmpd="sng" w="15875">
            <a:solidFill>
              <a:srgbClr val="E268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E2687A"/>
                </a:solidFill>
                <a:latin typeface="Arial"/>
                <a:ea typeface="Arial"/>
                <a:cs typeface="Arial"/>
                <a:sym typeface="Arial"/>
              </a:rPr>
              <a:t>NOISE SOURCE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/>
          <p:nvPr/>
        </p:nvSpPr>
        <p:spPr>
          <a:xfrm>
            <a:off x="0" y="-24848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411491" y="240030"/>
            <a:ext cx="8298401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What options do we have currently?</a:t>
            </a:r>
            <a:endParaRPr sz="1100"/>
          </a:p>
        </p:txBody>
      </p:sp>
      <p:sp>
        <p:nvSpPr>
          <p:cNvPr id="187" name="Google Shape;187;p28"/>
          <p:cNvSpPr/>
          <p:nvPr/>
        </p:nvSpPr>
        <p:spPr>
          <a:xfrm>
            <a:off x="411491" y="720090"/>
            <a:ext cx="754400" cy="28575"/>
          </a:xfrm>
          <a:prstGeom prst="rect">
            <a:avLst/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411491" y="925830"/>
            <a:ext cx="82983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Current options fail to break all 3 language barriers</a:t>
            </a:r>
            <a:r>
              <a:rPr lang="en" sz="1100">
                <a:solidFill>
                  <a:srgbClr val="8B93A3"/>
                </a:solidFill>
              </a:rPr>
              <a:t> → C</a:t>
            </a:r>
            <a:r>
              <a:rPr b="0" lang="en" sz="1100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ommunication almost certain to break down</a:t>
            </a:r>
            <a:endParaRPr sz="1100"/>
          </a:p>
        </p:txBody>
      </p:sp>
      <p:grpSp>
        <p:nvGrpSpPr>
          <p:cNvPr id="189" name="Google Shape;189;p28"/>
          <p:cNvGrpSpPr/>
          <p:nvPr/>
        </p:nvGrpSpPr>
        <p:grpSpPr>
          <a:xfrm>
            <a:off x="2667833" y="1298260"/>
            <a:ext cx="3813267" cy="3597145"/>
            <a:chOff x="2667833" y="1298260"/>
            <a:chExt cx="3813267" cy="3597145"/>
          </a:xfrm>
        </p:grpSpPr>
        <p:grpSp>
          <p:nvGrpSpPr>
            <p:cNvPr id="190" name="Google Shape;190;p28"/>
            <p:cNvGrpSpPr/>
            <p:nvPr/>
          </p:nvGrpSpPr>
          <p:grpSpPr>
            <a:xfrm>
              <a:off x="2842260" y="1298260"/>
              <a:ext cx="3439215" cy="3151500"/>
              <a:chOff x="2842260" y="1298260"/>
              <a:chExt cx="3439215" cy="3151500"/>
            </a:xfrm>
          </p:grpSpPr>
          <p:grpSp>
            <p:nvGrpSpPr>
              <p:cNvPr id="191" name="Google Shape;191;p28"/>
              <p:cNvGrpSpPr/>
              <p:nvPr/>
            </p:nvGrpSpPr>
            <p:grpSpPr>
              <a:xfrm>
                <a:off x="2944151" y="1298260"/>
                <a:ext cx="3233100" cy="3151500"/>
                <a:chOff x="2944151" y="1298260"/>
                <a:chExt cx="3233100" cy="3151500"/>
              </a:xfrm>
            </p:grpSpPr>
            <p:sp>
              <p:nvSpPr>
                <p:cNvPr id="192" name="Google Shape;192;p28"/>
                <p:cNvSpPr/>
                <p:nvPr/>
              </p:nvSpPr>
              <p:spPr>
                <a:xfrm>
                  <a:off x="2944151" y="1298260"/>
                  <a:ext cx="3233100" cy="3151500"/>
                </a:xfrm>
                <a:prstGeom prst="ellipse">
                  <a:avLst/>
                </a:prstGeom>
                <a:solidFill>
                  <a:srgbClr val="12959A">
                    <a:alpha val="12940"/>
                  </a:srgbClr>
                </a:solidFill>
                <a:ln cap="flat" cmpd="sng" w="28575">
                  <a:solidFill>
                    <a:srgbClr val="4F7FD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34275" lIns="68575" spcFirstLastPara="1" rIns="68575" wrap="square" tIns="34275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3" name="Google Shape;193;p28"/>
                <p:cNvSpPr txBox="1"/>
                <p:nvPr/>
              </p:nvSpPr>
              <p:spPr>
                <a:xfrm>
                  <a:off x="3679415" y="1432235"/>
                  <a:ext cx="1783200" cy="223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34275" lIns="68575" spcFirstLastPara="1" rIns="68575" wrap="square" tIns="34275">
                  <a:sp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1000">
                      <a:solidFill>
                        <a:srgbClr val="4F7FD1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Technical</a:t>
                  </a:r>
                  <a:endParaRPr sz="1100">
                    <a:solidFill>
                      <a:srgbClr val="4F7FD1"/>
                    </a:solidFill>
                  </a:endParaRPr>
                </a:p>
              </p:txBody>
            </p:sp>
          </p:grpSp>
          <p:grpSp>
            <p:nvGrpSpPr>
              <p:cNvPr id="194" name="Google Shape;194;p28"/>
              <p:cNvGrpSpPr/>
              <p:nvPr/>
            </p:nvGrpSpPr>
            <p:grpSpPr>
              <a:xfrm>
                <a:off x="2842260" y="2005737"/>
                <a:ext cx="3439215" cy="411746"/>
                <a:chOff x="2842260" y="2005737"/>
                <a:chExt cx="3439215" cy="411746"/>
              </a:xfrm>
            </p:grpSpPr>
            <p:pic>
              <p:nvPicPr>
                <p:cNvPr descr="/home/claude/logos/trim_teams.png" id="195" name="Google Shape;195;p28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b="0" l="0" r="0" t="0"/>
                <a:stretch/>
              </p:blipFill>
              <p:spPr>
                <a:xfrm>
                  <a:off x="3328153" y="2005737"/>
                  <a:ext cx="202902" cy="18230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meet.png" id="196" name="Google Shape;196;p2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 b="0" l="0" r="0" t="0"/>
                <a:stretch/>
              </p:blipFill>
              <p:spPr>
                <a:xfrm>
                  <a:off x="4104355" y="2015503"/>
                  <a:ext cx="200054" cy="16276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whereby.png" id="197" name="Google Shape;197;p28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 b="0" l="0" r="0" t="0"/>
                <a:stretch/>
              </p:blipFill>
              <p:spPr>
                <a:xfrm>
                  <a:off x="4877709" y="2015503"/>
                  <a:ext cx="184235" cy="16276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gotomeeting.png" id="198" name="Google Shape;198;p28"/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b="0" l="0" r="0" t="0"/>
                <a:stretch/>
              </p:blipFill>
              <p:spPr>
                <a:xfrm>
                  <a:off x="5635245" y="2012248"/>
                  <a:ext cx="157378" cy="1692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99" name="Google Shape;199;p28"/>
                <p:cNvSpPr/>
                <p:nvPr/>
              </p:nvSpPr>
              <p:spPr>
                <a:xfrm>
                  <a:off x="2842260" y="2282333"/>
                  <a:ext cx="1384500" cy="87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Font typeface="Arial"/>
                    <a:buNone/>
                  </a:pPr>
                  <a:r>
                    <a:rPr b="1" lang="en" sz="600">
                      <a:solidFill>
                        <a:srgbClr val="E6E9EF"/>
                      </a:solidFill>
                    </a:rPr>
                    <a:t>Microsoft Teams</a:t>
                  </a:r>
                  <a:endParaRPr b="0" i="0" sz="568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0" name="Google Shape;200;p28"/>
                <p:cNvSpPr/>
                <p:nvPr/>
              </p:nvSpPr>
              <p:spPr>
                <a:xfrm>
                  <a:off x="3790365" y="2282333"/>
                  <a:ext cx="1181100" cy="87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200"/>
                    </a:spcBef>
                    <a:spcAft>
                      <a:spcPts val="0"/>
                    </a:spcAft>
                    <a:buClr>
                      <a:schemeClr val="dk1"/>
                    </a:buClr>
                    <a:buFont typeface="Arial"/>
                    <a:buNone/>
                  </a:pPr>
                  <a:r>
                    <a:rPr b="1" lang="en" sz="600">
                      <a:solidFill>
                        <a:srgbClr val="E6E9EF"/>
                      </a:solidFill>
                    </a:rPr>
                    <a:t>Google Meet</a:t>
                  </a:r>
                  <a:endParaRPr b="0" i="0" sz="568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1" name="Google Shape;201;p28"/>
                <p:cNvSpPr/>
                <p:nvPr/>
              </p:nvSpPr>
              <p:spPr>
                <a:xfrm>
                  <a:off x="4535070" y="2282333"/>
                  <a:ext cx="978600" cy="87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200"/>
                    </a:spcBef>
                    <a:spcAft>
                      <a:spcPts val="0"/>
                    </a:spcAft>
                    <a:buClr>
                      <a:schemeClr val="dk1"/>
                    </a:buClr>
                    <a:buFont typeface="Arial"/>
                    <a:buNone/>
                  </a:pPr>
                  <a:r>
                    <a:rPr b="1" lang="en" sz="600">
                      <a:solidFill>
                        <a:srgbClr val="E6E9EF"/>
                      </a:solidFill>
                    </a:rPr>
                    <a:t>Whereby</a:t>
                  </a:r>
                  <a:endParaRPr b="0" i="0" sz="568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2" name="Google Shape;202;p28"/>
                <p:cNvSpPr/>
                <p:nvPr/>
              </p:nvSpPr>
              <p:spPr>
                <a:xfrm>
                  <a:off x="5077275" y="2235083"/>
                  <a:ext cx="1204200" cy="18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200"/>
                    </a:spcBef>
                    <a:spcAft>
                      <a:spcPts val="0"/>
                    </a:spcAft>
                    <a:buClr>
                      <a:schemeClr val="dk1"/>
                    </a:buClr>
                    <a:buFont typeface="Arial"/>
                    <a:buNone/>
                  </a:pPr>
                  <a:r>
                    <a:rPr b="1" lang="en" sz="600">
                      <a:solidFill>
                        <a:srgbClr val="E6E9EF"/>
                      </a:solidFill>
                    </a:rPr>
                    <a:t>GoToMeeting</a:t>
                  </a:r>
                  <a:endParaRPr b="1" sz="568">
                    <a:solidFill>
                      <a:srgbClr val="2B3555"/>
                    </a:solidFill>
                  </a:endParaRPr>
                </a:p>
              </p:txBody>
            </p:sp>
          </p:grpSp>
        </p:grpSp>
        <p:grpSp>
          <p:nvGrpSpPr>
            <p:cNvPr id="203" name="Google Shape;203;p28"/>
            <p:cNvGrpSpPr/>
            <p:nvPr/>
          </p:nvGrpSpPr>
          <p:grpSpPr>
            <a:xfrm>
              <a:off x="2667833" y="2563805"/>
              <a:ext cx="2331900" cy="2331600"/>
              <a:chOff x="2667833" y="2563805"/>
              <a:chExt cx="2331900" cy="2331600"/>
            </a:xfrm>
          </p:grpSpPr>
          <p:grpSp>
            <p:nvGrpSpPr>
              <p:cNvPr id="204" name="Google Shape;204;p28"/>
              <p:cNvGrpSpPr/>
              <p:nvPr/>
            </p:nvGrpSpPr>
            <p:grpSpPr>
              <a:xfrm>
                <a:off x="2667833" y="2563805"/>
                <a:ext cx="2331900" cy="2331600"/>
                <a:chOff x="2667833" y="2563805"/>
                <a:chExt cx="2331900" cy="2331600"/>
              </a:xfrm>
            </p:grpSpPr>
            <p:sp>
              <p:nvSpPr>
                <p:cNvPr id="205" name="Google Shape;205;p28"/>
                <p:cNvSpPr/>
                <p:nvPr/>
              </p:nvSpPr>
              <p:spPr>
                <a:xfrm>
                  <a:off x="2667833" y="2563805"/>
                  <a:ext cx="2331900" cy="2331600"/>
                </a:xfrm>
                <a:prstGeom prst="ellipse">
                  <a:avLst/>
                </a:prstGeom>
                <a:solidFill>
                  <a:srgbClr val="C21C6C">
                    <a:alpha val="12940"/>
                  </a:srgbClr>
                </a:solidFill>
                <a:ln cap="flat" cmpd="sng" w="28575">
                  <a:solidFill>
                    <a:srgbClr val="C47CB8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34275" lIns="68575" spcFirstLastPara="1" rIns="68575" wrap="square" tIns="34275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6" name="Google Shape;206;p28"/>
                <p:cNvSpPr txBox="1"/>
                <p:nvPr/>
              </p:nvSpPr>
              <p:spPr>
                <a:xfrm>
                  <a:off x="2772709" y="4449755"/>
                  <a:ext cx="1783200" cy="223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34275" lIns="68575" spcFirstLastPara="1" rIns="68575" wrap="square" tIns="34275">
                  <a:sp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1000">
                      <a:solidFill>
                        <a:srgbClr val="C47CB8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Semantic</a:t>
                  </a:r>
                  <a:endParaRPr sz="1100"/>
                </a:p>
              </p:txBody>
            </p:sp>
          </p:grpSp>
          <p:grpSp>
            <p:nvGrpSpPr>
              <p:cNvPr id="207" name="Google Shape;207;p28"/>
              <p:cNvGrpSpPr/>
              <p:nvPr/>
            </p:nvGrpSpPr>
            <p:grpSpPr>
              <a:xfrm>
                <a:off x="3271898" y="2833244"/>
                <a:ext cx="1476949" cy="844362"/>
                <a:chOff x="3271898" y="2833244"/>
                <a:chExt cx="1476949" cy="844362"/>
              </a:xfrm>
            </p:grpSpPr>
            <p:pic>
              <p:nvPicPr>
                <p:cNvPr descr="/home/claude/logos/trim_wordly.png" id="208" name="Google Shape;208;p28"/>
                <p:cNvPicPr preferRelativeResize="0"/>
                <p:nvPr/>
              </p:nvPicPr>
              <p:blipFill rotWithShape="1">
                <a:blip r:embed="rId7">
                  <a:alphaModFix/>
                </a:blip>
                <a:srcRect b="0" l="0" r="0" t="0"/>
                <a:stretch/>
              </p:blipFill>
              <p:spPr>
                <a:xfrm>
                  <a:off x="3271898" y="2950711"/>
                  <a:ext cx="81792" cy="8458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kudo.png" id="209" name="Google Shape;209;p28"/>
                <p:cNvPicPr preferRelativeResize="0"/>
                <p:nvPr/>
              </p:nvPicPr>
              <p:blipFill rotWithShape="1">
                <a:blip r:embed="rId8">
                  <a:alphaModFix/>
                </a:blip>
                <a:srcRect b="0" l="0" r="0" t="0"/>
                <a:stretch/>
              </p:blipFill>
              <p:spPr>
                <a:xfrm>
                  <a:off x="3271898" y="3064866"/>
                  <a:ext cx="385408" cy="7812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interprefy.png" id="210" name="Google Shape;210;p28"/>
                <p:cNvPicPr preferRelativeResize="0"/>
                <p:nvPr/>
              </p:nvPicPr>
              <p:blipFill rotWithShape="1">
                <a:blip r:embed="rId9">
                  <a:alphaModFix/>
                </a:blip>
                <a:srcRect b="0" l="0" r="0" t="0"/>
                <a:stretch/>
              </p:blipFill>
              <p:spPr>
                <a:xfrm>
                  <a:off x="3271898" y="3172562"/>
                  <a:ext cx="371114" cy="7812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palabra.png" id="211" name="Google Shape;211;p28"/>
                <p:cNvPicPr preferRelativeResize="0"/>
                <p:nvPr/>
              </p:nvPicPr>
              <p:blipFill rotWithShape="1">
                <a:blip r:embed="rId10">
                  <a:alphaModFix/>
                </a:blip>
                <a:srcRect b="0" l="0" r="0" t="0"/>
                <a:stretch/>
              </p:blipFill>
              <p:spPr>
                <a:xfrm>
                  <a:off x="3271898" y="3380907"/>
                  <a:ext cx="74874" cy="8464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jotme.png" id="212" name="Google Shape;212;p28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3271898" y="3488335"/>
                  <a:ext cx="47000" cy="8458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meta.png" id="213" name="Google Shape;213;p28"/>
                <p:cNvPicPr preferRelativeResize="0"/>
                <p:nvPr/>
              </p:nvPicPr>
              <p:blipFill rotWithShape="1">
                <a:blip r:embed="rId12">
                  <a:alphaModFix/>
                </a:blip>
                <a:srcRect b="0" l="0" r="0" t="0"/>
                <a:stretch/>
              </p:blipFill>
              <p:spPr>
                <a:xfrm>
                  <a:off x="3271898" y="3598561"/>
                  <a:ext cx="110683" cy="7904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214" name="Google Shape;214;p28"/>
                <p:cNvSpPr/>
                <p:nvPr/>
              </p:nvSpPr>
              <p:spPr>
                <a:xfrm>
                  <a:off x="3479162" y="2954514"/>
                  <a:ext cx="825600" cy="7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43056"/>
                    </a:buClr>
                    <a:buSzPts val="672"/>
                    <a:buFont typeface="Arial"/>
                    <a:buNone/>
                  </a:pPr>
                  <a:r>
                    <a:rPr b="1" i="0" lang="en" sz="672" u="none" cap="none" strike="noStrike">
                      <a:solidFill>
                        <a:schemeClr val="lt1"/>
                      </a:solidFill>
                    </a:rPr>
                    <a:t>Wordly</a:t>
                  </a:r>
                  <a:endParaRPr i="0" sz="672" u="none" cap="none" strike="noStrike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15" name="Google Shape;215;p28"/>
                <p:cNvSpPr/>
                <p:nvPr/>
              </p:nvSpPr>
              <p:spPr>
                <a:xfrm>
                  <a:off x="3479162" y="3269747"/>
                  <a:ext cx="1077300" cy="7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43056"/>
                    </a:buClr>
                    <a:buSzPts val="672"/>
                    <a:buFont typeface="Arial"/>
                    <a:buNone/>
                  </a:pPr>
                  <a:r>
                    <a:rPr b="1" i="0" lang="en" sz="672" u="none" cap="none" strike="noStrike">
                      <a:solidFill>
                        <a:schemeClr val="lt1"/>
                      </a:solidFill>
                    </a:rPr>
                    <a:t>DeepL Voice</a:t>
                  </a:r>
                  <a:endParaRPr i="0" sz="672" u="none" cap="none" strike="noStrike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16" name="Google Shape;216;p28"/>
                <p:cNvSpPr/>
                <p:nvPr/>
              </p:nvSpPr>
              <p:spPr>
                <a:xfrm>
                  <a:off x="3479162" y="3384163"/>
                  <a:ext cx="972300" cy="7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43056"/>
                    </a:buClr>
                    <a:buSzPts val="672"/>
                    <a:buFont typeface="Arial"/>
                    <a:buNone/>
                  </a:pPr>
                  <a:r>
                    <a:rPr b="1" i="0" lang="en" sz="672" u="none" cap="none" strike="noStrike">
                      <a:solidFill>
                        <a:schemeClr val="lt1"/>
                      </a:solidFill>
                    </a:rPr>
                    <a:t>Palabra.ai</a:t>
                  </a:r>
                  <a:endParaRPr i="0" sz="672" u="none" cap="none" strike="noStrike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17" name="Google Shape;217;p28"/>
                <p:cNvSpPr/>
                <p:nvPr/>
              </p:nvSpPr>
              <p:spPr>
                <a:xfrm>
                  <a:off x="3479162" y="3491590"/>
                  <a:ext cx="761700" cy="7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43056"/>
                    </a:buClr>
                    <a:buSzPts val="672"/>
                    <a:buFont typeface="Arial"/>
                    <a:buNone/>
                  </a:pPr>
                  <a:r>
                    <a:rPr b="1" i="0" lang="en" sz="672" u="none" cap="none" strike="noStrike">
                      <a:solidFill>
                        <a:schemeClr val="lt1"/>
                      </a:solidFill>
                    </a:rPr>
                    <a:t>JotMe</a:t>
                  </a:r>
                  <a:endParaRPr i="0" sz="672" u="none" cap="none" strike="noStrike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18" name="Google Shape;218;p28"/>
                <p:cNvSpPr/>
                <p:nvPr/>
              </p:nvSpPr>
              <p:spPr>
                <a:xfrm>
                  <a:off x="3479162" y="3599018"/>
                  <a:ext cx="1213200" cy="7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43056"/>
                    </a:buClr>
                    <a:buSzPts val="672"/>
                    <a:buFont typeface="Arial"/>
                    <a:buNone/>
                  </a:pPr>
                  <a:r>
                    <a:rPr b="1" i="0" lang="en" sz="672" u="none" cap="none" strike="noStrike">
                      <a:solidFill>
                        <a:schemeClr val="lt1"/>
                      </a:solidFill>
                    </a:rPr>
                    <a:t>Meta Seamless</a:t>
                  </a:r>
                  <a:endParaRPr i="0" sz="672" u="none" cap="none" strike="noStrike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19" name="Google Shape;219;p28"/>
                <p:cNvSpPr/>
                <p:nvPr/>
              </p:nvSpPr>
              <p:spPr>
                <a:xfrm>
                  <a:off x="3669447" y="2847610"/>
                  <a:ext cx="1079400" cy="75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6B7590"/>
                    </a:buClr>
                    <a:buSzPts val="6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chemeClr val="lt1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(AI Companion)</a:t>
                  </a:r>
                  <a:endParaRPr b="0" i="0" sz="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pic>
              <p:nvPicPr>
                <p:cNvPr descr="/home/claude/logos/trim_zoom.png" id="220" name="Google Shape;220;p28"/>
                <p:cNvPicPr preferRelativeResize="0"/>
                <p:nvPr/>
              </p:nvPicPr>
              <p:blipFill rotWithShape="1">
                <a:blip r:embed="rId13">
                  <a:alphaModFix/>
                </a:blip>
                <a:srcRect b="0" l="0" r="0" t="0"/>
                <a:stretch/>
              </p:blipFill>
              <p:spPr>
                <a:xfrm>
                  <a:off x="3271898" y="2833244"/>
                  <a:ext cx="367131" cy="87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221" name="Google Shape;221;p28"/>
                <p:cNvPicPr preferRelativeResize="0"/>
                <p:nvPr/>
              </p:nvPicPr>
              <p:blipFill>
                <a:blip r:embed="rId14">
                  <a:alphaModFix/>
                </a:blip>
                <a:stretch>
                  <a:fillRect/>
                </a:stretch>
              </p:blipFill>
              <p:spPr>
                <a:xfrm>
                  <a:off x="3271898" y="3268877"/>
                  <a:ext cx="74875" cy="79740"/>
                </a:xfrm>
                <a:prstGeom prst="rect">
                  <a:avLst/>
                </a:prstGeom>
                <a:solidFill>
                  <a:srgbClr val="0D1117"/>
                </a:solidFill>
                <a:ln>
                  <a:noFill/>
                </a:ln>
              </p:spPr>
            </p:pic>
          </p:grpSp>
        </p:grpSp>
        <p:grpSp>
          <p:nvGrpSpPr>
            <p:cNvPr id="222" name="Google Shape;222;p28"/>
            <p:cNvGrpSpPr/>
            <p:nvPr/>
          </p:nvGrpSpPr>
          <p:grpSpPr>
            <a:xfrm>
              <a:off x="4149201" y="2563805"/>
              <a:ext cx="2331900" cy="2331600"/>
              <a:chOff x="4149201" y="2563805"/>
              <a:chExt cx="2331900" cy="2331600"/>
            </a:xfrm>
          </p:grpSpPr>
          <p:grpSp>
            <p:nvGrpSpPr>
              <p:cNvPr id="223" name="Google Shape;223;p28"/>
              <p:cNvGrpSpPr/>
              <p:nvPr/>
            </p:nvGrpSpPr>
            <p:grpSpPr>
              <a:xfrm>
                <a:off x="4149201" y="2563805"/>
                <a:ext cx="2331900" cy="2331600"/>
                <a:chOff x="4149201" y="2563805"/>
                <a:chExt cx="2331900" cy="2331600"/>
              </a:xfrm>
            </p:grpSpPr>
            <p:sp>
              <p:nvSpPr>
                <p:cNvPr id="224" name="Google Shape;224;p28"/>
                <p:cNvSpPr/>
                <p:nvPr/>
              </p:nvSpPr>
              <p:spPr>
                <a:xfrm>
                  <a:off x="4149201" y="2563805"/>
                  <a:ext cx="2331900" cy="2331600"/>
                </a:xfrm>
                <a:prstGeom prst="ellipse">
                  <a:avLst/>
                </a:prstGeom>
                <a:solidFill>
                  <a:srgbClr val="47B484">
                    <a:alpha val="19310"/>
                  </a:srgbClr>
                </a:solidFill>
                <a:ln cap="flat" cmpd="sng" w="28575">
                  <a:solidFill>
                    <a:srgbClr val="47B484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34275" lIns="68575" spcFirstLastPara="1" rIns="68575" wrap="square" tIns="34275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5" name="Google Shape;225;p28"/>
                <p:cNvSpPr txBox="1"/>
                <p:nvPr/>
              </p:nvSpPr>
              <p:spPr>
                <a:xfrm>
                  <a:off x="4634195" y="4449755"/>
                  <a:ext cx="1783200" cy="223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34275" lIns="68575" spcFirstLastPara="1" rIns="68575" wrap="square" tIns="34275">
                  <a:sp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1000">
                      <a:solidFill>
                        <a:srgbClr val="4FBF8F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Effectiveness</a:t>
                  </a:r>
                  <a:endParaRPr sz="1100"/>
                </a:p>
              </p:txBody>
            </p:sp>
          </p:grpSp>
          <p:grpSp>
            <p:nvGrpSpPr>
              <p:cNvPr id="226" name="Google Shape;226;p28"/>
              <p:cNvGrpSpPr/>
              <p:nvPr/>
            </p:nvGrpSpPr>
            <p:grpSpPr>
              <a:xfrm>
                <a:off x="5061953" y="2891925"/>
                <a:ext cx="1395403" cy="577200"/>
                <a:chOff x="5061953" y="2891925"/>
                <a:chExt cx="1395403" cy="577200"/>
              </a:xfrm>
            </p:grpSpPr>
            <p:sp>
              <p:nvSpPr>
                <p:cNvPr id="227" name="Google Shape;227;p28"/>
                <p:cNvSpPr txBox="1"/>
                <p:nvPr/>
              </p:nvSpPr>
              <p:spPr>
                <a:xfrm>
                  <a:off x="5154156" y="2891925"/>
                  <a:ext cx="1303200" cy="57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34275" lIns="68575" spcFirstLastPara="1" rIns="68575" wrap="square" tIns="34275">
                  <a:spAutoFit/>
                </a:bodyPr>
                <a:lstStyle/>
                <a:p>
                  <a:pPr indent="0" lvl="0" marL="0" marR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700">
                      <a:solidFill>
                        <a:srgbClr val="E6E9EF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Fireflies.ai</a:t>
                  </a:r>
                  <a:endParaRPr sz="1100"/>
                </a:p>
                <a:p>
                  <a:pPr indent="0" lvl="0" marL="0" marR="0" rtl="0" algn="l">
                    <a:spcBef>
                      <a:spcPts val="200"/>
                    </a:spcBef>
                    <a:spcAft>
                      <a:spcPts val="0"/>
                    </a:spcAft>
                    <a:buNone/>
                  </a:pPr>
                  <a:r>
                    <a:rPr b="1" lang="en" sz="700">
                      <a:solidFill>
                        <a:srgbClr val="E6E9EF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Fellow</a:t>
                  </a:r>
                  <a:endParaRPr b="1" sz="700">
                    <a:solidFill>
                      <a:srgbClr val="E6E9EF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l">
                    <a:spcBef>
                      <a:spcPts val="200"/>
                    </a:spcBef>
                    <a:spcAft>
                      <a:spcPts val="0"/>
                    </a:spcAft>
                    <a:buNone/>
                  </a:pPr>
                  <a:r>
                    <a:rPr b="1" lang="en" sz="700">
                      <a:solidFill>
                        <a:srgbClr val="E6E9EF"/>
                      </a:solidFill>
                    </a:rPr>
                    <a:t>Read.ai</a:t>
                  </a:r>
                  <a:endParaRPr b="1" sz="700">
                    <a:solidFill>
                      <a:srgbClr val="E6E9EF"/>
                    </a:solidFill>
                  </a:endParaRPr>
                </a:p>
                <a:p>
                  <a:pPr indent="0" lvl="0" marL="0" marR="0" rtl="0" algn="l">
                    <a:spcBef>
                      <a:spcPts val="200"/>
                    </a:spcBef>
                    <a:spcAft>
                      <a:spcPts val="0"/>
                    </a:spcAft>
                    <a:buNone/>
                  </a:pPr>
                  <a:r>
                    <a:rPr b="1" lang="en" sz="700">
                      <a:solidFill>
                        <a:srgbClr val="E6E9EF"/>
                      </a:solidFill>
                    </a:rPr>
                    <a:t>MS latecomer patent</a:t>
                  </a:r>
                  <a:endParaRPr b="1" sz="700">
                    <a:solidFill>
                      <a:srgbClr val="E6E9EF"/>
                    </a:solidFill>
                  </a:endParaRPr>
                </a:p>
              </p:txBody>
            </p:sp>
            <p:pic>
              <p:nvPicPr>
                <p:cNvPr descr="/home/claude/logos/trim_fireflies.png" id="228" name="Google Shape;228;p28"/>
                <p:cNvPicPr preferRelativeResize="0"/>
                <p:nvPr/>
              </p:nvPicPr>
              <p:blipFill rotWithShape="1">
                <a:blip r:embed="rId15">
                  <a:alphaModFix/>
                </a:blip>
                <a:srcRect b="0" l="0" r="0" t="0"/>
                <a:stretch/>
              </p:blipFill>
              <p:spPr>
                <a:xfrm>
                  <a:off x="5067570" y="2925052"/>
                  <a:ext cx="74366" cy="8458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readai.png" id="229" name="Google Shape;229;p28"/>
                <p:cNvPicPr preferRelativeResize="0"/>
                <p:nvPr/>
              </p:nvPicPr>
              <p:blipFill rotWithShape="1">
                <a:blip r:embed="rId16">
                  <a:alphaModFix/>
                </a:blip>
                <a:srcRect b="0" l="0" r="0" t="0"/>
                <a:stretch/>
              </p:blipFill>
              <p:spPr>
                <a:xfrm>
                  <a:off x="5065096" y="3200401"/>
                  <a:ext cx="78791" cy="8458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microsoft.png" id="230" name="Google Shape;230;p28"/>
                <p:cNvPicPr preferRelativeResize="0"/>
                <p:nvPr/>
              </p:nvPicPr>
              <p:blipFill rotWithShape="1">
                <a:blip r:embed="rId17">
                  <a:alphaModFix/>
                </a:blip>
                <a:srcRect b="0" l="0" r="0" t="0"/>
                <a:stretch/>
              </p:blipFill>
              <p:spPr>
                <a:xfrm>
                  <a:off x="5061953" y="3338050"/>
                  <a:ext cx="82148" cy="8458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descr="/home/claude/logos/trim_fellow.png" id="231" name="Google Shape;231;p28"/>
                <p:cNvPicPr preferRelativeResize="0"/>
                <p:nvPr/>
              </p:nvPicPr>
              <p:blipFill rotWithShape="1">
                <a:blip r:embed="rId18">
                  <a:alphaModFix/>
                </a:blip>
                <a:srcRect b="0" l="0" r="0" t="0"/>
                <a:stretch/>
              </p:blipFill>
              <p:spPr>
                <a:xfrm>
                  <a:off x="5067570" y="3062701"/>
                  <a:ext cx="76705" cy="8464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</p:grpSp>
      <p:grpSp>
        <p:nvGrpSpPr>
          <p:cNvPr id="232" name="Google Shape;232;p28"/>
          <p:cNvGrpSpPr/>
          <p:nvPr/>
        </p:nvGrpSpPr>
        <p:grpSpPr>
          <a:xfrm>
            <a:off x="4185100" y="3308388"/>
            <a:ext cx="841800" cy="512413"/>
            <a:chOff x="4185100" y="3308388"/>
            <a:chExt cx="841800" cy="512413"/>
          </a:xfrm>
        </p:grpSpPr>
        <p:sp>
          <p:nvSpPr>
            <p:cNvPr id="233" name="Google Shape;233;p28"/>
            <p:cNvSpPr/>
            <p:nvPr/>
          </p:nvSpPr>
          <p:spPr>
            <a:xfrm>
              <a:off x="4376989" y="3308388"/>
              <a:ext cx="390000" cy="118800"/>
            </a:xfrm>
            <a:prstGeom prst="roundRect">
              <a:avLst>
                <a:gd fmla="val 27907" name="adj"/>
              </a:avLst>
            </a:prstGeom>
            <a:solidFill>
              <a:srgbClr val="FFFFFF">
                <a:alpha val="72160"/>
              </a:srgbClr>
            </a:solidFill>
            <a:ln cap="flat" cmpd="sng" w="13425">
              <a:solidFill>
                <a:srgbClr val="0D1117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21525" lIns="21525" spcFirstLastPara="1" rIns="21525" wrap="square" tIns="2152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132043"/>
                </a:buClr>
                <a:buSzPts val="732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132043"/>
                  </a:solidFill>
                </a:rPr>
                <a:t>LINC</a:t>
              </a:r>
              <a:endParaRPr i="0" sz="700" u="none" cap="none" strike="noStrike">
                <a:solidFill>
                  <a:schemeClr val="dk1"/>
                </a:solidFill>
              </a:endParaRPr>
            </a:p>
          </p:txBody>
        </p:sp>
        <p:pic>
          <p:nvPicPr>
            <p:cNvPr id="234" name="Google Shape;234;p28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185100" y="3688615"/>
              <a:ext cx="157375" cy="10505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5" name="Google Shape;235;p28"/>
            <p:cNvSpPr/>
            <p:nvPr/>
          </p:nvSpPr>
          <p:spPr>
            <a:xfrm>
              <a:off x="4377001" y="3638400"/>
              <a:ext cx="625800" cy="18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243056"/>
                </a:buClr>
                <a:buSzPts val="672"/>
                <a:buFont typeface="Arial"/>
                <a:buNone/>
              </a:pPr>
              <a:r>
                <a:rPr b="1" lang="en" sz="472">
                  <a:solidFill>
                    <a:schemeClr val="lt1"/>
                  </a:solidFill>
                </a:rPr>
                <a:t>Live Meeting </a:t>
              </a:r>
              <a:r>
                <a:rPr b="1" lang="en" sz="472">
                  <a:solidFill>
                    <a:schemeClr val="lt1"/>
                  </a:solidFill>
                </a:rPr>
                <a:t>Assistant</a:t>
              </a:r>
              <a:r>
                <a:rPr b="1" lang="en" sz="472">
                  <a:solidFill>
                    <a:schemeClr val="lt1"/>
                  </a:solidFill>
                </a:rPr>
                <a:t> (generic)</a:t>
              </a:r>
              <a:endParaRPr i="0" sz="472" u="none" cap="none" strike="noStrike">
                <a:solidFill>
                  <a:schemeClr val="lt1"/>
                </a:solidFill>
              </a:endParaRPr>
            </a:p>
          </p:txBody>
        </p:sp>
        <p:sp>
          <p:nvSpPr>
            <p:cNvPr id="236" name="Google Shape;236;p28"/>
            <p:cNvSpPr/>
            <p:nvPr/>
          </p:nvSpPr>
          <p:spPr>
            <a:xfrm>
              <a:off x="4401100" y="3397750"/>
              <a:ext cx="625800" cy="16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243056"/>
                </a:buClr>
                <a:buSzPts val="672"/>
                <a:buFont typeface="Arial"/>
                <a:buNone/>
              </a:pPr>
              <a:r>
                <a:rPr b="1" lang="en" sz="472">
                  <a:solidFill>
                    <a:schemeClr val="lt1"/>
                  </a:solidFill>
                </a:rPr>
                <a:t>(Research only)</a:t>
              </a:r>
              <a:endParaRPr i="0" sz="472" u="none" cap="none" strike="noStrike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9"/>
          <p:cNvSpPr txBox="1"/>
          <p:nvPr/>
        </p:nvSpPr>
        <p:spPr>
          <a:xfrm>
            <a:off x="411491" y="240030"/>
            <a:ext cx="82983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Interlinga.ai </a:t>
            </a:r>
            <a:r>
              <a:rPr b="1" lang="en" sz="2300">
                <a:solidFill>
                  <a:srgbClr val="E6E9EF"/>
                </a:solidFill>
              </a:rPr>
              <a:t>breaks all 3 language barriers</a:t>
            </a:r>
            <a:endParaRPr sz="1100"/>
          </a:p>
        </p:txBody>
      </p:sp>
      <p:sp>
        <p:nvSpPr>
          <p:cNvPr id="243" name="Google Shape;243;p29"/>
          <p:cNvSpPr/>
          <p:nvPr/>
        </p:nvSpPr>
        <p:spPr>
          <a:xfrm>
            <a:off x="411491" y="720090"/>
            <a:ext cx="754400" cy="28575"/>
          </a:xfrm>
          <a:prstGeom prst="rect">
            <a:avLst/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4" name="Google Shape;244;p29"/>
          <p:cNvGrpSpPr/>
          <p:nvPr/>
        </p:nvGrpSpPr>
        <p:grpSpPr>
          <a:xfrm>
            <a:off x="411500" y="2648421"/>
            <a:ext cx="8325834" cy="2289378"/>
            <a:chOff x="411491" y="1337310"/>
            <a:chExt cx="8325834" cy="3531900"/>
          </a:xfrm>
        </p:grpSpPr>
        <p:sp>
          <p:nvSpPr>
            <p:cNvPr id="245" name="Google Shape;245;p29"/>
            <p:cNvSpPr/>
            <p:nvPr/>
          </p:nvSpPr>
          <p:spPr>
            <a:xfrm>
              <a:off x="3237062" y="1337310"/>
              <a:ext cx="2674800" cy="3531900"/>
            </a:xfrm>
            <a:prstGeom prst="roundRect">
              <a:avLst>
                <a:gd fmla="val 6000" name="adj"/>
              </a:avLst>
            </a:prstGeom>
            <a:solidFill>
              <a:srgbClr val="171D27"/>
            </a:solidFill>
            <a:ln cap="flat" cmpd="sng" w="9525">
              <a:solidFill>
                <a:srgbClr val="2A334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29"/>
            <p:cNvSpPr/>
            <p:nvPr/>
          </p:nvSpPr>
          <p:spPr>
            <a:xfrm>
              <a:off x="6062634" y="1337310"/>
              <a:ext cx="2674691" cy="3531870"/>
            </a:xfrm>
            <a:prstGeom prst="roundRect">
              <a:avLst>
                <a:gd fmla="val 6000" name="adj"/>
              </a:avLst>
            </a:prstGeom>
            <a:solidFill>
              <a:srgbClr val="171D27"/>
            </a:solidFill>
            <a:ln cap="flat" cmpd="sng" w="9525">
              <a:solidFill>
                <a:srgbClr val="2A334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29"/>
            <p:cNvSpPr/>
            <p:nvPr/>
          </p:nvSpPr>
          <p:spPr>
            <a:xfrm>
              <a:off x="3237062" y="1337310"/>
              <a:ext cx="2674691" cy="38100"/>
            </a:xfrm>
            <a:prstGeom prst="roundRect">
              <a:avLst>
                <a:gd fmla="val 16667" name="adj"/>
              </a:avLst>
            </a:prstGeom>
            <a:solidFill>
              <a:srgbClr val="C47CB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29"/>
            <p:cNvSpPr/>
            <p:nvPr/>
          </p:nvSpPr>
          <p:spPr>
            <a:xfrm>
              <a:off x="6062634" y="1337310"/>
              <a:ext cx="2674691" cy="38100"/>
            </a:xfrm>
            <a:prstGeom prst="roundRect">
              <a:avLst>
                <a:gd fmla="val 16667" name="adj"/>
              </a:avLst>
            </a:prstGeom>
            <a:solidFill>
              <a:srgbClr val="4FBF8F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9" name="Google Shape;249;p29"/>
            <p:cNvSpPr/>
            <p:nvPr/>
          </p:nvSpPr>
          <p:spPr>
            <a:xfrm>
              <a:off x="411491" y="1337310"/>
              <a:ext cx="2674691" cy="3531870"/>
            </a:xfrm>
            <a:prstGeom prst="roundRect">
              <a:avLst>
                <a:gd fmla="val 6000" name="adj"/>
              </a:avLst>
            </a:prstGeom>
            <a:solidFill>
              <a:srgbClr val="171D27"/>
            </a:solidFill>
            <a:ln cap="flat" cmpd="sng" w="9525">
              <a:solidFill>
                <a:srgbClr val="2A334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29"/>
            <p:cNvSpPr/>
            <p:nvPr/>
          </p:nvSpPr>
          <p:spPr>
            <a:xfrm>
              <a:off x="411491" y="1337310"/>
              <a:ext cx="2674800" cy="38100"/>
            </a:xfrm>
            <a:prstGeom prst="roundRect">
              <a:avLst>
                <a:gd fmla="val 16667" name="adj"/>
              </a:avLst>
            </a:prstGeom>
            <a:solidFill>
              <a:srgbClr val="4F7FD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29"/>
            <p:cNvSpPr txBox="1"/>
            <p:nvPr/>
          </p:nvSpPr>
          <p:spPr>
            <a:xfrm>
              <a:off x="582946" y="1543050"/>
              <a:ext cx="2331900" cy="303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4F7FD1"/>
                  </a:solidFill>
                  <a:latin typeface="Arial"/>
                  <a:ea typeface="Arial"/>
                  <a:cs typeface="Arial"/>
                  <a:sym typeface="Arial"/>
                </a:rPr>
                <a:t>Accurate transmission</a:t>
              </a:r>
              <a:endParaRPr b="1" sz="1300">
                <a:solidFill>
                  <a:srgbClr val="4F7FD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300">
                <a:solidFill>
                  <a:srgbClr val="4F7FD1"/>
                </a:solidFill>
              </a:endParaRPr>
            </a:p>
            <a:p>
              <a:pPr indent="-292100" lvl="0" marL="457200" marR="0" rtl="0" algn="l">
                <a:spcBef>
                  <a:spcPts val="90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Font typeface="Arial"/>
                <a:buChar char="●"/>
              </a:pP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LiveKit real-time audio transport</a:t>
              </a:r>
              <a:endParaRPr sz="1000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Font typeface="Arial"/>
                <a:buChar char="●"/>
              </a:pP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Deepgram Nova-3</a:t>
              </a:r>
              <a:r>
                <a:rPr lang="en" sz="1000">
                  <a:solidFill>
                    <a:srgbClr val="E6E9EF"/>
                  </a:solidFill>
                </a:rPr>
                <a:t> (cloud) 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/ </a:t>
              </a:r>
              <a:r>
                <a:rPr lang="en" sz="1000">
                  <a:solidFill>
                    <a:srgbClr val="E6E9EF"/>
                  </a:solidFill>
                </a:rPr>
                <a:t>W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hisper (local) speech-to-text</a:t>
              </a:r>
              <a:endParaRPr sz="1000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Font typeface="Arial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E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very </a:t>
              </a:r>
              <a:r>
                <a:rPr lang="en" sz="1000">
                  <a:solidFill>
                    <a:srgbClr val="E6E9EF"/>
                  </a:solidFill>
                </a:rPr>
                <a:t>caption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 carries a </a:t>
              </a:r>
              <a:r>
                <a:rPr lang="en" sz="1000">
                  <a:solidFill>
                    <a:srgbClr val="E6E9EF"/>
                  </a:solidFill>
                </a:rPr>
                <a:t>Confidence rating: “high” | “medium” | “low” t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o expose exactly where the signal was shaky</a:t>
              </a:r>
              <a:endParaRPr sz="1100"/>
            </a:p>
          </p:txBody>
        </p:sp>
        <p:sp>
          <p:nvSpPr>
            <p:cNvPr id="252" name="Google Shape;252;p29"/>
            <p:cNvSpPr txBox="1"/>
            <p:nvPr/>
          </p:nvSpPr>
          <p:spPr>
            <a:xfrm>
              <a:off x="3408517" y="1543050"/>
              <a:ext cx="2331900" cy="3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C47CB8"/>
                  </a:solidFill>
                  <a:latin typeface="Arial"/>
                  <a:ea typeface="Arial"/>
                  <a:cs typeface="Arial"/>
                  <a:sym typeface="Arial"/>
                </a:rPr>
                <a:t>Shared meaning across languages</a:t>
              </a:r>
              <a:endParaRPr sz="1100"/>
            </a:p>
            <a:p>
              <a:pPr indent="-292100" lvl="0" marL="457200" marR="0" rtl="0" algn="l">
                <a:spcBef>
                  <a:spcPts val="90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Char char="●"/>
              </a:pP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Live two-way translation with large language model</a:t>
              </a:r>
              <a:r>
                <a:rPr lang="en" sz="1000">
                  <a:solidFill>
                    <a:srgbClr val="E6E9EF"/>
                  </a:solidFill>
                </a:rPr>
                <a:t> (Text-to-text, speech-to-text, text-to-speech)</a:t>
              </a:r>
              <a:endParaRPr sz="1000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Translation c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onfidence score</a:t>
              </a:r>
              <a:r>
                <a:rPr lang="en" sz="1000">
                  <a:solidFill>
                    <a:srgbClr val="E6E9EF"/>
                  </a:solidFill>
                </a:rPr>
                <a:t>s </a:t>
              </a:r>
              <a:endParaRPr sz="1000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Cross-modality translation with c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ollaborative whiteboard</a:t>
              </a:r>
              <a:endParaRPr sz="1000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F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eedback loops with “explain simply” and “give an example” buttons </a:t>
              </a:r>
              <a:r>
                <a:rPr lang="en" sz="1000">
                  <a:solidFill>
                    <a:srgbClr val="E6E9EF"/>
                  </a:solidFill>
                </a:rPr>
                <a:t>on every caption</a:t>
              </a:r>
              <a:endParaRPr sz="1100"/>
            </a:p>
          </p:txBody>
        </p:sp>
        <p:sp>
          <p:nvSpPr>
            <p:cNvPr id="253" name="Google Shape;253;p29"/>
            <p:cNvSpPr txBox="1"/>
            <p:nvPr/>
          </p:nvSpPr>
          <p:spPr>
            <a:xfrm>
              <a:off x="6234091" y="1543047"/>
              <a:ext cx="2415900" cy="280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4FBF8F"/>
                  </a:solidFill>
                  <a:latin typeface="Arial"/>
                  <a:ea typeface="Arial"/>
                  <a:cs typeface="Arial"/>
                  <a:sym typeface="Arial"/>
                </a:rPr>
                <a:t>Confirm it changed understanding</a:t>
              </a:r>
              <a:endParaRPr sz="1100"/>
            </a:p>
            <a:p>
              <a:pPr indent="-292100" lvl="0" marL="457200" marR="0" rtl="0" algn="l">
                <a:spcBef>
                  <a:spcPts val="90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Font typeface="Arial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Identifies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 current-activity, decisions, blockers </a:t>
              </a:r>
              <a:r>
                <a:rPr lang="en" sz="1000">
                  <a:solidFill>
                    <a:srgbClr val="E6E9EF"/>
                  </a:solidFill>
                </a:rPr>
                <a:t>with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b="0" lang="en" sz="1000" u="sng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traceable quotes</a:t>
              </a:r>
              <a:endParaRPr sz="1000" u="sng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Font typeface="Arial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Gauges g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roup confusion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-level </a:t>
              </a:r>
              <a:endParaRPr sz="1000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Font typeface="Arial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Detects </a:t>
              </a:r>
              <a:r>
                <a:rPr lang="en" sz="1000" u="sng">
                  <a:solidFill>
                    <a:srgbClr val="E6E9EF"/>
                  </a:solidFill>
                </a:rPr>
                <a:t>p</a:t>
              </a:r>
              <a:r>
                <a:rPr b="0" lang="en" sz="1000" u="sng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er-learner 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confusion </a:t>
              </a:r>
              <a:endParaRPr sz="1000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Font typeface="Arial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Measures bl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ocker resolution time</a:t>
              </a:r>
              <a:endParaRPr sz="1000">
                <a:solidFill>
                  <a:srgbClr val="E6E9EF"/>
                </a:solidFill>
              </a:endParaRPr>
            </a:p>
            <a:p>
              <a:pPr indent="-292100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6E9EF"/>
                </a:buClr>
                <a:buSzPts val="1000"/>
                <a:buFont typeface="Arial"/>
                <a:buChar char="●"/>
              </a:pPr>
              <a:r>
                <a:rPr lang="en" sz="1000">
                  <a:solidFill>
                    <a:srgbClr val="E6E9EF"/>
                  </a:solidFill>
                </a:rPr>
                <a:t>Analyzes c</a:t>
              </a:r>
              <a:r>
                <a:rPr b="0" lang="en" sz="1000">
                  <a:solidFill>
                    <a:srgbClr val="E6E9EF"/>
                  </a:solidFill>
                  <a:latin typeface="Arial"/>
                  <a:ea typeface="Arial"/>
                  <a:cs typeface="Arial"/>
                  <a:sym typeface="Arial"/>
                </a:rPr>
                <a:t>onfidence trends</a:t>
              </a:r>
              <a:endParaRPr sz="1100"/>
            </a:p>
          </p:txBody>
        </p:sp>
      </p:grpSp>
      <p:sp>
        <p:nvSpPr>
          <p:cNvPr id="254" name="Google Shape;254;p29"/>
          <p:cNvSpPr txBox="1"/>
          <p:nvPr/>
        </p:nvSpPr>
        <p:spPr>
          <a:xfrm>
            <a:off x="1806402" y="2012270"/>
            <a:ext cx="5421000" cy="5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3900" lIns="47850" spcFirstLastPara="1" rIns="47850" wrap="square" tIns="239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139" u="none" cap="none" strike="noStrike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Interlinga.</a:t>
            </a:r>
            <a:r>
              <a:rPr b="1" i="0" lang="en" sz="3139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sz="767">
              <a:solidFill>
                <a:schemeClr val="accent1"/>
              </a:solidFill>
            </a:endParaRPr>
          </a:p>
        </p:txBody>
      </p:sp>
      <p:pic>
        <p:nvPicPr>
          <p:cNvPr descr="/home/claude/interlinga-deck/logo_mark.png" id="255" name="Google Shape;25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0453" y="943937"/>
            <a:ext cx="1272948" cy="932787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9"/>
          <p:cNvSpPr/>
          <p:nvPr/>
        </p:nvSpPr>
        <p:spPr>
          <a:xfrm>
            <a:off x="3059936" y="3698387"/>
            <a:ext cx="205800" cy="205800"/>
          </a:xfrm>
          <a:prstGeom prst="chevron">
            <a:avLst>
              <a:gd fmla="val 50000" name="adj"/>
            </a:avLst>
          </a:prstGeom>
          <a:solidFill>
            <a:srgbClr val="8B93A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9"/>
          <p:cNvSpPr/>
          <p:nvPr/>
        </p:nvSpPr>
        <p:spPr>
          <a:xfrm>
            <a:off x="5872780" y="3698412"/>
            <a:ext cx="205800" cy="205800"/>
          </a:xfrm>
          <a:prstGeom prst="chevron">
            <a:avLst>
              <a:gd fmla="val 50000" name="adj"/>
            </a:avLst>
          </a:prstGeom>
          <a:solidFill>
            <a:srgbClr val="8B93A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0"/>
          <p:cNvSpPr/>
          <p:nvPr/>
        </p:nvSpPr>
        <p:spPr>
          <a:xfrm>
            <a:off x="-12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0"/>
          <p:cNvSpPr txBox="1"/>
          <p:nvPr/>
        </p:nvSpPr>
        <p:spPr>
          <a:xfrm>
            <a:off x="411491" y="240030"/>
            <a:ext cx="82983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Interlinga.ai is </a:t>
            </a:r>
            <a:r>
              <a:rPr b="1" lang="en" sz="2300">
                <a:solidFill>
                  <a:srgbClr val="E6E9EF"/>
                </a:solidFill>
              </a:rPr>
              <a:t>accessible</a:t>
            </a:r>
            <a:endParaRPr sz="1100"/>
          </a:p>
        </p:txBody>
      </p:sp>
      <p:sp>
        <p:nvSpPr>
          <p:cNvPr id="264" name="Google Shape;264;p30"/>
          <p:cNvSpPr/>
          <p:nvPr/>
        </p:nvSpPr>
        <p:spPr>
          <a:xfrm>
            <a:off x="411491" y="720090"/>
            <a:ext cx="754400" cy="28575"/>
          </a:xfrm>
          <a:prstGeom prst="rect">
            <a:avLst/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0"/>
          <p:cNvSpPr txBox="1"/>
          <p:nvPr/>
        </p:nvSpPr>
        <p:spPr>
          <a:xfrm>
            <a:off x="411491" y="891540"/>
            <a:ext cx="82983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8B93A3"/>
                </a:solidFill>
                <a:latin typeface="Arial"/>
                <a:ea typeface="Arial"/>
                <a:cs typeface="Arial"/>
                <a:sym typeface="Arial"/>
              </a:rPr>
              <a:t>Substantially WCAG 2.1 AA.</a:t>
            </a:r>
            <a:endParaRPr sz="1100"/>
          </a:p>
        </p:txBody>
      </p:sp>
      <p:graphicFrame>
        <p:nvGraphicFramePr>
          <p:cNvPr id="266" name="Google Shape;266;p30"/>
          <p:cNvGraphicFramePr/>
          <p:nvPr/>
        </p:nvGraphicFramePr>
        <p:xfrm>
          <a:off x="342909" y="11521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{62FB5690-A4E3-496F-A566-A1613EFCE2B5}</a:tableStyleId>
              </a:tblPr>
              <a:tblGrid>
                <a:gridCol w="925850"/>
                <a:gridCol w="1337325"/>
                <a:gridCol w="720100"/>
                <a:gridCol w="5472800"/>
              </a:tblGrid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 u="none" cap="none" strike="noStrike">
                          <a:solidFill>
                            <a:srgbClr val="4F7FD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7FD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Criterion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7FD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Verdict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7FD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Evidence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71D27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1.2.4 · AA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 captions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BF8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Live, translated, confidence-scored captions shipped and running.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2.4.1 · 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Bypass blocks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BF8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skip-to-main-content link (sr-only → focus:not-sr-only). AppShell.tsx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4.1.2 · 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Name, role, value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BF8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Every media control has an explicit, localized aria-label — mic, camera, screen-share, settings, leave — via a shared button component. MeetingToolbar.tsx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4.1.3 · AA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messages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BF8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aria-live="polite" on transcript feed &amp; chat — deliberately not "assertive," by comment.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3.1.1 · 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Language of page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BF8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&lt;html lang&gt; set dynamically per session language.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2.4.7 · AA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Focus visible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BF8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Consistent focus:ring pattern app-wide, plus a UAT pass (#125) that found &amp; fixed real keyboard-focus loss after confirm dialogs.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1.4.4 · AA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Resize text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BF8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App-wide font-size control, not scoped to one panel. AccessibilityPanel.tsx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1.4.3 / 1.4.11 · AA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Contrast (text &amp; non-text)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4FBF8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3.73:1 button fill (below the 4.5:1 minimum) was caught and fixed with a dedicated --accent-fill token, verified across all four themes.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2.1.1 · 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Keyboard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D9A94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Partial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 call controls fully keyboard-operable. The whiteboard (merged, PR #129) inherits Excalidraw's own partial keyboard support — freeform canvas navigation is limited, same as Miro/FigJam industry-wide.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10141B"/>
                    </a:solidFill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8B93A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2.3.3 · AAA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Animation from interactions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rgbClr val="E26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Gap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rgbClr val="E6E9E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prefers-reduced-motion handling found. AAA, not required for an AA claim.</a:t>
                      </a:r>
                      <a:endParaRPr sz="1100"/>
                    </a:p>
                  </a:txBody>
                  <a:tcPr marT="13725" marB="13725" marR="54875" marL="54875" anchor="ctr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1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31"/>
          <p:cNvSpPr txBox="1"/>
          <p:nvPr/>
        </p:nvSpPr>
        <p:spPr>
          <a:xfrm>
            <a:off x="411491" y="240030"/>
            <a:ext cx="82983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rgbClr val="E6E9EF"/>
                </a:solidFill>
                <a:latin typeface="Arial"/>
                <a:ea typeface="Arial"/>
                <a:cs typeface="Arial"/>
                <a:sym typeface="Arial"/>
              </a:rPr>
              <a:t>Interlinga.ai respects </a:t>
            </a:r>
            <a:r>
              <a:rPr b="1" lang="en" sz="2300">
                <a:solidFill>
                  <a:srgbClr val="E6E9EF"/>
                </a:solidFill>
              </a:rPr>
              <a:t>privacy</a:t>
            </a:r>
            <a:endParaRPr sz="1100"/>
          </a:p>
        </p:txBody>
      </p:sp>
      <p:sp>
        <p:nvSpPr>
          <p:cNvPr id="273" name="Google Shape;273;p31"/>
          <p:cNvSpPr/>
          <p:nvPr/>
        </p:nvSpPr>
        <p:spPr>
          <a:xfrm>
            <a:off x="411491" y="720090"/>
            <a:ext cx="754400" cy="28575"/>
          </a:xfrm>
          <a:prstGeom prst="rect">
            <a:avLst/>
          </a:prstGeom>
          <a:solidFill>
            <a:srgbClr val="4F7FD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TextBox 273"/>
          <p:cNvSpPr txBox="1"/>
          <p:nvPr/>
        </p:nvSpPr>
        <p:spPr>
          <a:xfrm>
            <a:off x="411491" y="891540"/>
            <a:ext cx="82983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3A3"/>
                </a:solidFill>
                <a:latin typeface="Arial"/>
              </a:rPr>
              <a:t>Privacy is decided at session creation, before a single word is spoken — enforced in code, not promised in a policy.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411491" y="1400000"/>
            <a:ext cx="1268764" cy="72009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E6E9EF"/>
                </a:solidFill>
                <a:latin typeface="Arial"/>
              </a:rPr>
              <a:t>AUDIO</a:t>
            </a:r>
          </a:p>
          <a:p>
            <a:pPr algn="ctr"/>
            <a:r>
              <a:rPr sz="1100" b="1" i="0">
                <a:solidFill>
                  <a:srgbClr val="E6E9EF"/>
                </a:solidFill>
                <a:latin typeface="Arial"/>
              </a:rPr>
              <a:t>IN</a:t>
            </a:r>
          </a:p>
        </p:txBody>
      </p:sp>
      <p:sp>
        <p:nvSpPr>
          <p:cNvPr id="276" name="Rounded Rectangle 275"/>
          <p:cNvSpPr/>
          <p:nvPr/>
        </p:nvSpPr>
        <p:spPr>
          <a:xfrm>
            <a:off x="2754669" y="1400000"/>
            <a:ext cx="1268764" cy="72009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E6E9EF"/>
                </a:solidFill>
                <a:latin typeface="Arial"/>
              </a:rPr>
              <a:t>STT +</a:t>
            </a:r>
          </a:p>
          <a:p>
            <a:pPr algn="ctr"/>
            <a:r>
              <a:rPr sz="1100" b="1" i="0">
                <a:solidFill>
                  <a:srgbClr val="E6E9EF"/>
                </a:solidFill>
                <a:latin typeface="Arial"/>
              </a:rPr>
              <a:t>TRANSLATE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097847" y="1400000"/>
            <a:ext cx="1268764" cy="72009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E6E9EF"/>
                </a:solidFill>
                <a:latin typeface="Arial"/>
              </a:rPr>
              <a:t>INSIGHT</a:t>
            </a:r>
          </a:p>
          <a:p>
            <a:pPr algn="ctr"/>
            <a:r>
              <a:rPr sz="1100" b="1" i="0">
                <a:solidFill>
                  <a:srgbClr val="E6E9EF"/>
                </a:solidFill>
                <a:latin typeface="Arial"/>
              </a:rPr>
              <a:t>LAYER</a:t>
            </a:r>
          </a:p>
        </p:txBody>
      </p:sp>
      <p:sp>
        <p:nvSpPr>
          <p:cNvPr id="278" name="Rounded Rectangle 277"/>
          <p:cNvSpPr/>
          <p:nvPr/>
        </p:nvSpPr>
        <p:spPr>
          <a:xfrm>
            <a:off x="7441025" y="1400000"/>
            <a:ext cx="1268764" cy="72009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E6E9EF"/>
                </a:solidFill>
                <a:latin typeface="Arial"/>
              </a:rPr>
              <a:t>LEARNER'S</a:t>
            </a:r>
          </a:p>
          <a:p>
            <a:pPr algn="ctr"/>
            <a:r>
              <a:rPr sz="1100" b="1" i="0">
                <a:solidFill>
                  <a:srgbClr val="E6E9EF"/>
                </a:solidFill>
                <a:latin typeface="Arial"/>
              </a:rPr>
              <a:t>SCREEN</a:t>
            </a:r>
          </a:p>
        </p:txBody>
      </p:sp>
      <p:sp>
        <p:nvSpPr>
          <p:cNvPr id="279" name="Chevron 278"/>
          <p:cNvSpPr/>
          <p:nvPr/>
        </p:nvSpPr>
        <p:spPr>
          <a:xfrm>
            <a:off x="2100873" y="1643456"/>
            <a:ext cx="233178" cy="233178"/>
          </a:xfrm>
          <a:prstGeom prst="chevron">
            <a:avLst/>
          </a:prstGeom>
          <a:solidFill>
            <a:srgbClr val="4F7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Chevron 279"/>
          <p:cNvSpPr/>
          <p:nvPr/>
        </p:nvSpPr>
        <p:spPr>
          <a:xfrm>
            <a:off x="4444051" y="1643456"/>
            <a:ext cx="233178" cy="233178"/>
          </a:xfrm>
          <a:prstGeom prst="chevron">
            <a:avLst/>
          </a:prstGeom>
          <a:solidFill>
            <a:srgbClr val="8B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Chevron 280"/>
          <p:cNvSpPr/>
          <p:nvPr/>
        </p:nvSpPr>
        <p:spPr>
          <a:xfrm>
            <a:off x="6787229" y="1643456"/>
            <a:ext cx="233178" cy="233178"/>
          </a:xfrm>
          <a:prstGeom prst="chevron">
            <a:avLst/>
          </a:prstGeom>
          <a:solidFill>
            <a:srgbClr val="C47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1217462" y="2146090"/>
            <a:ext cx="2000000" cy="3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4F7FD1"/>
                </a:solidFill>
                <a:latin typeface="Arial"/>
              </a:rPr>
              <a:t>NOT RECORDED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8B93A3"/>
                </a:solidFill>
                <a:latin typeface="Arial"/>
              </a:rPr>
              <a:t>audio stored only if a facilitator opts in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5903818" y="2146090"/>
            <a:ext cx="2000000" cy="3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C47CB8"/>
                </a:solidFill>
                <a:latin typeface="Arial"/>
              </a:rPr>
              <a:t>REDACTED SERVER-SIDE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8B93A3"/>
                </a:solidFill>
                <a:latin typeface="Arial"/>
              </a:rPr>
              <a:t>names stripped before the page ever renders</a:t>
            </a:r>
          </a:p>
        </p:txBody>
      </p:sp>
      <p:sp>
        <p:nvSpPr>
          <p:cNvPr id="284" name="Up Arrow 283"/>
          <p:cNvSpPr/>
          <p:nvPr/>
        </p:nvSpPr>
        <p:spPr>
          <a:xfrm>
            <a:off x="3289051" y="2420090"/>
            <a:ext cx="200000" cy="260000"/>
          </a:xfrm>
          <a:prstGeom prst="upArrow">
            <a:avLst/>
          </a:prstGeom>
          <a:solidFill>
            <a:srgbClr val="4FB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Up Arrow 284"/>
          <p:cNvSpPr/>
          <p:nvPr/>
        </p:nvSpPr>
        <p:spPr>
          <a:xfrm>
            <a:off x="5632229" y="2420090"/>
            <a:ext cx="200000" cy="260000"/>
          </a:xfrm>
          <a:prstGeom prst="upArrow">
            <a:avLst/>
          </a:prstGeom>
          <a:solidFill>
            <a:srgbClr val="4FB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ounded Rectangle 285"/>
          <p:cNvSpPr/>
          <p:nvPr/>
        </p:nvSpPr>
        <p:spPr>
          <a:xfrm>
            <a:off x="2754669" y="2700090"/>
            <a:ext cx="3611942" cy="620000"/>
          </a:xfrm>
          <a:prstGeom prst="roundRect">
            <a:avLst>
              <a:gd name="adj" fmla="val 6000"/>
            </a:avLst>
          </a:prstGeom>
          <a:solidFill>
            <a:srgbClr val="10141B"/>
          </a:solidFill>
          <a:ln w="15875">
            <a:solidFill>
              <a:srgbClr val="4FB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rIns="140000"/>
          <a:lstStyle/>
          <a:p>
            <a:pPr algn="ctr"/>
            <a:r>
              <a:rPr sz="1100" b="1" i="0">
                <a:solidFill>
                  <a:srgbClr val="4FBF8F"/>
                </a:solidFill>
                <a:latin typeface="Arial"/>
              </a:rPr>
              <a:t>LOCAL_ONLY MODE</a:t>
            </a:r>
          </a:p>
          <a:p>
            <a:pPr algn="ctr">
              <a:spcBef>
                <a:spcPts val="300"/>
              </a:spcBef>
            </a:pPr>
            <a:r>
              <a:rPr sz="1050" b="0" i="0">
                <a:solidFill>
                  <a:srgbClr val="E6E9EF"/>
                </a:solidFill>
                <a:latin typeface="Arial"/>
              </a:rPr>
              <a:t>STT and translation stay on self-hosted infrastructure; the Claude insight layer simply doesn’t run.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411491" y="3510090"/>
            <a:ext cx="4049150" cy="900000"/>
          </a:xfrm>
          <a:prstGeom prst="roundRect">
            <a:avLst>
              <a:gd name="adj" fmla="val 6000"/>
            </a:avLst>
          </a:prstGeom>
          <a:solidFill>
            <a:srgbClr val="171D27"/>
          </a:solidFill>
          <a:ln w="12700">
            <a:solidFill>
              <a:srgbClr val="4F7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60000" bIns="60000"/>
          <a:lstStyle/>
          <a:p>
            <a:pPr algn="ctr"/>
            <a:r>
              <a:rPr sz="1050" b="1" i="0">
                <a:solidFill>
                  <a:srgbClr val="4F7FD1"/>
                </a:solidFill>
                <a:latin typeface="Arial"/>
              </a:rPr>
              <a:t>RETENTION SET UP FRONT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E6E9EF"/>
                </a:solidFill>
                <a:latin typeface="Arial"/>
              </a:rPr>
              <a:t>1 / 7 / 30 days, chosen at session creation — an hourly job deletes every cascading row (transcript, chat, insights) past deadline.</a:t>
            </a:r>
          </a:p>
        </p:txBody>
      </p:sp>
      <p:sp>
        <p:nvSpPr>
          <p:cNvPr id="288" name="Rounded Rectangle 287"/>
          <p:cNvSpPr/>
          <p:nvPr/>
        </p:nvSpPr>
        <p:spPr>
          <a:xfrm>
            <a:off x="4660641" y="3510090"/>
            <a:ext cx="4049150" cy="900000"/>
          </a:xfrm>
          <a:prstGeom prst="roundRect">
            <a:avLst>
              <a:gd name="adj" fmla="val 6000"/>
            </a:avLst>
          </a:prstGeom>
          <a:solidFill>
            <a:srgbClr val="171D27"/>
          </a:solidFill>
          <a:ln w="12700">
            <a:solidFill>
              <a:srgbClr val="C47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60000" bIns="60000"/>
          <a:lstStyle/>
          <a:p>
            <a:pPr algn="ctr"/>
            <a:r>
              <a:rPr sz="1050" b="1" i="0">
                <a:solidFill>
                  <a:srgbClr val="C47CB8"/>
                </a:solidFill>
                <a:latin typeface="Arial"/>
              </a:rPr>
              <a:t>SENSITIVE SIGNALS STAY SCOPED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E6E9EF"/>
                </a:solidFill>
                <a:latin typeface="Arial"/>
              </a:rPr>
              <a:t>Per-learner confusion levels and analytics are gated to facilitators; private messages are filtered out of the query itself.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0" name="Background 10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1" name="Title 1001"/>
          <p:cNvSpPr txBox="1"/>
          <p:nvPr/>
        </p:nvSpPr>
        <p:spPr>
          <a:xfrm>
            <a:off x="411491" y="240030"/>
            <a:ext cx="8298300" cy="423300"/>
          </a:xfrm>
          <a:prstGeom prst="rect">
            <a:avLst/>
          </a:prstGeom>
          <a:noFill/>
        </p:spPr>
        <p:txBody>
          <a:bodyPr anchorCtr="0" anchor="t" bIns="34275" lIns="68575" rIns="68575" tIns="34275" wrap="square">
            <a:spAutoFit/>
          </a:bodyPr>
          <a:lstStyle/>
          <a:p>
            <a:pPr indent="0" lvl="0" marL="0" marR="0" algn="l">
              <a:spcBef>
                <a:spcPts val="0"/>
              </a:spcBef>
              <a:buNone/>
            </a:pPr>
            <a:r>
              <a:rPr sz="23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Interlinga.ai — Tech Architecture</a:t>
            </a:r>
          </a:p>
        </p:txBody>
      </p:sp>
      <p:sp>
        <p:nvSpPr>
          <p:cNvPr id="1002" name="Underline 1002"/>
          <p:cNvSpPr/>
          <p:nvPr/>
        </p:nvSpPr>
        <p:spPr>
          <a:xfrm>
            <a:off x="411491" y="720090"/>
            <a:ext cx="754400" cy="28575"/>
          </a:xfrm>
          <a:prstGeom prst="rect">
            <a:avLst/>
          </a:prstGeom>
          <a:solidFill>
            <a:srgbClr val="4F7F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3" name="Text 1003"/>
          <p:cNvSpPr txBox="1"/>
          <p:nvPr/>
        </p:nvSpPr>
        <p:spPr>
          <a:xfrm>
            <a:off x="411491" y="788665"/>
            <a:ext cx="8298300" cy="2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indent="0" marL="0" marR="0"/>
            <a:r>
              <a:rPr sz="110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Every capability sits behind a provider interface. </a:t>
            </a:r>
            <a:r>
              <a:rPr sz="1100" b="1" i="0" lang="en">
                <a:solidFill>
                  <a:srgbClr val="4FBF8F"/>
                </a:solidFill>
                <a:latin typeface="Arial"/>
                <a:ea typeface="Arial"/>
                <a:cs typeface="Arial"/>
              </a:rPr>
              <a:t>Self-hosted (local-inference)</a:t>
            </a:r>
            <a:r>
              <a:rPr sz="110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 is tried first; </a:t>
            </a:r>
            <a:r>
              <a:rPr sz="1100" b="1" i="0" lang="en">
                <a:solidFill>
                  <a:srgbClr val="4F7FD1"/>
                </a:solidFill>
                <a:latin typeface="Arial"/>
                <a:ea typeface="Arial"/>
                <a:cs typeface="Arial"/>
              </a:rPr>
              <a:t>managed cloud APIs</a:t>
            </a:r>
            <a:r>
              <a:rPr sz="110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 are the automatic fallback.</a:t>
            </a:r>
          </a:p>
        </p:txBody>
      </p:sp>
      <p:sp>
        <p:nvSpPr>
          <p:cNvPr id="1004" name="Card 1004"/>
          <p:cNvSpPr/>
          <p:nvPr/>
        </p:nvSpPr>
        <p:spPr>
          <a:xfrm>
            <a:off x="411491" y="1058665"/>
            <a:ext cx="8298300" cy="42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txBody>
          <a:bodyPr rtlCol="0" anchor="ctr" wrap="square" lIns="45720" rIns="45720" tIns="18000" bIns="18000"/>
          <a:lstStyle/>
          <a:p>
            <a:pPr algn="ctr" indent="0" marL="0" marR="0"/>
            <a:r>
              <a:rPr sz="11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FACILITATOR / LEARNER BROWSER</a:t>
            </a:r>
          </a:p>
          <a:p>
            <a:pPr algn="ctr" indent="0" marL="0" marR="0">
              <a:spcBef>
                <a:spcPts val="200"/>
              </a:spcBef>
            </a:pPr>
            <a:r>
              <a:rPr sz="85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Next.js (App Router) + TypeScript · LiveKit client SDK (mic/camera) · chat</a:t>
            </a:r>
          </a:p>
        </p:txBody>
      </p:sp>
      <p:sp>
        <p:nvSpPr>
          <p:cNvPr id="1005" name="Chevron 1005"/>
          <p:cNvSpPr/>
          <p:nvPr/>
        </p:nvSpPr>
        <p:spPr>
          <a:xfrm rot="5400000">
            <a:off x="4495641" y="1483665"/>
            <a:ext cx="130000" cy="130000"/>
          </a:xfrm>
          <a:prstGeom prst="chevron">
            <a:avLst/>
          </a:prstGeom>
          <a:solidFill>
            <a:srgbClr val="8B93A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6" name="Card 1006"/>
          <p:cNvSpPr/>
          <p:nvPr/>
        </p:nvSpPr>
        <p:spPr>
          <a:xfrm>
            <a:off x="411491" y="1618665"/>
            <a:ext cx="4900000" cy="4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5875">
            <a:solidFill>
              <a:srgbClr val="C47CB8"/>
            </a:solidFill>
          </a:ln>
          <a:effectLst/>
        </p:spPr>
        <p:txBody>
          <a:bodyPr rtlCol="0" anchor="ctr" wrap="square" lIns="45720" rIns="45720" tIns="18000" bIns="18000"/>
          <a:lstStyle/>
          <a:p>
            <a:pPr algn="ctr" indent="0" marL="0" marR="0"/>
            <a:r>
              <a:rPr sz="11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LIVEKIT ROOM (WebRTC)</a:t>
            </a:r>
          </a:p>
          <a:p>
            <a:pPr algn="ctr" indent="0" marL="0" marR="0">
              <a:spcBef>
                <a:spcPts val="200"/>
              </a:spcBef>
            </a:pPr>
            <a:r>
              <a:rPr sz="85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WebRTC audio/video · DataChannel carries the caption signal</a:t>
            </a:r>
          </a:p>
        </p:txBody>
      </p:sp>
      <p:sp>
        <p:nvSpPr>
          <p:cNvPr id="1007" name="Card 1007"/>
          <p:cNvSpPr/>
          <p:nvPr/>
        </p:nvSpPr>
        <p:spPr>
          <a:xfrm>
            <a:off x="5401491" y="1618665"/>
            <a:ext cx="3308300" cy="4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5875">
            <a:solidFill>
              <a:srgbClr val="4F7FD1"/>
            </a:solidFill>
          </a:ln>
          <a:effectLst/>
        </p:spPr>
        <p:txBody>
          <a:bodyPr rtlCol="0" anchor="ctr" wrap="square" lIns="45720" rIns="45720" tIns="18000" bIns="18000"/>
          <a:lstStyle/>
          <a:p>
            <a:pPr algn="ctr" indent="0" marL="0" marR="0"/>
            <a:r>
              <a:rPr sz="11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CAPTION AGENT WORKER</a:t>
            </a:r>
          </a:p>
          <a:p>
            <a:pPr algn="ctr" indent="0" marL="0" marR="0">
              <a:spcBef>
                <a:spcPts val="200"/>
              </a:spcBef>
            </a:pPr>
            <a:r>
              <a:rPr sz="85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In-process LiveKit Agents job (server.ts)</a:t>
            </a:r>
          </a:p>
        </p:txBody>
      </p:sp>
      <p:sp>
        <p:nvSpPr>
          <p:cNvPr id="1008" name="Chevron 1008"/>
          <p:cNvSpPr/>
          <p:nvPr/>
        </p:nvSpPr>
        <p:spPr>
          <a:xfrm rot="5400000">
            <a:off x="4495641" y="2083665"/>
            <a:ext cx="130000" cy="130000"/>
          </a:xfrm>
          <a:prstGeom prst="chevron">
            <a:avLst/>
          </a:prstGeom>
          <a:solidFill>
            <a:srgbClr val="8B93A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9" name="Card 1009"/>
          <p:cNvSpPr/>
          <p:nvPr/>
        </p:nvSpPr>
        <p:spPr>
          <a:xfrm>
            <a:off x="411491" y="2218665"/>
            <a:ext cx="2007075" cy="3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SPEECH-TO-TEXT</a:t>
            </a:r>
          </a:p>
        </p:txBody>
      </p:sp>
      <p:sp>
        <p:nvSpPr>
          <p:cNvPr id="1010" name="Card 1010"/>
          <p:cNvSpPr/>
          <p:nvPr/>
        </p:nvSpPr>
        <p:spPr>
          <a:xfrm>
            <a:off x="411491" y="2618665"/>
            <a:ext cx="2007075" cy="360000"/>
          </a:xfrm>
          <a:prstGeom prst="roundRect">
            <a:avLst>
              <a:gd name="adj" fmla="val 10000"/>
            </a:avLst>
          </a:prstGeom>
          <a:solidFill>
            <a:srgbClr val="171D27"/>
          </a:solidFill>
          <a:ln w="12700">
            <a:solidFill>
              <a:srgbClr val="4FBF8F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4FBF8F"/>
                </a:solidFill>
                <a:latin typeface="Arial"/>
                <a:ea typeface="Arial"/>
                <a:cs typeface="Arial"/>
              </a:rPr>
              <a:t>faster-whisper</a:t>
            </a:r>
          </a:p>
          <a:p>
            <a:pPr algn="ctr" indent="0" marL="0" marR="0">
              <a:spcBef>
                <a:spcPts val="150"/>
              </a:spcBef>
            </a:pPr>
            <a:r>
              <a:rPr sz="82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local-inference · tried first</a:t>
            </a:r>
          </a:p>
        </p:txBody>
      </p:sp>
      <p:sp>
        <p:nvSpPr>
          <p:cNvPr id="1011" name="Card 1011"/>
          <p:cNvSpPr/>
          <p:nvPr/>
        </p:nvSpPr>
        <p:spPr>
          <a:xfrm>
            <a:off x="411491" y="3018665"/>
            <a:ext cx="2007075" cy="360000"/>
          </a:xfrm>
          <a:prstGeom prst="roundRect">
            <a:avLst>
              <a:gd name="adj" fmla="val 10000"/>
            </a:avLst>
          </a:prstGeom>
          <a:solidFill>
            <a:srgbClr val="171D27"/>
          </a:solidFill>
          <a:ln w="12700">
            <a:solidFill>
              <a:srgbClr val="4F7FD1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4F7FD1"/>
                </a:solidFill>
                <a:latin typeface="Arial"/>
                <a:ea typeface="Arial"/>
                <a:cs typeface="Arial"/>
              </a:rPr>
              <a:t>Deepgram Nova-3</a:t>
            </a:r>
          </a:p>
          <a:p>
            <a:pPr algn="ctr" indent="0" marL="0" marR="0">
              <a:spcBef>
                <a:spcPts val="150"/>
              </a:spcBef>
            </a:pPr>
            <a:r>
              <a:rPr sz="82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cloud fallback · diarized</a:t>
            </a:r>
          </a:p>
        </p:txBody>
      </p:sp>
      <p:sp>
        <p:nvSpPr>
          <p:cNvPr id="1012" name="Card 1012"/>
          <p:cNvSpPr/>
          <p:nvPr/>
        </p:nvSpPr>
        <p:spPr>
          <a:xfrm>
            <a:off x="2508566" y="2218665"/>
            <a:ext cx="2007075" cy="3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TRANSLATION</a:t>
            </a:r>
          </a:p>
        </p:txBody>
      </p:sp>
      <p:sp>
        <p:nvSpPr>
          <p:cNvPr id="1013" name="Card 1013"/>
          <p:cNvSpPr/>
          <p:nvPr/>
        </p:nvSpPr>
        <p:spPr>
          <a:xfrm>
            <a:off x="2508566" y="2618665"/>
            <a:ext cx="2007075" cy="360000"/>
          </a:xfrm>
          <a:prstGeom prst="roundRect">
            <a:avLst>
              <a:gd name="adj" fmla="val 10000"/>
            </a:avLst>
          </a:prstGeom>
          <a:solidFill>
            <a:srgbClr val="171D27"/>
          </a:solidFill>
          <a:ln w="12700">
            <a:solidFill>
              <a:srgbClr val="4FBF8F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4FBF8F"/>
                </a:solidFill>
                <a:latin typeface="Arial"/>
                <a:ea typeface="Arial"/>
                <a:cs typeface="Arial"/>
              </a:rPr>
              <a:t>NLLB-600M</a:t>
            </a:r>
          </a:p>
          <a:p>
            <a:pPr algn="ctr" indent="0" marL="0" marR="0">
              <a:spcBef>
                <a:spcPts val="150"/>
              </a:spcBef>
            </a:pPr>
            <a:r>
              <a:rPr sz="82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local-inference · tried first</a:t>
            </a:r>
          </a:p>
        </p:txBody>
      </p:sp>
      <p:sp>
        <p:nvSpPr>
          <p:cNvPr id="1014" name="Card 1014"/>
          <p:cNvSpPr/>
          <p:nvPr/>
        </p:nvSpPr>
        <p:spPr>
          <a:xfrm>
            <a:off x="2508566" y="3018665"/>
            <a:ext cx="2007075" cy="360000"/>
          </a:xfrm>
          <a:prstGeom prst="roundRect">
            <a:avLst>
              <a:gd name="adj" fmla="val 10000"/>
            </a:avLst>
          </a:prstGeom>
          <a:solidFill>
            <a:srgbClr val="171D27"/>
          </a:solidFill>
          <a:ln w="12700">
            <a:solidFill>
              <a:srgbClr val="4F7FD1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4F7FD1"/>
                </a:solidFill>
                <a:latin typeface="Arial"/>
                <a:ea typeface="Arial"/>
                <a:cs typeface="Arial"/>
              </a:rPr>
              <a:t>Claude Haiku</a:t>
            </a:r>
          </a:p>
          <a:p>
            <a:pPr algn="ctr" indent="0" marL="0" marR="0">
              <a:spcBef>
                <a:spcPts val="150"/>
              </a:spcBef>
            </a:pPr>
            <a:r>
              <a:rPr sz="82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cloud fallback</a:t>
            </a:r>
          </a:p>
        </p:txBody>
      </p:sp>
      <p:sp>
        <p:nvSpPr>
          <p:cNvPr id="1015" name="Card 1015"/>
          <p:cNvSpPr/>
          <p:nvPr/>
        </p:nvSpPr>
        <p:spPr>
          <a:xfrm>
            <a:off x="4605641" y="2218665"/>
            <a:ext cx="2007075" cy="3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INSIGHT LAYER</a:t>
            </a:r>
          </a:p>
        </p:txBody>
      </p:sp>
      <p:sp>
        <p:nvSpPr>
          <p:cNvPr id="1016" name="Card 1016"/>
          <p:cNvSpPr/>
          <p:nvPr/>
        </p:nvSpPr>
        <p:spPr>
          <a:xfrm>
            <a:off x="4605641" y="2618665"/>
            <a:ext cx="2007075" cy="7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4F7FD1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4F7FD1"/>
                </a:solidFill>
                <a:latin typeface="Arial"/>
                <a:ea typeface="Arial"/>
                <a:cs typeface="Arial"/>
              </a:rPr>
              <a:t>Claude</a:t>
            </a:r>
          </a:p>
          <a:p>
            <a:pPr algn="ctr" indent="0" marL="0" marR="0">
              <a:spcBef>
                <a:spcPts val="150"/>
              </a:spcBef>
            </a:pPr>
            <a:r>
              <a:rPr sz="82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prompt-cached over the transcript · citation-checked before display</a:t>
            </a:r>
          </a:p>
        </p:txBody>
      </p:sp>
      <p:sp>
        <p:nvSpPr>
          <p:cNvPr id="1017" name="Card 1017"/>
          <p:cNvSpPr/>
          <p:nvPr/>
        </p:nvSpPr>
        <p:spPr>
          <a:xfrm>
            <a:off x="6702716" y="2218665"/>
            <a:ext cx="2007075" cy="3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TEXT-TO-SPEECH (opt-in)</a:t>
            </a:r>
          </a:p>
        </p:txBody>
      </p:sp>
      <p:sp>
        <p:nvSpPr>
          <p:cNvPr id="1018" name="Card 1018"/>
          <p:cNvSpPr/>
          <p:nvPr/>
        </p:nvSpPr>
        <p:spPr>
          <a:xfrm>
            <a:off x="6702716" y="2618665"/>
            <a:ext cx="2007075" cy="360000"/>
          </a:xfrm>
          <a:prstGeom prst="roundRect">
            <a:avLst>
              <a:gd name="adj" fmla="val 10000"/>
            </a:avLst>
          </a:prstGeom>
          <a:solidFill>
            <a:srgbClr val="171D27"/>
          </a:solidFill>
          <a:ln w="12700">
            <a:solidFill>
              <a:srgbClr val="4FBF8F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4FBF8F"/>
                </a:solidFill>
                <a:latin typeface="Arial"/>
                <a:ea typeface="Arial"/>
                <a:cs typeface="Arial"/>
              </a:rPr>
              <a:t>Piper</a:t>
            </a:r>
          </a:p>
          <a:p>
            <a:pPr algn="ctr" indent="0" marL="0" marR="0">
              <a:spcBef>
                <a:spcPts val="150"/>
              </a:spcBef>
            </a:pPr>
            <a:r>
              <a:rPr sz="82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local-inference · tried first</a:t>
            </a:r>
          </a:p>
        </p:txBody>
      </p:sp>
      <p:sp>
        <p:nvSpPr>
          <p:cNvPr id="1019" name="Card 1019"/>
          <p:cNvSpPr/>
          <p:nvPr/>
        </p:nvSpPr>
        <p:spPr>
          <a:xfrm>
            <a:off x="6702716" y="3018665"/>
            <a:ext cx="2007075" cy="360000"/>
          </a:xfrm>
          <a:prstGeom prst="roundRect">
            <a:avLst>
              <a:gd name="adj" fmla="val 10000"/>
            </a:avLst>
          </a:prstGeom>
          <a:solidFill>
            <a:srgbClr val="171D27"/>
          </a:solidFill>
          <a:ln w="12700">
            <a:solidFill>
              <a:srgbClr val="4F7FD1"/>
            </a:solidFill>
          </a:ln>
          <a:effectLst/>
        </p:spPr>
        <p:txBody>
          <a:bodyPr rtlCol="0" anchor="ctr" wrap="square" lIns="27432" rIns="27432" tIns="18000" bIns="18000"/>
          <a:lstStyle/>
          <a:p>
            <a:pPr algn="ctr" indent="0" marL="0" marR="0"/>
            <a:r>
              <a:rPr sz="1000" b="1" i="0" lang="en">
                <a:solidFill>
                  <a:srgbClr val="4F7FD1"/>
                </a:solidFill>
                <a:latin typeface="Arial"/>
                <a:ea typeface="Arial"/>
                <a:cs typeface="Arial"/>
              </a:rPr>
              <a:t>ElevenLabs</a:t>
            </a:r>
          </a:p>
          <a:p>
            <a:pPr algn="ctr" indent="0" marL="0" marR="0">
              <a:spcBef>
                <a:spcPts val="150"/>
              </a:spcBef>
            </a:pPr>
            <a:r>
              <a:rPr sz="82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cloud fallback</a:t>
            </a:r>
          </a:p>
        </p:txBody>
      </p:sp>
      <p:sp>
        <p:nvSpPr>
          <p:cNvPr id="1020" name="Chevron 1020"/>
          <p:cNvSpPr/>
          <p:nvPr/>
        </p:nvSpPr>
        <p:spPr>
          <a:xfrm rot="5400000">
            <a:off x="4495641" y="3383665"/>
            <a:ext cx="130000" cy="130000"/>
          </a:xfrm>
          <a:prstGeom prst="chevron">
            <a:avLst/>
          </a:prstGeom>
          <a:solidFill>
            <a:srgbClr val="8B93A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1" name="Card 1021"/>
          <p:cNvSpPr/>
          <p:nvPr/>
        </p:nvSpPr>
        <p:spPr>
          <a:xfrm>
            <a:off x="411491" y="3518665"/>
            <a:ext cx="4104150" cy="4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txBody>
          <a:bodyPr rtlCol="0" anchor="ctr" wrap="square" lIns="45720" rIns="45720" tIns="18000" bIns="18000"/>
          <a:lstStyle/>
          <a:p>
            <a:pPr algn="ctr" indent="0" marL="0" marR="0"/>
            <a:r>
              <a:rPr sz="11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POSTGRESQL (via Prisma)</a:t>
            </a:r>
          </a:p>
          <a:p>
            <a:pPr algn="ctr" indent="0" marL="0" marR="0">
              <a:spcBef>
                <a:spcPts val="200"/>
              </a:spcBef>
            </a:pPr>
            <a:r>
              <a:rPr sz="85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sessions · transcript · chat/translations · insights (Railway)</a:t>
            </a:r>
          </a:p>
        </p:txBody>
      </p:sp>
      <p:sp>
        <p:nvSpPr>
          <p:cNvPr id="1022" name="Card 1022"/>
          <p:cNvSpPr/>
          <p:nvPr/>
        </p:nvSpPr>
        <p:spPr>
          <a:xfrm>
            <a:off x="4605641" y="3518665"/>
            <a:ext cx="4104150" cy="460000"/>
          </a:xfrm>
          <a:prstGeom prst="roundRect">
            <a:avLst>
              <a:gd name="adj" fmla="val 8000"/>
            </a:avLst>
          </a:prstGeom>
          <a:solidFill>
            <a:srgbClr val="171D27"/>
          </a:solidFill>
          <a:ln w="12700">
            <a:solidFill>
              <a:srgbClr val="8B93A3"/>
            </a:solidFill>
          </a:ln>
          <a:effectLst/>
        </p:spPr>
        <p:txBody>
          <a:bodyPr rtlCol="0" anchor="ctr" wrap="square" lIns="45720" rIns="45720" tIns="18000" bIns="18000"/>
          <a:lstStyle/>
          <a:p>
            <a:pPr algn="ctr" indent="0" marL="0" marR="0"/>
            <a:r>
              <a:rPr sz="1100" b="1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FACILITATOR DASHBOARD</a:t>
            </a:r>
          </a:p>
          <a:p>
            <a:pPr algn="ctr" indent="0" marL="0" marR="0">
              <a:spcBef>
                <a:spcPts val="200"/>
              </a:spcBef>
            </a:pPr>
            <a:r>
              <a:rPr sz="85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goal · activity · decisions · blockers, citation-checked</a:t>
            </a:r>
          </a:p>
        </p:txBody>
      </p:sp>
      <p:sp>
        <p:nvSpPr>
          <p:cNvPr id="1023" name="Card 1023"/>
          <p:cNvSpPr/>
          <p:nvPr/>
        </p:nvSpPr>
        <p:spPr>
          <a:xfrm>
            <a:off x="411491" y="4028665"/>
            <a:ext cx="4104150" cy="860000"/>
          </a:xfrm>
          <a:prstGeom prst="roundRect">
            <a:avLst>
              <a:gd name="adj" fmla="val 6000"/>
            </a:avLst>
          </a:prstGeom>
          <a:solidFill>
            <a:srgbClr val="10141B"/>
          </a:solidFill>
          <a:ln w="15875">
            <a:solidFill>
              <a:srgbClr val="4F7FD1"/>
            </a:solidFill>
          </a:ln>
          <a:effectLst/>
        </p:spPr>
        <p:txBody>
          <a:bodyPr rtlCol="0" anchor="ctr" wrap="square" lIns="45720" rIns="45720" tIns="18000" bIns="18000"/>
          <a:lstStyle/>
          <a:p>
            <a:pPr algn="ctr" indent="0" marL="0" marR="0"/>
            <a:r>
              <a:rPr sz="1100" b="1" i="0" lang="en">
                <a:solidFill>
                  <a:srgbClr val="4F7FD1"/>
                </a:solidFill>
                <a:latin typeface="Arial"/>
                <a:ea typeface="Arial"/>
                <a:cs typeface="Arial"/>
              </a:rPr>
              <a:t>web — Railway service</a:t>
            </a:r>
          </a:p>
          <a:p>
            <a:pPr algn="ctr" indent="0" marL="0" marR="0">
              <a:spcBef>
                <a:spcPts val="200"/>
              </a:spcBef>
            </a:pPr>
            <a:r>
              <a:rPr sz="850" b="0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Next.js app + in-process LiveKit caption worker (server.ts) · holds the only DATABASE_URL</a:t>
            </a:r>
          </a:p>
        </p:txBody>
      </p:sp>
      <p:sp>
        <p:nvSpPr>
          <p:cNvPr id="1024" name="Card 1024"/>
          <p:cNvSpPr/>
          <p:nvPr/>
        </p:nvSpPr>
        <p:spPr>
          <a:xfrm>
            <a:off x="4605641" y="4028665"/>
            <a:ext cx="4104150" cy="860000"/>
          </a:xfrm>
          <a:prstGeom prst="roundRect">
            <a:avLst>
              <a:gd name="adj" fmla="val 6000"/>
            </a:avLst>
          </a:prstGeom>
          <a:solidFill>
            <a:srgbClr val="10141B"/>
          </a:solidFill>
          <a:ln w="15875">
            <a:solidFill>
              <a:srgbClr val="4FBF8F"/>
            </a:solidFill>
          </a:ln>
          <a:effectLst/>
        </p:spPr>
        <p:txBody>
          <a:bodyPr rtlCol="0" anchor="ctr" wrap="square" lIns="45720" rIns="45720" tIns="18000" bIns="18000"/>
          <a:lstStyle/>
          <a:p>
            <a:pPr algn="ctr" indent="0" marL="0" marR="0"/>
            <a:r>
              <a:rPr sz="1100" b="1" i="0" lang="en">
                <a:solidFill>
                  <a:srgbClr val="4FBF8F"/>
                </a:solidFill>
                <a:latin typeface="Arial"/>
                <a:ea typeface="Arial"/>
                <a:cs typeface="Arial"/>
              </a:rPr>
              <a:t>local-inference — Railway service</a:t>
            </a:r>
          </a:p>
          <a:p>
            <a:pPr algn="ctr" indent="0" marL="0" marR="0">
              <a:spcBef>
                <a:spcPts val="200"/>
              </a:spcBef>
            </a:pPr>
            <a:r>
              <a:rPr sz="850" b="0" i="0" lang="en">
                <a:solidFill>
                  <a:srgbClr val="E6E9EF"/>
                </a:solidFill>
                <a:latin typeface="Arial"/>
                <a:ea typeface="Arial"/>
                <a:cs typeface="Arial"/>
              </a:rPr>
              <a:t>FastAPI: NLLB + faster-whisper + Piper · no DB access · private network + shared secret</a:t>
            </a:r>
          </a:p>
        </p:txBody>
      </p:sp>
      <p:sp>
        <p:nvSpPr>
          <p:cNvPr id="1025" name="Text 1025"/>
          <p:cNvSpPr txBox="1"/>
          <p:nvPr/>
        </p:nvSpPr>
        <p:spPr>
          <a:xfrm>
            <a:off x="411491" y="4918665"/>
            <a:ext cx="82983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indent="0" marL="0" marR="0"/>
            <a:r>
              <a:rPr sz="800" b="0" i="0" lang="en">
                <a:solidFill>
                  <a:srgbClr val="8B93A3"/>
                </a:solidFill>
                <a:latin typeface="Arial"/>
                <a:ea typeface="Arial"/>
                <a:cs typeface="Arial"/>
              </a:rPr>
              <a:t>Docker Compose runs both services + Postgres + a local LiveKit dev server locally with one command.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