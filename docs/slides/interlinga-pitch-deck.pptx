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360152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6000" b="1">
                <a:solidFill>
                  <a:srgbClr val="E6E9EF"/>
                </a:solidFill>
                <a:latin typeface="Arial"/>
              </a:rPr>
              <a:t>Interlinga.ai</a:t>
            </a:r>
          </a:p>
        </p:txBody>
      </p:sp>
      <p:sp>
        <p:nvSpPr>
          <p:cNvPr id="4" name="Rectangle 3"/>
          <p:cNvSpPr/>
          <p:nvPr/>
        </p:nvSpPr>
        <p:spPr>
          <a:xfrm>
            <a:off x="5358384" y="3429000"/>
            <a:ext cx="1463040" cy="38100"/>
          </a:xfrm>
          <a:prstGeom prst="rect">
            <a:avLst/>
          </a:prstGeom>
          <a:solidFill>
            <a:srgbClr val="4F7F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3703320"/>
            <a:ext cx="9445752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1000"/>
              </a:spcAft>
            </a:pPr>
            <a:r>
              <a:rPr sz="2000" b="0">
                <a:solidFill>
                  <a:srgbClr val="8B93A3"/>
                </a:solidFill>
                <a:latin typeface="Arial"/>
              </a:rPr>
              <a:t>A video conferencing app built for workshop facilitation</a:t>
            </a:r>
          </a:p>
          <a:p>
            <a:pPr algn="ctr">
              <a:spcAft>
                <a:spcPts val="0"/>
              </a:spcAft>
            </a:pPr>
            <a:r>
              <a:rPr sz="2000" b="0">
                <a:solidFill>
                  <a:srgbClr val="8B93A3"/>
                </a:solidFill>
                <a:latin typeface="Arial"/>
              </a:rPr>
              <a:t>Bridges understanding gaps between/among learners and facilitators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E6E9EF"/>
                </a:solidFill>
                <a:latin typeface="Arial"/>
              </a:rPr>
              <a:t>What are language barriers?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60120"/>
            <a:ext cx="1005840" cy="38100"/>
          </a:xfrm>
          <a:prstGeom prst="rect">
            <a:avLst/>
          </a:prstGeom>
          <a:solidFill>
            <a:srgbClr val="4F7F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325880"/>
            <a:ext cx="11091672" cy="1051560"/>
          </a:xfrm>
          <a:prstGeom prst="roundRect">
            <a:avLst>
              <a:gd name="adj" fmla="val 6000"/>
            </a:avLst>
          </a:prstGeom>
          <a:solidFill>
            <a:srgbClr val="171D27"/>
          </a:solidFill>
          <a:ln w="9525">
            <a:solidFill>
              <a:srgbClr val="2A33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325880"/>
            <a:ext cx="11091672" cy="50800"/>
          </a:xfrm>
          <a:prstGeom prst="roundRect">
            <a:avLst/>
          </a:prstGeom>
          <a:solidFill>
            <a:srgbClr val="4F7F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1792" y="1225296"/>
            <a:ext cx="914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0" b="1">
                <a:solidFill>
                  <a:srgbClr val="4F7FD1"/>
                </a:solidFill>
                <a:latin typeface="Georgia"/>
              </a:rPr>
              <a:t>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1481328"/>
            <a:ext cx="9692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0">
                <a:solidFill>
                  <a:srgbClr val="E6E9EF"/>
                </a:solidFill>
                <a:latin typeface="Arial"/>
              </a:rPr>
              <a:t>Language is a system of communication [...]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00200" y="1993392"/>
            <a:ext cx="9692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8B93A3"/>
                </a:solidFill>
                <a:latin typeface="Arial"/>
              </a:rPr>
              <a:t>— Encyclopedia Britannica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542032"/>
            <a:ext cx="1109167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0">
                <a:solidFill>
                  <a:srgbClr val="8B93A3"/>
                </a:solidFill>
                <a:latin typeface="Arial"/>
              </a:rPr>
              <a:t>3 fundamental barriers to communication — the Shannon-Weaver model of communication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246120"/>
            <a:ext cx="1691640" cy="960120"/>
          </a:xfrm>
          <a:prstGeom prst="roundRect">
            <a:avLst>
              <a:gd name="adj" fmla="val 8000"/>
            </a:avLst>
          </a:prstGeom>
          <a:solidFill>
            <a:srgbClr val="171D27"/>
          </a:solidFill>
          <a:ln w="12700">
            <a:solidFill>
              <a:srgbClr val="8B93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E6E9EF"/>
                </a:solidFill>
                <a:latin typeface="Arial"/>
              </a:rPr>
              <a:t>INFORMATION</a:t>
            </a:r>
          </a:p>
          <a:p>
            <a:pPr algn="ctr"/>
            <a:r>
              <a:rPr sz="1300" b="1">
                <a:solidFill>
                  <a:srgbClr val="E6E9EF"/>
                </a:solidFill>
                <a:latin typeface="Arial"/>
              </a:rPr>
              <a:t>SOURCE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43200" y="3246120"/>
            <a:ext cx="1691640" cy="960120"/>
          </a:xfrm>
          <a:prstGeom prst="roundRect">
            <a:avLst>
              <a:gd name="adj" fmla="val 8000"/>
            </a:avLst>
          </a:prstGeom>
          <a:solidFill>
            <a:srgbClr val="171D27"/>
          </a:solidFill>
          <a:ln w="12700">
            <a:solidFill>
              <a:srgbClr val="8B93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E6E9EF"/>
                </a:solidFill>
                <a:latin typeface="Arial"/>
              </a:rPr>
              <a:t>TRANSMITTER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937760" y="3246120"/>
            <a:ext cx="1691640" cy="960120"/>
          </a:xfrm>
          <a:prstGeom prst="roundRect">
            <a:avLst>
              <a:gd name="adj" fmla="val 8000"/>
            </a:avLst>
          </a:prstGeom>
          <a:solidFill>
            <a:srgbClr val="171D27"/>
          </a:solidFill>
          <a:ln w="12700">
            <a:solidFill>
              <a:srgbClr val="8B93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E6E9EF"/>
                </a:solidFill>
                <a:latin typeface="Arial"/>
              </a:rPr>
              <a:t>CHANNEL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32320" y="3246120"/>
            <a:ext cx="1691640" cy="960120"/>
          </a:xfrm>
          <a:prstGeom prst="roundRect">
            <a:avLst>
              <a:gd name="adj" fmla="val 8000"/>
            </a:avLst>
          </a:prstGeom>
          <a:solidFill>
            <a:srgbClr val="171D27"/>
          </a:solidFill>
          <a:ln w="12700">
            <a:solidFill>
              <a:srgbClr val="8B93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E6E9EF"/>
                </a:solidFill>
                <a:latin typeface="Arial"/>
              </a:rPr>
              <a:t>RECEIVER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326880" y="3246120"/>
            <a:ext cx="1691640" cy="960120"/>
          </a:xfrm>
          <a:prstGeom prst="roundRect">
            <a:avLst>
              <a:gd name="adj" fmla="val 8000"/>
            </a:avLst>
          </a:prstGeom>
          <a:solidFill>
            <a:srgbClr val="171D27"/>
          </a:solidFill>
          <a:ln w="12700">
            <a:solidFill>
              <a:srgbClr val="8B93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E6E9EF"/>
                </a:solidFill>
                <a:latin typeface="Arial"/>
              </a:rPr>
              <a:t>DESTINATION</a:t>
            </a:r>
          </a:p>
        </p:txBody>
      </p:sp>
      <p:sp>
        <p:nvSpPr>
          <p:cNvPr id="16" name="Chevron 15"/>
          <p:cNvSpPr/>
          <p:nvPr/>
        </p:nvSpPr>
        <p:spPr>
          <a:xfrm>
            <a:off x="2336292" y="3570732"/>
            <a:ext cx="310896" cy="310896"/>
          </a:xfrm>
          <a:prstGeom prst="chevron">
            <a:avLst/>
          </a:prstGeom>
          <a:solidFill>
            <a:srgbClr val="8B9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Chevron 16"/>
          <p:cNvSpPr/>
          <p:nvPr/>
        </p:nvSpPr>
        <p:spPr>
          <a:xfrm>
            <a:off x="4530852" y="3570732"/>
            <a:ext cx="310896" cy="310896"/>
          </a:xfrm>
          <a:prstGeom prst="chevron">
            <a:avLst/>
          </a:prstGeom>
          <a:solidFill>
            <a:srgbClr val="4F7F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000500" y="4201668"/>
            <a:ext cx="13716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4F7FD1"/>
                </a:solidFill>
                <a:latin typeface="Arial"/>
              </a:rPr>
              <a:t>TECHNICAL</a:t>
            </a:r>
          </a:p>
        </p:txBody>
      </p:sp>
      <p:sp>
        <p:nvSpPr>
          <p:cNvPr id="19" name="Chevron 18"/>
          <p:cNvSpPr/>
          <p:nvPr/>
        </p:nvSpPr>
        <p:spPr>
          <a:xfrm>
            <a:off x="6725412" y="3570732"/>
            <a:ext cx="310896" cy="310896"/>
          </a:xfrm>
          <a:prstGeom prst="chevron">
            <a:avLst/>
          </a:prstGeom>
          <a:solidFill>
            <a:srgbClr val="C47C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95060" y="4201668"/>
            <a:ext cx="13716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C47CB8"/>
                </a:solidFill>
                <a:latin typeface="Arial"/>
              </a:rPr>
              <a:t>SEMANTIC</a:t>
            </a:r>
          </a:p>
        </p:txBody>
      </p:sp>
      <p:sp>
        <p:nvSpPr>
          <p:cNvPr id="21" name="Chevron 20"/>
          <p:cNvSpPr/>
          <p:nvPr/>
        </p:nvSpPr>
        <p:spPr>
          <a:xfrm>
            <a:off x="8919972" y="3570732"/>
            <a:ext cx="310896" cy="310896"/>
          </a:xfrm>
          <a:prstGeom prst="chevron">
            <a:avLst/>
          </a:prstGeom>
          <a:solidFill>
            <a:srgbClr val="4FB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89620" y="4201668"/>
            <a:ext cx="13716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4FBF8F"/>
                </a:solidFill>
                <a:latin typeface="Arial"/>
              </a:rPr>
              <a:t>EFFECTIVENESS</a:t>
            </a:r>
          </a:p>
        </p:txBody>
      </p:sp>
      <p:sp>
        <p:nvSpPr>
          <p:cNvPr id="23" name="Up Arrow 22"/>
          <p:cNvSpPr/>
          <p:nvPr/>
        </p:nvSpPr>
        <p:spPr>
          <a:xfrm>
            <a:off x="5600700" y="4206240"/>
            <a:ext cx="365760" cy="1143000"/>
          </a:xfrm>
          <a:prstGeom prst="upArrow">
            <a:avLst/>
          </a:prstGeom>
          <a:solidFill>
            <a:srgbClr val="E268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4869180" y="5349240"/>
            <a:ext cx="1828800" cy="640080"/>
          </a:xfrm>
          <a:prstGeom prst="roundRect">
            <a:avLst>
              <a:gd name="adj" fmla="val 10000"/>
            </a:avLst>
          </a:prstGeom>
          <a:solidFill>
            <a:srgbClr val="10141B"/>
          </a:solidFill>
          <a:ln w="15875">
            <a:solidFill>
              <a:srgbClr val="E268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E2687A"/>
                </a:solidFill>
                <a:latin typeface="Arial"/>
              </a:rPr>
              <a:t>NOISE SOURCE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E6E9EF"/>
                </a:solidFill>
                <a:latin typeface="Arial"/>
              </a:rPr>
              <a:t>Three barriers to communication in remote online facilitation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60120"/>
            <a:ext cx="1005840" cy="38100"/>
          </a:xfrm>
          <a:prstGeom prst="rect">
            <a:avLst/>
          </a:prstGeom>
          <a:solidFill>
            <a:srgbClr val="4F7F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1109167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0">
                <a:solidFill>
                  <a:srgbClr val="8B93A3"/>
                </a:solidFill>
                <a:latin typeface="Arial"/>
              </a:rPr>
              <a:t>The same Shannon-Weaver chain, applied to a remote workshop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148840"/>
            <a:ext cx="1691640" cy="960120"/>
          </a:xfrm>
          <a:prstGeom prst="roundRect">
            <a:avLst>
              <a:gd name="adj" fmla="val 8000"/>
            </a:avLst>
          </a:prstGeom>
          <a:solidFill>
            <a:srgbClr val="171D27"/>
          </a:solidFill>
          <a:ln w="12700">
            <a:solidFill>
              <a:srgbClr val="8B93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E6E9EF"/>
                </a:solidFill>
                <a:latin typeface="Arial"/>
              </a:rPr>
              <a:t>FACILITATOR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0" y="2148840"/>
            <a:ext cx="1691640" cy="960120"/>
          </a:xfrm>
          <a:prstGeom prst="roundRect">
            <a:avLst>
              <a:gd name="adj" fmla="val 8000"/>
            </a:avLst>
          </a:prstGeom>
          <a:solidFill>
            <a:srgbClr val="171D27"/>
          </a:solidFill>
          <a:ln w="12700">
            <a:solidFill>
              <a:srgbClr val="8B93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E6E9EF"/>
                </a:solidFill>
                <a:latin typeface="Arial"/>
              </a:rPr>
              <a:t>MIC &amp;</a:t>
            </a:r>
          </a:p>
          <a:p>
            <a:pPr algn="ctr"/>
            <a:r>
              <a:rPr sz="1300" b="1">
                <a:solidFill>
                  <a:srgbClr val="E6E9EF"/>
                </a:solidFill>
                <a:latin typeface="Arial"/>
              </a:rPr>
              <a:t>CAMERA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937760" y="2148840"/>
            <a:ext cx="1691640" cy="960120"/>
          </a:xfrm>
          <a:prstGeom prst="roundRect">
            <a:avLst>
              <a:gd name="adj" fmla="val 8000"/>
            </a:avLst>
          </a:prstGeom>
          <a:solidFill>
            <a:srgbClr val="171D27"/>
          </a:solidFill>
          <a:ln w="12700">
            <a:solidFill>
              <a:srgbClr val="8B93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E6E9EF"/>
                </a:solidFill>
                <a:latin typeface="Arial"/>
              </a:rPr>
              <a:t>VIDEO CALL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0" y="2148840"/>
            <a:ext cx="1691640" cy="960120"/>
          </a:xfrm>
          <a:prstGeom prst="roundRect">
            <a:avLst>
              <a:gd name="adj" fmla="val 8000"/>
            </a:avLst>
          </a:prstGeom>
          <a:solidFill>
            <a:srgbClr val="171D27"/>
          </a:solidFill>
          <a:ln w="12700">
            <a:solidFill>
              <a:srgbClr val="8B93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E6E9EF"/>
                </a:solidFill>
                <a:latin typeface="Arial"/>
              </a:rPr>
              <a:t>LEARNER'S</a:t>
            </a:r>
          </a:p>
          <a:p>
            <a:pPr algn="ctr"/>
            <a:r>
              <a:rPr sz="1300" b="1">
                <a:solidFill>
                  <a:srgbClr val="E6E9EF"/>
                </a:solidFill>
                <a:latin typeface="Arial"/>
              </a:rPr>
              <a:t>SCREEN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326880" y="2148840"/>
            <a:ext cx="1691640" cy="960120"/>
          </a:xfrm>
          <a:prstGeom prst="roundRect">
            <a:avLst>
              <a:gd name="adj" fmla="val 8000"/>
            </a:avLst>
          </a:prstGeom>
          <a:solidFill>
            <a:srgbClr val="171D27"/>
          </a:solidFill>
          <a:ln w="12700">
            <a:solidFill>
              <a:srgbClr val="8B93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E6E9EF"/>
                </a:solidFill>
                <a:latin typeface="Arial"/>
              </a:rPr>
              <a:t>LEARNER'S</a:t>
            </a:r>
          </a:p>
          <a:p>
            <a:pPr algn="ctr"/>
            <a:r>
              <a:rPr sz="1300" b="1">
                <a:solidFill>
                  <a:srgbClr val="E6E9EF"/>
                </a:solidFill>
                <a:latin typeface="Arial"/>
              </a:rPr>
              <a:t>UNDERSTANDING</a:t>
            </a:r>
          </a:p>
        </p:txBody>
      </p:sp>
      <p:sp>
        <p:nvSpPr>
          <p:cNvPr id="11" name="Chevron 10"/>
          <p:cNvSpPr/>
          <p:nvPr/>
        </p:nvSpPr>
        <p:spPr>
          <a:xfrm>
            <a:off x="2336292" y="2473452"/>
            <a:ext cx="310896" cy="310896"/>
          </a:xfrm>
          <a:prstGeom prst="chevron">
            <a:avLst/>
          </a:prstGeom>
          <a:solidFill>
            <a:srgbClr val="8B9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Chevron 11"/>
          <p:cNvSpPr/>
          <p:nvPr/>
        </p:nvSpPr>
        <p:spPr>
          <a:xfrm>
            <a:off x="4530852" y="2473452"/>
            <a:ext cx="310896" cy="310896"/>
          </a:xfrm>
          <a:prstGeom prst="chevron">
            <a:avLst/>
          </a:prstGeom>
          <a:solidFill>
            <a:srgbClr val="4F7F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40480" y="2999232"/>
            <a:ext cx="16916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4F7FD1"/>
                </a:solidFill>
                <a:latin typeface="Arial"/>
              </a:rPr>
              <a:t>TECHNICAL</a:t>
            </a:r>
          </a:p>
          <a:p>
            <a:pPr algn="ctr">
              <a:spcAft>
                <a:spcPts val="0"/>
              </a:spcAft>
            </a:pPr>
            <a:r>
              <a:rPr sz="900" b="0">
                <a:solidFill>
                  <a:srgbClr val="8B93A3"/>
                </a:solidFill>
                <a:latin typeface="Arial"/>
              </a:rPr>
              <a:t>accurate transmission</a:t>
            </a:r>
          </a:p>
        </p:txBody>
      </p:sp>
      <p:sp>
        <p:nvSpPr>
          <p:cNvPr id="14" name="Chevron 13"/>
          <p:cNvSpPr/>
          <p:nvPr/>
        </p:nvSpPr>
        <p:spPr>
          <a:xfrm>
            <a:off x="6725412" y="2473452"/>
            <a:ext cx="310896" cy="310896"/>
          </a:xfrm>
          <a:prstGeom prst="chevron">
            <a:avLst/>
          </a:prstGeom>
          <a:solidFill>
            <a:srgbClr val="C47C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035040" y="2999232"/>
            <a:ext cx="16916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C47CB8"/>
                </a:solidFill>
                <a:latin typeface="Arial"/>
              </a:rPr>
              <a:t>SEMANTIC</a:t>
            </a:r>
          </a:p>
          <a:p>
            <a:pPr algn="ctr">
              <a:spcAft>
                <a:spcPts val="0"/>
              </a:spcAft>
            </a:pPr>
            <a:r>
              <a:rPr sz="900" b="0">
                <a:solidFill>
                  <a:srgbClr val="8B93A3"/>
                </a:solidFill>
                <a:latin typeface="Arial"/>
              </a:rPr>
              <a:t>shared meaning across languages</a:t>
            </a:r>
          </a:p>
        </p:txBody>
      </p:sp>
      <p:sp>
        <p:nvSpPr>
          <p:cNvPr id="16" name="Chevron 15"/>
          <p:cNvSpPr/>
          <p:nvPr/>
        </p:nvSpPr>
        <p:spPr>
          <a:xfrm>
            <a:off x="8919972" y="2473452"/>
            <a:ext cx="310896" cy="310896"/>
          </a:xfrm>
          <a:prstGeom prst="chevron">
            <a:avLst/>
          </a:prstGeom>
          <a:solidFill>
            <a:srgbClr val="4FB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0" y="2999232"/>
            <a:ext cx="16916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4FBF8F"/>
                </a:solidFill>
                <a:latin typeface="Arial"/>
              </a:rPr>
              <a:t>EFFECTIVENESS</a:t>
            </a:r>
          </a:p>
          <a:p>
            <a:pPr algn="ctr">
              <a:spcAft>
                <a:spcPts val="0"/>
              </a:spcAft>
            </a:pPr>
            <a:r>
              <a:rPr sz="900" b="0">
                <a:solidFill>
                  <a:srgbClr val="8B93A3"/>
                </a:solidFill>
                <a:latin typeface="Arial"/>
              </a:rPr>
              <a:t>confirm it changed understanding</a:t>
            </a:r>
          </a:p>
        </p:txBody>
      </p:sp>
      <p:sp>
        <p:nvSpPr>
          <p:cNvPr id="18" name="Up Arrow 17"/>
          <p:cNvSpPr/>
          <p:nvPr/>
        </p:nvSpPr>
        <p:spPr>
          <a:xfrm>
            <a:off x="5600700" y="3108960"/>
            <a:ext cx="365760" cy="1965960"/>
          </a:xfrm>
          <a:prstGeom prst="upArrow">
            <a:avLst/>
          </a:prstGeom>
          <a:solidFill>
            <a:srgbClr val="E268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869180" y="5074920"/>
            <a:ext cx="1828800" cy="640080"/>
          </a:xfrm>
          <a:prstGeom prst="roundRect">
            <a:avLst>
              <a:gd name="adj" fmla="val 10000"/>
            </a:avLst>
          </a:prstGeom>
          <a:solidFill>
            <a:srgbClr val="10141B"/>
          </a:solidFill>
          <a:ln w="15875">
            <a:solidFill>
              <a:srgbClr val="E268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E2687A"/>
                </a:solidFill>
                <a:latin typeface="Arial"/>
              </a:rPr>
              <a:t>NOISE SOURCE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E6E9EF"/>
                </a:solidFill>
                <a:latin typeface="Arial"/>
              </a:rPr>
              <a:t>What options do we have currently?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60120"/>
            <a:ext cx="1005840" cy="38100"/>
          </a:xfrm>
          <a:prstGeom prst="rect">
            <a:avLst/>
          </a:prstGeom>
          <a:solidFill>
            <a:srgbClr val="4F7F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11064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8B93A3"/>
                </a:solidFill>
                <a:latin typeface="Arial"/>
              </a:rPr>
              <a:t>Current options fail to break all 3 language barriers, resulting in communication almost certain to break down</a:t>
            </a:r>
          </a:p>
        </p:txBody>
      </p:sp>
      <p:sp>
        <p:nvSpPr>
          <p:cNvPr id="6" name="Oval 5"/>
          <p:cNvSpPr/>
          <p:nvPr/>
        </p:nvSpPr>
        <p:spPr>
          <a:xfrm>
            <a:off x="4539996" y="1508760"/>
            <a:ext cx="3108960" cy="3108960"/>
          </a:xfrm>
          <a:prstGeom prst="ellipse">
            <a:avLst/>
          </a:prstGeom>
          <a:solidFill>
            <a:srgbClr val="4F7FD1"/>
            <a:alpha val="32000"/>
          </a:solidFill>
          <a:ln w="19050">
            <a:solidFill>
              <a:srgbClr val="4F7F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3557016" y="3223260"/>
            <a:ext cx="3108960" cy="3108960"/>
          </a:xfrm>
          <a:prstGeom prst="ellipse">
            <a:avLst/>
          </a:prstGeom>
          <a:solidFill>
            <a:srgbClr val="C47CB8"/>
            <a:alpha val="32000"/>
          </a:solidFill>
          <a:ln w="19050">
            <a:solidFill>
              <a:srgbClr val="C47C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5532120" y="3223260"/>
            <a:ext cx="3108960" cy="3108960"/>
          </a:xfrm>
          <a:prstGeom prst="ellipse">
            <a:avLst/>
          </a:prstGeom>
          <a:solidFill>
            <a:srgbClr val="4FBF8F"/>
            <a:alpha val="32000"/>
          </a:solidFill>
          <a:ln w="19050">
            <a:solidFill>
              <a:srgbClr val="4FBF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905756" y="1714500"/>
            <a:ext cx="23774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4F7FD1"/>
                </a:solidFill>
                <a:latin typeface="Arial"/>
              </a:rPr>
              <a:t>Technical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71800" y="5737860"/>
            <a:ext cx="23774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C47CB8"/>
                </a:solidFill>
                <a:latin typeface="Arial"/>
              </a:rPr>
              <a:t>Semantic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39711" y="5737860"/>
            <a:ext cx="23774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4FBF8F"/>
                </a:solidFill>
                <a:latin typeface="Arial"/>
              </a:rPr>
              <a:t>Effectiveness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88636" y="1645920"/>
            <a:ext cx="201168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050" b="1">
                <a:solidFill>
                  <a:srgbClr val="E6E9EF"/>
                </a:solidFill>
                <a:latin typeface="Arial"/>
              </a:rPr>
              <a:t>Microsoft Teams</a:t>
            </a:r>
          </a:p>
          <a:p>
            <a:pPr algn="ctr">
              <a:spcAft>
                <a:spcPts val="300"/>
              </a:spcAft>
            </a:pPr>
            <a:r>
              <a:rPr sz="1050" b="1">
                <a:solidFill>
                  <a:srgbClr val="E6E9EF"/>
                </a:solidFill>
                <a:latin typeface="Arial"/>
              </a:rPr>
              <a:t>Google Meet</a:t>
            </a:r>
          </a:p>
          <a:p>
            <a:pPr algn="ctr">
              <a:spcAft>
                <a:spcPts val="300"/>
              </a:spcAft>
            </a:pPr>
            <a:r>
              <a:rPr sz="1050" b="1">
                <a:solidFill>
                  <a:srgbClr val="E6E9EF"/>
                </a:solidFill>
                <a:latin typeface="Arial"/>
              </a:rPr>
              <a:t>Whereby</a:t>
            </a:r>
          </a:p>
          <a:p>
            <a:pPr algn="ctr">
              <a:spcAft>
                <a:spcPts val="300"/>
              </a:spcAft>
            </a:pPr>
            <a:r>
              <a:rPr sz="1050" b="1">
                <a:solidFill>
                  <a:srgbClr val="E6E9EF"/>
                </a:solidFill>
                <a:latin typeface="Arial"/>
              </a:rPr>
              <a:t>GoToMeeting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45152" y="2990088"/>
            <a:ext cx="1920240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900" b="1">
                <a:solidFill>
                  <a:srgbClr val="E6E9EF"/>
                </a:solidFill>
                <a:latin typeface="Arial"/>
              </a:rPr>
              <a:t>Zoom (AI Companion)</a:t>
            </a:r>
          </a:p>
          <a:p>
            <a:pPr algn="ctr">
              <a:spcAft>
                <a:spcPts val="300"/>
              </a:spcAft>
            </a:pPr>
            <a:r>
              <a:rPr sz="900" b="1">
                <a:solidFill>
                  <a:srgbClr val="E6E9EF"/>
                </a:solidFill>
                <a:latin typeface="Arial"/>
              </a:rPr>
              <a:t>Wordly</a:t>
            </a:r>
          </a:p>
          <a:p>
            <a:pPr algn="ctr">
              <a:spcAft>
                <a:spcPts val="300"/>
              </a:spcAft>
            </a:pPr>
            <a:r>
              <a:rPr sz="900" b="1">
                <a:solidFill>
                  <a:srgbClr val="E6E9EF"/>
                </a:solidFill>
                <a:latin typeface="Arial"/>
              </a:rPr>
              <a:t>KUDO AI</a:t>
            </a:r>
          </a:p>
          <a:p>
            <a:pPr algn="ctr">
              <a:spcAft>
                <a:spcPts val="300"/>
              </a:spcAft>
            </a:pPr>
            <a:r>
              <a:rPr sz="900" b="1">
                <a:solidFill>
                  <a:srgbClr val="E6E9EF"/>
                </a:solidFill>
                <a:latin typeface="Arial"/>
              </a:rPr>
              <a:t>Interprefy</a:t>
            </a:r>
          </a:p>
          <a:p>
            <a:pPr algn="ctr">
              <a:spcAft>
                <a:spcPts val="300"/>
              </a:spcAft>
            </a:pPr>
            <a:r>
              <a:rPr sz="900" b="1">
                <a:solidFill>
                  <a:srgbClr val="E6E9EF"/>
                </a:solidFill>
                <a:latin typeface="Arial"/>
              </a:rPr>
              <a:t>DeepL Voice</a:t>
            </a:r>
          </a:p>
          <a:p>
            <a:pPr algn="ctr">
              <a:spcAft>
                <a:spcPts val="300"/>
              </a:spcAft>
            </a:pPr>
            <a:r>
              <a:rPr sz="900" b="1">
                <a:solidFill>
                  <a:srgbClr val="E6E9EF"/>
                </a:solidFill>
                <a:latin typeface="Arial"/>
              </a:rPr>
              <a:t>Palabra.ai</a:t>
            </a:r>
          </a:p>
          <a:p>
            <a:pPr algn="ctr">
              <a:spcAft>
                <a:spcPts val="300"/>
              </a:spcAft>
            </a:pPr>
            <a:r>
              <a:rPr sz="900" b="1">
                <a:solidFill>
                  <a:srgbClr val="E6E9EF"/>
                </a:solidFill>
                <a:latin typeface="Arial"/>
              </a:rPr>
              <a:t>JotMe</a:t>
            </a:r>
          </a:p>
          <a:p>
            <a:pPr algn="ctr">
              <a:spcAft>
                <a:spcPts val="300"/>
              </a:spcAft>
            </a:pPr>
            <a:r>
              <a:rPr sz="900" b="1">
                <a:solidFill>
                  <a:srgbClr val="E6E9EF"/>
                </a:solidFill>
                <a:latin typeface="Arial"/>
              </a:rPr>
              <a:t>Meta Seamless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24144" y="3310128"/>
            <a:ext cx="1737360" cy="12801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950" b="1">
                <a:solidFill>
                  <a:srgbClr val="E6E9EF"/>
                </a:solidFill>
                <a:latin typeface="Arial"/>
              </a:rPr>
              <a:t>Fireflies.ai</a:t>
            </a:r>
          </a:p>
          <a:p>
            <a:pPr algn="ctr">
              <a:spcAft>
                <a:spcPts val="300"/>
              </a:spcAft>
            </a:pPr>
            <a:r>
              <a:rPr sz="950" b="1">
                <a:solidFill>
                  <a:srgbClr val="E6E9EF"/>
                </a:solidFill>
                <a:latin typeface="Arial"/>
              </a:rPr>
              <a:t>Fellow</a:t>
            </a:r>
          </a:p>
          <a:p>
            <a:pPr algn="ctr">
              <a:spcAft>
                <a:spcPts val="300"/>
              </a:spcAft>
            </a:pPr>
            <a:r>
              <a:rPr sz="950" b="1">
                <a:solidFill>
                  <a:srgbClr val="E6E9EF"/>
                </a:solidFill>
                <a:latin typeface="Arial"/>
              </a:rPr>
              <a:t>Read.ai</a:t>
            </a:r>
          </a:p>
          <a:p>
            <a:pPr algn="ctr">
              <a:spcAft>
                <a:spcPts val="300"/>
              </a:spcAft>
            </a:pPr>
            <a:r>
              <a:rPr sz="950" b="1">
                <a:solidFill>
                  <a:srgbClr val="E6E9EF"/>
                </a:solidFill>
                <a:latin typeface="Arial"/>
              </a:rPr>
              <a:t>MS latecomer patent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93592" y="5029200"/>
            <a:ext cx="15544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8B93A3"/>
                </a:solidFill>
                <a:latin typeface="Arial"/>
              </a:rPr>
              <a:t>— none found 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50024" y="5029200"/>
            <a:ext cx="15544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8B93A3"/>
                </a:solidFill>
                <a:latin typeface="Arial"/>
              </a:rPr>
              <a:t>— none found —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17236" y="4846320"/>
            <a:ext cx="15544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8B93A3"/>
                </a:solidFill>
                <a:latin typeface="Arial"/>
              </a:rPr>
              <a:t>— none found —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80076" y="3794760"/>
            <a:ext cx="18288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00"/>
              </a:spcAft>
            </a:pPr>
            <a:r>
              <a:rPr sz="1050" b="1">
                <a:solidFill>
                  <a:srgbClr val="E6E9EF"/>
                </a:solidFill>
                <a:latin typeface="Arial"/>
              </a:rPr>
              <a:t>LINC</a:t>
            </a:r>
          </a:p>
          <a:p>
            <a:pPr algn="ctr">
              <a:spcAft>
                <a:spcPts val="0"/>
              </a:spcAft>
            </a:pPr>
            <a:r>
              <a:rPr sz="1050" b="1">
                <a:solidFill>
                  <a:srgbClr val="E6E9EF"/>
                </a:solidFill>
                <a:latin typeface="Arial"/>
              </a:rPr>
              <a:t>AWS Live Meeting Assistant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E6E9EF"/>
                </a:solidFill>
                <a:latin typeface="Arial"/>
              </a:rPr>
              <a:t>Interlinga.ai fills all 3 gaps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60120"/>
            <a:ext cx="1005840" cy="38100"/>
          </a:xfrm>
          <a:prstGeom prst="rect">
            <a:avLst/>
          </a:prstGeom>
          <a:solidFill>
            <a:srgbClr val="4F7F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783080"/>
            <a:ext cx="3566160" cy="4709160"/>
          </a:xfrm>
          <a:prstGeom prst="roundRect">
            <a:avLst>
              <a:gd name="adj" fmla="val 6000"/>
            </a:avLst>
          </a:prstGeom>
          <a:solidFill>
            <a:srgbClr val="171D27"/>
          </a:solidFill>
          <a:ln w="9525">
            <a:solidFill>
              <a:srgbClr val="2A33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783080"/>
            <a:ext cx="3566160" cy="50800"/>
          </a:xfrm>
          <a:prstGeom prst="roundRect">
            <a:avLst/>
          </a:prstGeom>
          <a:solidFill>
            <a:srgbClr val="4F7F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057400"/>
            <a:ext cx="3108960" cy="4160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200"/>
              </a:spcAft>
            </a:pPr>
            <a:r>
              <a:rPr sz="1700" b="1">
                <a:solidFill>
                  <a:srgbClr val="4F7FD1"/>
                </a:solidFill>
                <a:latin typeface="Arial"/>
              </a:rPr>
              <a:t>Accurate transmission</a:t>
            </a:r>
          </a:p>
          <a:p>
            <a:pPr algn="l">
              <a:spcAft>
                <a:spcPts val="0"/>
              </a:spcAft>
            </a:pPr>
            <a:r>
              <a:rPr sz="1300" b="0">
                <a:solidFill>
                  <a:srgbClr val="E6E9EF"/>
                </a:solidFill>
                <a:latin typeface="Arial"/>
              </a:rPr>
              <a:t>LiveKit real-time audio transport; Deepgram Nova-3/whisper, speech-to-text; every line carries a Confidence rating: “high” | “medium” | “low” to expose exactly where the signal was shaky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15968" y="1783080"/>
            <a:ext cx="3566160" cy="4709160"/>
          </a:xfrm>
          <a:prstGeom prst="roundRect">
            <a:avLst>
              <a:gd name="adj" fmla="val 6000"/>
            </a:avLst>
          </a:prstGeom>
          <a:solidFill>
            <a:srgbClr val="171D27"/>
          </a:solidFill>
          <a:ln w="9525">
            <a:solidFill>
              <a:srgbClr val="2A33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315968" y="1783080"/>
            <a:ext cx="3566160" cy="50800"/>
          </a:xfrm>
          <a:prstGeom prst="roundRect">
            <a:avLst/>
          </a:prstGeom>
          <a:solidFill>
            <a:srgbClr val="C47C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44568" y="2057400"/>
            <a:ext cx="3108960" cy="4160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200"/>
              </a:spcAft>
            </a:pPr>
            <a:r>
              <a:rPr sz="1700" b="1">
                <a:solidFill>
                  <a:srgbClr val="C47CB8"/>
                </a:solidFill>
                <a:latin typeface="Arial"/>
              </a:rPr>
              <a:t>Shared meaning across languages</a:t>
            </a:r>
          </a:p>
          <a:p>
            <a:pPr algn="l">
              <a:spcAft>
                <a:spcPts val="0"/>
              </a:spcAft>
            </a:pPr>
            <a:r>
              <a:rPr sz="1300" b="0">
                <a:solidFill>
                  <a:srgbClr val="E6E9EF"/>
                </a:solidFill>
                <a:latin typeface="Arial"/>
              </a:rPr>
              <a:t>Live two-way translation with large language model, also with confidence score; collaborative whiteboard that supports translation; feedback loops with “explain simply” and “give an example” buttons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83296" y="1783080"/>
            <a:ext cx="3566160" cy="4709160"/>
          </a:xfrm>
          <a:prstGeom prst="roundRect">
            <a:avLst>
              <a:gd name="adj" fmla="val 6000"/>
            </a:avLst>
          </a:prstGeom>
          <a:solidFill>
            <a:srgbClr val="171D27"/>
          </a:solidFill>
          <a:ln w="9525">
            <a:solidFill>
              <a:srgbClr val="2A33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083296" y="1783080"/>
            <a:ext cx="3566160" cy="50800"/>
          </a:xfrm>
          <a:prstGeom prst="roundRect">
            <a:avLst/>
          </a:prstGeom>
          <a:solidFill>
            <a:srgbClr val="4FB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11896" y="2057400"/>
            <a:ext cx="3108960" cy="4160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200"/>
              </a:spcAft>
            </a:pPr>
            <a:r>
              <a:rPr sz="1700" b="1">
                <a:solidFill>
                  <a:srgbClr val="4FBF8F"/>
                </a:solidFill>
                <a:latin typeface="Arial"/>
              </a:rPr>
              <a:t>Confirm it changed understanding</a:t>
            </a:r>
          </a:p>
          <a:p>
            <a:pPr algn="l">
              <a:spcAft>
                <a:spcPts val="0"/>
              </a:spcAft>
            </a:pPr>
            <a:r>
              <a:rPr sz="1300" b="0">
                <a:solidFill>
                  <a:srgbClr val="E6E9EF"/>
                </a:solidFill>
                <a:latin typeface="Arial"/>
              </a:rPr>
              <a:t>Live dashboard with live insights on current-activity, decisions, blockers grounded in traceable quotes. Group confusion-level gauge, per-learner confusion detection, participation, blocker resolution time, confidence trends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E6E9EF"/>
                </a:solidFill>
                <a:latin typeface="Arial"/>
              </a:rPr>
              <a:t>Interlinga.ai is accessible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60120"/>
            <a:ext cx="1005840" cy="38100"/>
          </a:xfrm>
          <a:prstGeom prst="rect">
            <a:avLst/>
          </a:prstGeom>
          <a:solidFill>
            <a:srgbClr val="4F7F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11064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8B93A3"/>
                </a:solidFill>
                <a:latin typeface="Arial"/>
              </a:rPr>
              <a:t>Substantially WCAG 2.1 AA — not certified.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536192"/>
          <a:ext cx="11274552" cy="507491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234440"/>
                <a:gridCol w="1783080"/>
                <a:gridCol w="960120"/>
                <a:gridCol w="7296912"/>
              </a:tblGrid>
              <a:tr h="38404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4F7FD1"/>
                          </a:solidFill>
                          <a:latin typeface="Arial"/>
                        </a:rPr>
                        <a:t>SC</a:t>
                      </a:r>
                    </a:p>
                  </a:txBody>
                  <a:tcPr marL="73152" marR="73152" marT="18288" marB="18288" anchor="ctr">
                    <a:solidFill>
                      <a:srgbClr val="171D2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4F7FD1"/>
                          </a:solidFill>
                          <a:latin typeface="Arial"/>
                        </a:rPr>
                        <a:t>Criterion</a:t>
                      </a:r>
                    </a:p>
                  </a:txBody>
                  <a:tcPr marL="73152" marR="73152" marT="18288" marB="18288" anchor="ctr">
                    <a:solidFill>
                      <a:srgbClr val="171D2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4F7FD1"/>
                          </a:solidFill>
                          <a:latin typeface="Arial"/>
                        </a:rPr>
                        <a:t>Verdict</a:t>
                      </a:r>
                    </a:p>
                  </a:txBody>
                  <a:tcPr marL="73152" marR="73152" marT="18288" marB="18288" anchor="ctr">
                    <a:solidFill>
                      <a:srgbClr val="171D2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4F7FD1"/>
                          </a:solidFill>
                          <a:latin typeface="Arial"/>
                        </a:rPr>
                        <a:t>Evidence</a:t>
                      </a:r>
                    </a:p>
                  </a:txBody>
                  <a:tcPr marL="73152" marR="73152" marT="18288" marB="18288" anchor="ctr">
                    <a:solidFill>
                      <a:srgbClr val="171D27"/>
                    </a:solidFill>
                  </a:tcPr>
                </a:tc>
              </a:tr>
              <a:tr h="469087"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8B93A3"/>
                          </a:solidFill>
                          <a:latin typeface="Arial"/>
                        </a:rPr>
                        <a:t>1.2.4 · AA</a:t>
                      </a:r>
                    </a:p>
                  </a:txBody>
                  <a:tcPr marL="73152" marR="73152" marT="18288" marB="18288" anchor="ctr">
                    <a:solidFill>
                      <a:srgbClr val="10141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E6E9EF"/>
                          </a:solidFill>
                          <a:latin typeface="Arial"/>
                        </a:rPr>
                        <a:t>Live captions</a:t>
                      </a:r>
                    </a:p>
                  </a:txBody>
                  <a:tcPr marL="73152" marR="73152" marT="18288" marB="18288" anchor="ctr">
                    <a:solidFill>
                      <a:srgbClr val="10141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4FBF8F"/>
                          </a:solidFill>
                          <a:latin typeface="Arial"/>
                        </a:rPr>
                        <a:t>Pass</a:t>
                      </a:r>
                    </a:p>
                  </a:txBody>
                  <a:tcPr marL="73152" marR="73152" marT="18288" marB="18288" anchor="ctr">
                    <a:solidFill>
                      <a:srgbClr val="10141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E6E9EF"/>
                          </a:solidFill>
                          <a:latin typeface="Arial"/>
                        </a:rPr>
                        <a:t>Live, translated, confidence-scored captions shipped and running.</a:t>
                      </a:r>
                    </a:p>
                  </a:txBody>
                  <a:tcPr marL="73152" marR="73152" marT="18288" marB="18288" anchor="ctr">
                    <a:solidFill>
                      <a:srgbClr val="10141B"/>
                    </a:solidFill>
                  </a:tcPr>
                </a:tc>
              </a:tr>
              <a:tr h="469087"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8B93A3"/>
                          </a:solidFill>
                          <a:latin typeface="Arial"/>
                        </a:rPr>
                        <a:t>2.4.1 · A</a:t>
                      </a:r>
                    </a:p>
                  </a:txBody>
                  <a:tcPr marL="73152" marR="73152" marT="18288" marB="18288" anchor="ctr">
                    <a:solidFill>
                      <a:srgbClr val="0D111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E6E9EF"/>
                          </a:solidFill>
                          <a:latin typeface="Arial"/>
                        </a:rPr>
                        <a:t>Bypass blocks</a:t>
                      </a:r>
                    </a:p>
                  </a:txBody>
                  <a:tcPr marL="73152" marR="73152" marT="18288" marB="18288" anchor="ctr">
                    <a:solidFill>
                      <a:srgbClr val="0D111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4FBF8F"/>
                          </a:solidFill>
                          <a:latin typeface="Arial"/>
                        </a:rPr>
                        <a:t>Pass</a:t>
                      </a:r>
                    </a:p>
                  </a:txBody>
                  <a:tcPr marL="73152" marR="73152" marT="18288" marB="18288" anchor="ctr">
                    <a:solidFill>
                      <a:srgbClr val="0D111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E6E9EF"/>
                          </a:solidFill>
                          <a:latin typeface="Arial"/>
                        </a:rPr>
                        <a:t>Real skip-to-main-content link (sr-only → focus:not-sr-only). AppShell.tsx</a:t>
                      </a:r>
                    </a:p>
                  </a:txBody>
                  <a:tcPr marL="73152" marR="73152" marT="18288" marB="18288" anchor="ctr">
                    <a:solidFill>
                      <a:srgbClr val="0D1117"/>
                    </a:solidFill>
                  </a:tcPr>
                </a:tc>
              </a:tr>
              <a:tr h="469087"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8B93A3"/>
                          </a:solidFill>
                          <a:latin typeface="Arial"/>
                        </a:rPr>
                        <a:t>4.1.2 · A</a:t>
                      </a:r>
                    </a:p>
                  </a:txBody>
                  <a:tcPr marL="73152" marR="73152" marT="18288" marB="18288" anchor="ctr">
                    <a:solidFill>
                      <a:srgbClr val="10141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E6E9EF"/>
                          </a:solidFill>
                          <a:latin typeface="Arial"/>
                        </a:rPr>
                        <a:t>Name, role, value</a:t>
                      </a:r>
                    </a:p>
                  </a:txBody>
                  <a:tcPr marL="73152" marR="73152" marT="18288" marB="18288" anchor="ctr">
                    <a:solidFill>
                      <a:srgbClr val="10141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4FBF8F"/>
                          </a:solidFill>
                          <a:latin typeface="Arial"/>
                        </a:rPr>
                        <a:t>Pass</a:t>
                      </a:r>
                    </a:p>
                  </a:txBody>
                  <a:tcPr marL="73152" marR="73152" marT="18288" marB="18288" anchor="ctr">
                    <a:solidFill>
                      <a:srgbClr val="10141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E6E9EF"/>
                          </a:solidFill>
                          <a:latin typeface="Arial"/>
                        </a:rPr>
                        <a:t>Every media control has an explicit, localized aria-label — mic, camera, screen-share, settings, leave — via a shared button component. MeetingToolbar.tsx</a:t>
                      </a:r>
                    </a:p>
                  </a:txBody>
                  <a:tcPr marL="73152" marR="73152" marT="18288" marB="18288" anchor="ctr">
                    <a:solidFill>
                      <a:srgbClr val="10141B"/>
                    </a:solidFill>
                  </a:tcPr>
                </a:tc>
              </a:tr>
              <a:tr h="469087"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8B93A3"/>
                          </a:solidFill>
                          <a:latin typeface="Arial"/>
                        </a:rPr>
                        <a:t>4.1.3 · AA</a:t>
                      </a:r>
                    </a:p>
                  </a:txBody>
                  <a:tcPr marL="73152" marR="73152" marT="18288" marB="18288" anchor="ctr">
                    <a:solidFill>
                      <a:srgbClr val="0D111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E6E9EF"/>
                          </a:solidFill>
                          <a:latin typeface="Arial"/>
                        </a:rPr>
                        <a:t>Status messages</a:t>
                      </a:r>
                    </a:p>
                  </a:txBody>
                  <a:tcPr marL="73152" marR="73152" marT="18288" marB="18288" anchor="ctr">
                    <a:solidFill>
                      <a:srgbClr val="0D111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4FBF8F"/>
                          </a:solidFill>
                          <a:latin typeface="Arial"/>
                        </a:rPr>
                        <a:t>Pass</a:t>
                      </a:r>
                    </a:p>
                  </a:txBody>
                  <a:tcPr marL="73152" marR="73152" marT="18288" marB="18288" anchor="ctr">
                    <a:solidFill>
                      <a:srgbClr val="0D111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E6E9EF"/>
                          </a:solidFill>
                          <a:latin typeface="Arial"/>
                        </a:rPr>
                        <a:t>aria-live="polite" on transcript feed &amp; chat — deliberately not "assertive," by comment.</a:t>
                      </a:r>
                    </a:p>
                  </a:txBody>
                  <a:tcPr marL="73152" marR="73152" marT="18288" marB="18288" anchor="ctr">
                    <a:solidFill>
                      <a:srgbClr val="0D1117"/>
                    </a:solidFill>
                  </a:tcPr>
                </a:tc>
              </a:tr>
              <a:tr h="469087"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8B93A3"/>
                          </a:solidFill>
                          <a:latin typeface="Arial"/>
                        </a:rPr>
                        <a:t>3.1.1 · A</a:t>
                      </a:r>
                    </a:p>
                  </a:txBody>
                  <a:tcPr marL="73152" marR="73152" marT="18288" marB="18288" anchor="ctr">
                    <a:solidFill>
                      <a:srgbClr val="10141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E6E9EF"/>
                          </a:solidFill>
                          <a:latin typeface="Arial"/>
                        </a:rPr>
                        <a:t>Language of page</a:t>
                      </a:r>
                    </a:p>
                  </a:txBody>
                  <a:tcPr marL="73152" marR="73152" marT="18288" marB="18288" anchor="ctr">
                    <a:solidFill>
                      <a:srgbClr val="10141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4FBF8F"/>
                          </a:solidFill>
                          <a:latin typeface="Arial"/>
                        </a:rPr>
                        <a:t>Pass</a:t>
                      </a:r>
                    </a:p>
                  </a:txBody>
                  <a:tcPr marL="73152" marR="73152" marT="18288" marB="18288" anchor="ctr">
                    <a:solidFill>
                      <a:srgbClr val="10141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E6E9EF"/>
                          </a:solidFill>
                          <a:latin typeface="Arial"/>
                        </a:rPr>
                        <a:t>&lt;html lang&gt; set dynamically per session language.</a:t>
                      </a:r>
                    </a:p>
                  </a:txBody>
                  <a:tcPr marL="73152" marR="73152" marT="18288" marB="18288" anchor="ctr">
                    <a:solidFill>
                      <a:srgbClr val="10141B"/>
                    </a:solidFill>
                  </a:tcPr>
                </a:tc>
              </a:tr>
              <a:tr h="469087"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8B93A3"/>
                          </a:solidFill>
                          <a:latin typeface="Arial"/>
                        </a:rPr>
                        <a:t>2.4.7 · AA</a:t>
                      </a:r>
                    </a:p>
                  </a:txBody>
                  <a:tcPr marL="73152" marR="73152" marT="18288" marB="18288" anchor="ctr">
                    <a:solidFill>
                      <a:srgbClr val="0D111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E6E9EF"/>
                          </a:solidFill>
                          <a:latin typeface="Arial"/>
                        </a:rPr>
                        <a:t>Focus visible</a:t>
                      </a:r>
                    </a:p>
                  </a:txBody>
                  <a:tcPr marL="73152" marR="73152" marT="18288" marB="18288" anchor="ctr">
                    <a:solidFill>
                      <a:srgbClr val="0D111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4FBF8F"/>
                          </a:solidFill>
                          <a:latin typeface="Arial"/>
                        </a:rPr>
                        <a:t>Pass</a:t>
                      </a:r>
                    </a:p>
                  </a:txBody>
                  <a:tcPr marL="73152" marR="73152" marT="18288" marB="18288" anchor="ctr">
                    <a:solidFill>
                      <a:srgbClr val="0D111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E6E9EF"/>
                          </a:solidFill>
                          <a:latin typeface="Arial"/>
                        </a:rPr>
                        <a:t>Consistent focus:ring pattern app-wide, plus a UAT pass (#125) that found &amp; fixed real keyboard-focus loss after confirm dialogs.</a:t>
                      </a:r>
                    </a:p>
                  </a:txBody>
                  <a:tcPr marL="73152" marR="73152" marT="18288" marB="18288" anchor="ctr">
                    <a:solidFill>
                      <a:srgbClr val="0D1117"/>
                    </a:solidFill>
                  </a:tcPr>
                </a:tc>
              </a:tr>
              <a:tr h="469087"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8B93A3"/>
                          </a:solidFill>
                          <a:latin typeface="Arial"/>
                        </a:rPr>
                        <a:t>1.4.4 · AA</a:t>
                      </a:r>
                    </a:p>
                  </a:txBody>
                  <a:tcPr marL="73152" marR="73152" marT="18288" marB="18288" anchor="ctr">
                    <a:solidFill>
                      <a:srgbClr val="10141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E6E9EF"/>
                          </a:solidFill>
                          <a:latin typeface="Arial"/>
                        </a:rPr>
                        <a:t>Resize text</a:t>
                      </a:r>
                    </a:p>
                  </a:txBody>
                  <a:tcPr marL="73152" marR="73152" marT="18288" marB="18288" anchor="ctr">
                    <a:solidFill>
                      <a:srgbClr val="10141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4FBF8F"/>
                          </a:solidFill>
                          <a:latin typeface="Arial"/>
                        </a:rPr>
                        <a:t>Pass</a:t>
                      </a:r>
                    </a:p>
                  </a:txBody>
                  <a:tcPr marL="73152" marR="73152" marT="18288" marB="18288" anchor="ctr">
                    <a:solidFill>
                      <a:srgbClr val="10141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E6E9EF"/>
                          </a:solidFill>
                          <a:latin typeface="Arial"/>
                        </a:rPr>
                        <a:t>App-wide font-size control, not scoped to one panel. AccessibilityPanel.tsx</a:t>
                      </a:r>
                    </a:p>
                  </a:txBody>
                  <a:tcPr marL="73152" marR="73152" marT="18288" marB="18288" anchor="ctr">
                    <a:solidFill>
                      <a:srgbClr val="10141B"/>
                    </a:solidFill>
                  </a:tcPr>
                </a:tc>
              </a:tr>
              <a:tr h="469087"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8B93A3"/>
                          </a:solidFill>
                          <a:latin typeface="Arial"/>
                        </a:rPr>
                        <a:t>1.4.3 / 1.4.11 · AA</a:t>
                      </a:r>
                    </a:p>
                  </a:txBody>
                  <a:tcPr marL="73152" marR="73152" marT="18288" marB="18288" anchor="ctr">
                    <a:solidFill>
                      <a:srgbClr val="0D111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E6E9EF"/>
                          </a:solidFill>
                          <a:latin typeface="Arial"/>
                        </a:rPr>
                        <a:t>Contrast (text &amp; non-text)</a:t>
                      </a:r>
                    </a:p>
                  </a:txBody>
                  <a:tcPr marL="73152" marR="73152" marT="18288" marB="18288" anchor="ctr">
                    <a:solidFill>
                      <a:srgbClr val="0D111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4FBF8F"/>
                          </a:solidFill>
                          <a:latin typeface="Arial"/>
                        </a:rPr>
                        <a:t>Pass</a:t>
                      </a:r>
                    </a:p>
                  </a:txBody>
                  <a:tcPr marL="73152" marR="73152" marT="18288" marB="18288" anchor="ctr">
                    <a:solidFill>
                      <a:srgbClr val="0D111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E6E9EF"/>
                          </a:solidFill>
                          <a:latin typeface="Arial"/>
                        </a:rPr>
                        <a:t>A 3.73:1 button fill (below the 4.5:1 minimum) was caught and fixed with a dedicated --accent-fill token, verified across all four themes.</a:t>
                      </a:r>
                    </a:p>
                  </a:txBody>
                  <a:tcPr marL="73152" marR="73152" marT="18288" marB="18288" anchor="ctr">
                    <a:solidFill>
                      <a:srgbClr val="0D1117"/>
                    </a:solidFill>
                  </a:tcPr>
                </a:tc>
              </a:tr>
              <a:tr h="469087"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8B93A3"/>
                          </a:solidFill>
                          <a:latin typeface="Arial"/>
                        </a:rPr>
                        <a:t>2.1.1 · A</a:t>
                      </a:r>
                    </a:p>
                  </a:txBody>
                  <a:tcPr marL="73152" marR="73152" marT="18288" marB="18288" anchor="ctr">
                    <a:solidFill>
                      <a:srgbClr val="10141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E6E9EF"/>
                          </a:solidFill>
                          <a:latin typeface="Arial"/>
                        </a:rPr>
                        <a:t>Keyboard</a:t>
                      </a:r>
                    </a:p>
                  </a:txBody>
                  <a:tcPr marL="73152" marR="73152" marT="18288" marB="18288" anchor="ctr">
                    <a:solidFill>
                      <a:srgbClr val="10141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D9A94A"/>
                          </a:solidFill>
                          <a:latin typeface="Arial"/>
                        </a:rPr>
                        <a:t>Partial</a:t>
                      </a:r>
                    </a:p>
                  </a:txBody>
                  <a:tcPr marL="73152" marR="73152" marT="18288" marB="18288" anchor="ctr">
                    <a:solidFill>
                      <a:srgbClr val="10141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E6E9EF"/>
                          </a:solidFill>
                          <a:latin typeface="Arial"/>
                        </a:rPr>
                        <a:t>Core call controls fully keyboard-operable. The whiteboard (merged, PR #129) inherits Excalidraw's own partial keyboard support — freeform canvas navigation is limited, same as Miro/FigJam industry-wide.</a:t>
                      </a:r>
                    </a:p>
                  </a:txBody>
                  <a:tcPr marL="73152" marR="73152" marT="18288" marB="18288" anchor="ctr">
                    <a:solidFill>
                      <a:srgbClr val="10141B"/>
                    </a:solidFill>
                  </a:tcPr>
                </a:tc>
              </a:tr>
              <a:tr h="469087"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8B93A3"/>
                          </a:solidFill>
                          <a:latin typeface="Arial"/>
                        </a:rPr>
                        <a:t>2.3.3 · AAA</a:t>
                      </a:r>
                    </a:p>
                  </a:txBody>
                  <a:tcPr marL="73152" marR="73152" marT="18288" marB="18288" anchor="ctr">
                    <a:solidFill>
                      <a:srgbClr val="0D111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E6E9EF"/>
                          </a:solidFill>
                          <a:latin typeface="Arial"/>
                        </a:rPr>
                        <a:t>Animation from interactions</a:t>
                      </a:r>
                    </a:p>
                  </a:txBody>
                  <a:tcPr marL="73152" marR="73152" marT="18288" marB="18288" anchor="ctr">
                    <a:solidFill>
                      <a:srgbClr val="0D111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E2687A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73152" marR="73152" marT="18288" marB="18288" anchor="ctr">
                    <a:solidFill>
                      <a:srgbClr val="0D111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E6E9EF"/>
                          </a:solidFill>
                          <a:latin typeface="Arial"/>
                        </a:rPr>
                        <a:t>No prefers-reduced-motion handling found. AAA, not required for an AA claim.</a:t>
                      </a:r>
                    </a:p>
                  </a:txBody>
                  <a:tcPr marL="73152" marR="73152" marT="18288" marB="18288" anchor="ctr">
                    <a:solidFill>
                      <a:srgbClr val="0D111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E6E9EF"/>
                </a:solidFill>
                <a:latin typeface="Arial"/>
              </a:rPr>
              <a:t>Interlinga.ai respects privacy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60120"/>
            <a:ext cx="1005840" cy="38100"/>
          </a:xfrm>
          <a:prstGeom prst="rect">
            <a:avLst/>
          </a:prstGeom>
          <a:solidFill>
            <a:srgbClr val="4F7F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783080"/>
            <a:ext cx="3657600" cy="2148840"/>
          </a:xfrm>
          <a:prstGeom prst="roundRect">
            <a:avLst>
              <a:gd name="adj" fmla="val 6000"/>
            </a:avLst>
          </a:prstGeom>
          <a:solidFill>
            <a:srgbClr val="171D27"/>
          </a:solidFill>
          <a:ln w="9525">
            <a:solidFill>
              <a:srgbClr val="2A33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783080"/>
            <a:ext cx="3657600" cy="50800"/>
          </a:xfrm>
          <a:prstGeom prst="roundRect">
            <a:avLst/>
          </a:prstGeom>
          <a:solidFill>
            <a:srgbClr val="4F7F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984248"/>
            <a:ext cx="3291840" cy="1783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E6E9EF"/>
                </a:solidFill>
                <a:latin typeface="Arial"/>
              </a:rPr>
              <a:t>Audio isn’t recorded by default</a:t>
            </a:r>
          </a:p>
          <a:p>
            <a:pPr algn="l">
              <a:spcAft>
                <a:spcPts val="0"/>
              </a:spcAft>
            </a:pPr>
            <a:r>
              <a:rPr sz="1100" b="0">
                <a:solidFill>
                  <a:srgbClr val="8B93A3"/>
                </a:solidFill>
                <a:latin typeface="Arial"/>
              </a:rPr>
              <a:t>Live audio is never stored unless a facilitator explicitly opts in for the session.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783080"/>
            <a:ext cx="3657600" cy="2148840"/>
          </a:xfrm>
          <a:prstGeom prst="roundRect">
            <a:avLst>
              <a:gd name="adj" fmla="val 6000"/>
            </a:avLst>
          </a:prstGeom>
          <a:solidFill>
            <a:srgbClr val="171D27"/>
          </a:solidFill>
          <a:ln w="9525">
            <a:solidFill>
              <a:srgbClr val="2A33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389120" y="1783080"/>
            <a:ext cx="3657600" cy="50800"/>
          </a:xfrm>
          <a:prstGeom prst="roundRect">
            <a:avLst/>
          </a:prstGeom>
          <a:solidFill>
            <a:srgbClr val="4F7F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1984248"/>
            <a:ext cx="3291840" cy="1783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E6E9EF"/>
                </a:solidFill>
                <a:latin typeface="Arial"/>
              </a:rPr>
              <a:t>Retention set up front</a:t>
            </a:r>
          </a:p>
          <a:p>
            <a:pPr algn="l">
              <a:spcAft>
                <a:spcPts val="0"/>
              </a:spcAft>
            </a:pPr>
            <a:r>
              <a:rPr sz="1100" b="0">
                <a:solidFill>
                  <a:srgbClr val="8B93A3"/>
                </a:solidFill>
                <a:latin typeface="Arial"/>
              </a:rPr>
              <a:t>1 / 7 / 30 days, chosen at session creation — an hourly job deletes every cascading row (transcript, chat, insights) past deadline, then sweeps any now-orphaned user record.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0" y="1783080"/>
            <a:ext cx="3657600" cy="2148840"/>
          </a:xfrm>
          <a:prstGeom prst="roundRect">
            <a:avLst>
              <a:gd name="adj" fmla="val 6000"/>
            </a:avLst>
          </a:prstGeom>
          <a:solidFill>
            <a:srgbClr val="171D27"/>
          </a:solidFill>
          <a:ln w="9525">
            <a:solidFill>
              <a:srgbClr val="2A33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229600" y="1783080"/>
            <a:ext cx="3657600" cy="50800"/>
          </a:xfrm>
          <a:prstGeom prst="roundRect">
            <a:avLst/>
          </a:prstGeom>
          <a:solidFill>
            <a:srgbClr val="4F7F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80" y="1984248"/>
            <a:ext cx="3291840" cy="1783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E6E9EF"/>
                </a:solidFill>
                <a:latin typeface="Arial"/>
              </a:rPr>
              <a:t>LOCAL_ONLY mode</a:t>
            </a:r>
          </a:p>
          <a:p>
            <a:pPr algn="l">
              <a:spcAft>
                <a:spcPts val="0"/>
              </a:spcAft>
            </a:pPr>
            <a:r>
              <a:rPr sz="1100" b="0">
                <a:solidFill>
                  <a:srgbClr val="8B93A3"/>
                </a:solidFill>
                <a:latin typeface="Arial"/>
              </a:rPr>
              <a:t>A session can be locked to self-hosted local-inference only — speech-to-text and translation never go to a third party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4114800"/>
            <a:ext cx="3657600" cy="2148840"/>
          </a:xfrm>
          <a:prstGeom prst="roundRect">
            <a:avLst>
              <a:gd name="adj" fmla="val 6000"/>
            </a:avLst>
          </a:prstGeom>
          <a:solidFill>
            <a:srgbClr val="171D27"/>
          </a:solidFill>
          <a:ln w="9525">
            <a:solidFill>
              <a:srgbClr val="2A33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48640" y="4114800"/>
            <a:ext cx="3657600" cy="50800"/>
          </a:xfrm>
          <a:prstGeom prst="roundRect">
            <a:avLst/>
          </a:prstGeom>
          <a:solidFill>
            <a:srgbClr val="4F7F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4315968"/>
            <a:ext cx="3291840" cy="1783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E6E9EF"/>
                </a:solidFill>
                <a:latin typeface="Arial"/>
              </a:rPr>
              <a:t>The understanding layer honors it too</a:t>
            </a:r>
          </a:p>
          <a:p>
            <a:pPr algn="l">
              <a:spcAft>
                <a:spcPts val="0"/>
              </a:spcAft>
            </a:pPr>
            <a:r>
              <a:rPr sz="1100" b="0">
                <a:solidFill>
                  <a:srgbClr val="8B93A3"/>
                </a:solidFill>
                <a:latin typeface="Arial"/>
              </a:rPr>
              <a:t>In a LOCAL_ONLY session, the Claude-based insight layer simply doesn’t run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89120" y="4114800"/>
            <a:ext cx="3657600" cy="2148840"/>
          </a:xfrm>
          <a:prstGeom prst="roundRect">
            <a:avLst>
              <a:gd name="adj" fmla="val 6000"/>
            </a:avLst>
          </a:prstGeom>
          <a:solidFill>
            <a:srgbClr val="171D27"/>
          </a:solidFill>
          <a:ln w="9525">
            <a:solidFill>
              <a:srgbClr val="2A33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389120" y="4114800"/>
            <a:ext cx="3657600" cy="50800"/>
          </a:xfrm>
          <a:prstGeom prst="roundRect">
            <a:avLst/>
          </a:prstGeom>
          <a:solidFill>
            <a:srgbClr val="4F7F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0" y="4315968"/>
            <a:ext cx="3291840" cy="1783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E6E9EF"/>
                </a:solidFill>
                <a:latin typeface="Arial"/>
              </a:rPr>
              <a:t>Anonymous means anonymous</a:t>
            </a:r>
          </a:p>
          <a:p>
            <a:pPr algn="l">
              <a:spcAft>
                <a:spcPts val="0"/>
              </a:spcAft>
            </a:pPr>
            <a:r>
              <a:rPr sz="1100" b="0">
                <a:solidFill>
                  <a:srgbClr val="8B93A3"/>
                </a:solidFill>
                <a:latin typeface="Arial"/>
              </a:rPr>
              <a:t>An anonymous learner who is hesitant to ask questions with his real name is redacted on the server before the message ever reaches the page — not just hidden by the UI, where View Source or DevTools would still expose it.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0" y="4114800"/>
            <a:ext cx="3657600" cy="2148840"/>
          </a:xfrm>
          <a:prstGeom prst="roundRect">
            <a:avLst>
              <a:gd name="adj" fmla="val 6000"/>
            </a:avLst>
          </a:prstGeom>
          <a:solidFill>
            <a:srgbClr val="171D27"/>
          </a:solidFill>
          <a:ln w="9525">
            <a:solidFill>
              <a:srgbClr val="2A33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229600" y="4114800"/>
            <a:ext cx="3657600" cy="50800"/>
          </a:xfrm>
          <a:prstGeom prst="roundRect">
            <a:avLst/>
          </a:prstGeom>
          <a:solidFill>
            <a:srgbClr val="4F7F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12480" y="4315968"/>
            <a:ext cx="3291840" cy="1783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E6E9EF"/>
                </a:solidFill>
                <a:latin typeface="Arial"/>
              </a:rPr>
              <a:t>Sensitive signals stay scoped</a:t>
            </a:r>
          </a:p>
          <a:p>
            <a:pPr algn="l">
              <a:spcAft>
                <a:spcPts val="0"/>
              </a:spcAft>
            </a:pPr>
            <a:r>
              <a:rPr sz="1100" b="0">
                <a:solidFill>
                  <a:srgbClr val="8B93A3"/>
                </a:solidFill>
                <a:latin typeface="Arial"/>
              </a:rPr>
              <a:t>Per-learner confusion levels and analytics are gated behind facilitator access; private messages are filtered out of the query itself for anyone but sender/recipient.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